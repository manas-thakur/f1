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220be84cb548e8" /><Relationship Type="http://schemas.openxmlformats.org/officeDocument/2006/relationships/extended-properties" Target="/docProps/app.xml" Id="Rf6da379be19b4d5c" /><Relationship Type="http://schemas.openxmlformats.org/officeDocument/2006/relationships/officeDocument" Target="/ppt/presentation.xml" Id="Rb68c64f037884cf0" /></Relationships>
</file>

<file path=ppt/presentation.xml><?xml version="1.0" encoding="utf-8"?>
<p:presentation xmlns:p="http://schemas.openxmlformats.org/presentationml/2006/main">
  <p:sldMasterIdLst>
    <p:sldMasterId xmlns:r="http://schemas.openxmlformats.org/officeDocument/2006/relationships" id="2147483648" r:id="R60446f300e724add"/>
  </p:sldMasterIdLst>
  <p:notesMasterIdLst>
    <p:notesMasterId xmlns:r="http://schemas.openxmlformats.org/officeDocument/2006/relationships" r:id="R0256fe9ed7b24c73"/>
  </p:notesMasterIdLst>
  <p:sldIdLst>
    <p:sldId xmlns:r="http://schemas.openxmlformats.org/officeDocument/2006/relationships" id="256" r:id="R9765669c91fa42c2"/>
    <p:sldId xmlns:r="http://schemas.openxmlformats.org/officeDocument/2006/relationships" id="257" r:id="R9afe26dea50f4dbd"/>
    <p:sldId xmlns:r="http://schemas.openxmlformats.org/officeDocument/2006/relationships" id="258" r:id="Ra24d6119a67c4d4b"/>
    <p:sldId xmlns:r="http://schemas.openxmlformats.org/officeDocument/2006/relationships" id="259" r:id="Ree0b2f115ca14b1c"/>
    <p:sldId xmlns:r="http://schemas.openxmlformats.org/officeDocument/2006/relationships" id="260" r:id="Rbf99eaa7a81b4c98"/>
    <p:sldId xmlns:r="http://schemas.openxmlformats.org/officeDocument/2006/relationships" id="261" r:id="R76a8ca2dccba484f"/>
    <p:sldId xmlns:r="http://schemas.openxmlformats.org/officeDocument/2006/relationships" id="262" r:id="R50d2dd19765946ab"/>
    <p:sldId xmlns:r="http://schemas.openxmlformats.org/officeDocument/2006/relationships" id="263" r:id="R2ef7362542834d1f"/>
    <p:sldId xmlns:r="http://schemas.openxmlformats.org/officeDocument/2006/relationships" id="264" r:id="Rdfcac83388544f69"/>
    <p:sldId xmlns:r="http://schemas.openxmlformats.org/officeDocument/2006/relationships" id="265" r:id="R3e28110588664957"/>
    <p:sldId xmlns:r="http://schemas.openxmlformats.org/officeDocument/2006/relationships" id="266" r:id="R6eafd1a2ebcb48bf"/>
    <p:sldId xmlns:r="http://schemas.openxmlformats.org/officeDocument/2006/relationships" id="267" r:id="R41293180399045a9"/>
    <p:sldId xmlns:r="http://schemas.openxmlformats.org/officeDocument/2006/relationships" id="268" r:id="R7b8c8ef04e2d42de"/>
    <p:sldId xmlns:r="http://schemas.openxmlformats.org/officeDocument/2006/relationships" id="269" r:id="Rbbf5cb70192747e1"/>
    <p:sldId xmlns:r="http://schemas.openxmlformats.org/officeDocument/2006/relationships" id="270" r:id="R1997261f0a584e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a9c83f087147df" /><Relationship Type="http://schemas.openxmlformats.org/officeDocument/2006/relationships/slideMaster" Target="/ppt/slideMasters/slideMaster1.xml" Id="R60446f300e724add" /><Relationship Type="http://schemas.openxmlformats.org/officeDocument/2006/relationships/notesMaster" Target="/ppt/notesMasters/notesMaster1.xml" Id="R0256fe9ed7b24c73" /><Relationship Type="http://schemas.openxmlformats.org/officeDocument/2006/relationships/presProps" Target="/ppt/presProps.xml" Id="Rfecbe98b28ff4722" /><Relationship Type="http://schemas.openxmlformats.org/officeDocument/2006/relationships/tableStyles" Target="/ppt/tableStyles.xml" Id="R73a99934a3dc485b" /><Relationship Type="http://schemas.openxmlformats.org/officeDocument/2006/relationships/slide" Target="/ppt/slides/slide1.xml" Id="R9765669c91fa42c2" /><Relationship Type="http://schemas.openxmlformats.org/officeDocument/2006/relationships/slide" Target="/ppt/slides/slide2.xml" Id="R9afe26dea50f4dbd" /><Relationship Type="http://schemas.openxmlformats.org/officeDocument/2006/relationships/slide" Target="/ppt/slides/slide3.xml" Id="Ra24d6119a67c4d4b" /><Relationship Type="http://schemas.openxmlformats.org/officeDocument/2006/relationships/slide" Target="/ppt/slides/slide4.xml" Id="Ree0b2f115ca14b1c" /><Relationship Type="http://schemas.openxmlformats.org/officeDocument/2006/relationships/slide" Target="/ppt/slides/slide5.xml" Id="Rbf99eaa7a81b4c98" /><Relationship Type="http://schemas.openxmlformats.org/officeDocument/2006/relationships/slide" Target="/ppt/slides/slide6.xml" Id="R76a8ca2dccba484f" /><Relationship Type="http://schemas.openxmlformats.org/officeDocument/2006/relationships/slide" Target="/ppt/slides/slide7.xml" Id="R50d2dd19765946ab" /><Relationship Type="http://schemas.openxmlformats.org/officeDocument/2006/relationships/slide" Target="/ppt/slides/slide8.xml" Id="R2ef7362542834d1f" /><Relationship Type="http://schemas.openxmlformats.org/officeDocument/2006/relationships/slide" Target="/ppt/slides/slide9.xml" Id="Rdfcac83388544f69" /><Relationship Type="http://schemas.openxmlformats.org/officeDocument/2006/relationships/slide" Target="/ppt/slides/slide10.xml" Id="R3e28110588664957" /><Relationship Type="http://schemas.openxmlformats.org/officeDocument/2006/relationships/slide" Target="/ppt/slides/slide11.xml" Id="R6eafd1a2ebcb48bf" /><Relationship Type="http://schemas.openxmlformats.org/officeDocument/2006/relationships/slide" Target="/ppt/slides/slide12.xml" Id="R41293180399045a9" /><Relationship Type="http://schemas.openxmlformats.org/officeDocument/2006/relationships/slide" Target="/ppt/slides/slide13.xml" Id="R7b8c8ef04e2d42de" /><Relationship Type="http://schemas.openxmlformats.org/officeDocument/2006/relationships/slide" Target="/ppt/slides/slide14.xml" Id="Rbbf5cb70192747e1" /><Relationship Type="http://schemas.openxmlformats.org/officeDocument/2006/relationships/slide" Target="/ppt/slides/slide15.xml" Id="R1997261f0a584e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187a6109a7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e9287607ce470b" /><Relationship Type="http://schemas.openxmlformats.org/officeDocument/2006/relationships/notesMaster" Target="/ppt/notesMasters/notesMaster1.xml" Id="Rfa0fa3c6884647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f4baeea5c94013" /><Relationship Type="http://schemas.openxmlformats.org/officeDocument/2006/relationships/notesMaster" Target="/ppt/notesMasters/notesMaster1.xml" Id="Rf0ddec7298ba45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8e48b7dcfb49ae" /><Relationship Type="http://schemas.openxmlformats.org/officeDocument/2006/relationships/notesMaster" Target="/ppt/notesMasters/notesMaster1.xml" Id="Rb9786d3242264f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0890d248a4771" /><Relationship Type="http://schemas.openxmlformats.org/officeDocument/2006/relationships/notesMaster" Target="/ppt/notesMasters/notesMaster1.xml" Id="Rf035dc9e97c44a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881c8ea036495c" /><Relationship Type="http://schemas.openxmlformats.org/officeDocument/2006/relationships/notesMaster" Target="/ppt/notesMasters/notesMaster1.xml" Id="Rdfce1545eec643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3751d7991e4ec5" /><Relationship Type="http://schemas.openxmlformats.org/officeDocument/2006/relationships/notesMaster" Target="/ppt/notesMasters/notesMaster1.xml" Id="Rc84dab21d6a143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c8957105da4737" /><Relationship Type="http://schemas.openxmlformats.org/officeDocument/2006/relationships/notesMaster" Target="/ppt/notesMasters/notesMaster1.xml" Id="R3e06a34f46574e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1771c1116e4361" /><Relationship Type="http://schemas.openxmlformats.org/officeDocument/2006/relationships/notesMaster" Target="/ppt/notesMasters/notesMaster1.xml" Id="R985d33e715324b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56d96fa128474d" /><Relationship Type="http://schemas.openxmlformats.org/officeDocument/2006/relationships/notesMaster" Target="/ppt/notesMasters/notesMaster1.xml" Id="Rbae96889bf6540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ff95ee419f43ca" /><Relationship Type="http://schemas.openxmlformats.org/officeDocument/2006/relationships/notesMaster" Target="/ppt/notesMasters/notesMaster1.xml" Id="Rc6960eed5b6146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acec1eddf34a0e" /><Relationship Type="http://schemas.openxmlformats.org/officeDocument/2006/relationships/notesMaster" Target="/ppt/notesMasters/notesMaster1.xml" Id="R324ba0a06ba543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eefe930f8b4a36" /><Relationship Type="http://schemas.openxmlformats.org/officeDocument/2006/relationships/notesMaster" Target="/ppt/notesMasters/notesMaster1.xml" Id="R125f3ce6b7dc46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7324677bf24d0d" /><Relationship Type="http://schemas.openxmlformats.org/officeDocument/2006/relationships/notesMaster" Target="/ppt/notesMasters/notesMaster1.xml" Id="R48f44359680741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c79b34f153411c" /><Relationship Type="http://schemas.openxmlformats.org/officeDocument/2006/relationships/notesMaster" Target="/ppt/notesMasters/notesMaster1.xml" Id="R4364de3604174f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6b2e5104fc4e1f" /><Relationship Type="http://schemas.openxmlformats.org/officeDocument/2006/relationships/notesMaster" Target="/ppt/notesMasters/notesMaster1.xml" Id="Rdff5b329cb7a46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Electrical deployment changes the next battle as well as the current pass. AFTERLAP combines real circuit packages, race-condition simulation, constrained learning and a human decision workflow.</a:t>
            </a:r>
          </a:p>
          <a:p xmlns:a="http://schemas.openxmlformats.org/drawingml/2006/main">
            <a:r>
              <a:t/>
            </a:r>
          </a:p>
          <a:p xmlns:a="http://schemas.openxmlformats.org/drawingml/2006/main">
            <a:r>
              <a:t>Sources reviewed 8 September 2026:</a:t>
            </a:r>
          </a:p>
          <a:p xmlns:a="http://schemas.openxmlformats.org/drawingml/2006/main">
            <a:r>
              <a:t>Cover artwork: generated abstract illustration. It is not a real circuit or event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evaluate the attack and a later retained-position checkpoint. This prevents a policy from earning repeated rewards for passing and being repassed.</a:t>
            </a:r>
          </a:p>
          <a:p xmlns:a="http://schemas.openxmlformats.org/drawingml/2006/main">
            <a:r>
              <a:t/>
            </a:r>
          </a:p>
          <a:p xmlns:a="http://schemas.openxmlformats.org/drawingml/2006/main">
            <a:r>
              <a:t>Sources reviewed 8 September 2026:</a:t>
            </a:r>
          </a:p>
          <a:p xmlns:a="http://schemas.openxmlformats.org/drawingml/2006/main">
            <a:r>
              <a:t>Project: 06_planning/OPTIMIZATION.md</a:t>
            </a:r>
          </a:p>
          <a:p xmlns:a="http://schemas.openxmlformats.org/drawingml/2006/main">
            <a:r>
              <a:t>Project: 07_learning/ENVIRONMENT_AND_FEATURES.md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official page currently lists 23 rounds. Event identity and circuit geometry use separate IDs because the Bahrain Grand Prix is hosted at Sepang in the current schedule. Refresh this snapshot before presenting later.</a:t>
            </a:r>
          </a:p>
          <a:p xmlns:a="http://schemas.openxmlformats.org/drawingml/2006/main">
            <a:r>
              <a:t/>
            </a:r>
          </a:p>
          <a:p xmlns:a="http://schemas.openxmlformats.org/drawingml/2006/main">
            <a:r>
              <a:t>Sources reviewed 8 September 2026:</a:t>
            </a:r>
          </a:p>
          <a:p xmlns:a="http://schemas.openxmlformats.org/drawingml/2006/main">
            <a:r>
              <a:t>https://www.formula1.com/en/racing/2026</a:t>
            </a:r>
          </a:p>
          <a:p xmlns:a="http://schemas.openxmlformats.org/drawingml/2006/main">
            <a:r>
              <a:t>https://www.formula1.com/en/latest/article/formula-1-and-fia-confirm-malaysia-will-join-2026-calendar-as-host-venue-for-bahrain-grand-prix.6lL7vjFEM2VVynRHvg1TCf.6lL7vjFEM2VVynRHvg1TCf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Length is a scale check, not a strategy score. The actual policy receives geometry, conditions and rule context. Monza's official page reports 80 percent full throttle and a 1.1 km main straight. Monaco's page describes narrow streets and difficult overtaking.</a:t>
            </a:r>
          </a:p>
          <a:p xmlns:a="http://schemas.openxmlformats.org/drawingml/2006/main">
            <a:r>
              <a:t/>
            </a:r>
          </a:p>
          <a:p xmlns:a="http://schemas.openxmlformats.org/drawingml/2006/main">
            <a:r>
              <a:t>Sources reviewed 8 September 2026:</a:t>
            </a:r>
          </a:p>
          <a:p xmlns:a="http://schemas.openxmlformats.org/drawingml/2006/main">
            <a:r>
              <a:t>https://www.formula1.com/en/racing/2026/italy</a:t>
            </a:r>
          </a:p>
          <a:p xmlns:a="http://schemas.openxmlformats.org/drawingml/2006/main">
            <a:r>
              <a:t>https://www.formula1.com/en/racing/2026/monaco</a:t>
            </a:r>
          </a:p>
          <a:p xmlns:a="http://schemas.openxmlformats.org/drawingml/2006/main">
            <a:r>
              <a:t>Project: 17_real_tracks_conditions/season_2026_registry.json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compiler creates a periodic metric representation and aligns it with the latest event documents. A validator, not a manually edited status, decides whether the package can run.</a:t>
            </a:r>
          </a:p>
          <a:p xmlns:a="http://schemas.openxmlformats.org/drawingml/2006/main">
            <a:r>
              <a:t/>
            </a:r>
          </a:p>
          <a:p xmlns:a="http://schemas.openxmlformats.org/drawingml/2006/main">
            <a:r>
              <a:t>Sources reviewed 8 September 2026:</a:t>
            </a:r>
          </a:p>
          <a:p xmlns:a="http://schemas.openxmlformats.org/drawingml/2006/main">
            <a:r>
              <a:t>Project: 17_real_tracks_conditions/TRACK_DATA_PIPELINE.md</a:t>
            </a:r>
          </a:p>
          <a:p xmlns:a="http://schemas.openxmlformats.org/drawingml/2006/main">
            <a:r>
              <a:t>https://www.fia.com/documents/formula-1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OpenF1 exposes useful public race context. We do not relabel it as measured ERS state. Real circuit plus synthetic energy remains a real-circuit synthetic-energy scenario.</a:t>
            </a:r>
          </a:p>
          <a:p xmlns:a="http://schemas.openxmlformats.org/drawingml/2006/main">
            <a:r>
              <a:t/>
            </a:r>
          </a:p>
          <a:p xmlns:a="http://schemas.openxmlformats.org/drawingml/2006/main">
            <a:r>
              <a:t>Sources reviewed 8 September 2026:</a:t>
            </a:r>
          </a:p>
          <a:p xmlns:a="http://schemas.openxmlformats.org/drawingml/2006/main">
            <a:r>
              <a:t>https://openf1.org/docs/</a:t>
            </a:r>
          </a:p>
          <a:p xmlns:a="http://schemas.openxmlformats.org/drawingml/2006/main">
            <a:r>
              <a:t>https://docs.fastf1.dev/</a:t>
            </a:r>
          </a:p>
          <a:p xmlns:a="http://schemas.openxmlformats.org/drawingml/2006/main">
            <a:r>
              <a:t>https://www.fia.com/documents/formula-1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causal graph guides scenario sampling and leakage tests. Weather, grip and tyre state remain correlated. Wind is projected against local track heading rather than treated as one global sign.</a:t>
            </a:r>
          </a:p>
          <a:p xmlns:a="http://schemas.openxmlformats.org/drawingml/2006/main">
            <a:r>
              <a:t/>
            </a:r>
          </a:p>
          <a:p xmlns:a="http://schemas.openxmlformats.org/drawingml/2006/main">
            <a:r>
              <a:t>Sources reviewed 8 September 2026:</a:t>
            </a:r>
          </a:p>
          <a:p xmlns:a="http://schemas.openxmlformats.org/drawingml/2006/main">
            <a:r>
              <a:t>Project: 17_real_tracks_conditions/RACE_CONDITION_MODEL.md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FIA technical regulation sets an absolute 350 kW ERS-K DC power ceiling. Event-specific speed curves and recharge values determine the usable envelope. The simulator applies grip, motor and battery limits before adding recovered energy, and an independent ledger catches double counting.</a:t>
            </a:r>
          </a:p>
          <a:p xmlns:a="http://schemas.openxmlformats.org/drawingml/2006/main">
            <a:r>
              <a:t/>
            </a:r>
          </a:p>
          <a:p xmlns:a="http://schemas.openxmlformats.org/drawingml/2006/main">
            <a:r>
              <a:t>Sources reviewed 8 September 2026:</a:t>
            </a:r>
          </a:p>
          <a:p xmlns:a="http://schemas.openxmlformats.org/drawingml/2006/main">
            <a:r>
              <a:t>https://www.fia.com/system/files/documents/fia_2026_f1_regulations_-_section_c_technical_-_iss_20_-_2026-08-05.pdf</a:t>
            </a:r>
          </a:p>
          <a:p xmlns:a="http://schemas.openxmlformats.org/drawingml/2006/main">
            <a:r>
              <a:t>https://www.fia.com/system/files/decision-document/2026_miami_grand_prix_-_power_unit_information.pdf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completed pass and a retained pass are separate outcomes. Counterfactual opponents react to the changed branch. The policy cannot read simulator labels or future data.</a:t>
            </a:r>
          </a:p>
          <a:p xmlns:a="http://schemas.openxmlformats.org/drawingml/2006/main">
            <a:r>
              <a:t/>
            </a:r>
          </a:p>
          <a:p xmlns:a="http://schemas.openxmlformats.org/drawingml/2006/main">
            <a:r>
              <a:t>Sources reviewed 8 September 2026:</a:t>
            </a:r>
          </a:p>
          <a:p xmlns:a="http://schemas.openxmlformats.org/drawingml/2006/main">
            <a:r>
              <a:t>Project: 05_estimation/TECHNICAL_SPEC.md</a:t>
            </a:r>
          </a:p>
          <a:p xmlns:a="http://schemas.openxmlformats.org/drawingml/2006/main">
            <a:r>
              <a:t>Project: 17_real_tracks_conditions/RACE_CONDITION_MODEL.md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actor proposes a ten-second budget and a checkpoint reserve. The planner decodes and checks these preferences. Training and serving use the same action path. Operational inference uses the deterministic policy and frozen weights.</a:t>
            </a:r>
          </a:p>
          <a:p xmlns:a="http://schemas.openxmlformats.org/drawingml/2006/main">
            <a:r>
              <a:t/>
            </a:r>
          </a:p>
          <a:p xmlns:a="http://schemas.openxmlformats.org/drawingml/2006/main">
            <a:r>
              <a:t>Sources reviewed 8 September 2026:</a:t>
            </a:r>
          </a:p>
          <a:p xmlns:a="http://schemas.openxmlformats.org/drawingml/2006/main">
            <a:r>
              <a:t>https://stable-baselines3.readthedocs.io/en/master/modules/sac.html</a:t>
            </a:r>
          </a:p>
          <a:p xmlns:a="http://schemas.openxmlformats.org/drawingml/2006/main">
            <a:r>
              <a:t>Project: 07_learning/ENVIRONMENT_AND_FEATURES.md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neural network has no one stable physical importance weight per feature. We use paired interventions, group ablations, Sobol or Morris sensitivity and local actor diagnostics. Each result names the experiment and limits.</a:t>
            </a:r>
          </a:p>
          <a:p xmlns:a="http://schemas.openxmlformats.org/drawingml/2006/main">
            <a:r>
              <a:t/>
            </a:r>
          </a:p>
          <a:p xmlns:a="http://schemas.openxmlformats.org/drawingml/2006/main">
            <a:r>
              <a:t>Sources reviewed 8 September 2026:</a:t>
            </a:r>
          </a:p>
          <a:p xmlns:a="http://schemas.openxmlformats.org/drawingml/2006/main">
            <a:r>
              <a:t>Project: 17_real_tracks_conditions/FACTOR_AND_INFLUENCE.md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curriculum advances only after correctness and baseline gates. Evaluation balances decision opportunities rather than raw lap counts. Natural-frequency weights return for the final report.</a:t>
            </a:r>
          </a:p>
          <a:p xmlns:a="http://schemas.openxmlformats.org/drawingml/2006/main">
            <a:r>
              <a:t/>
            </a:r>
          </a:p>
          <a:p xmlns:a="http://schemas.openxmlformats.org/drawingml/2006/main">
            <a:r>
              <a:t>Sources reviewed 8 September 2026:</a:t>
            </a:r>
          </a:p>
          <a:p xmlns:a="http://schemas.openxmlformats.org/drawingml/2006/main">
            <a:r>
              <a:t>Project: 17_real_tracks_conditions/RL_TRACK_GENERALISATION.md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ordinary-return network reranks feasible finalists outside acados, avoiding a false differentiability assumption. Baseline candidates remain available. The checker can reject learned preferences.</a:t>
            </a:r>
          </a:p>
          <a:p xmlns:a="http://schemas.openxmlformats.org/drawingml/2006/main">
            <a:r>
              <a:t/>
            </a:r>
          </a:p>
          <a:p xmlns:a="http://schemas.openxmlformats.org/drawingml/2006/main">
            <a:r>
              <a:t>Sources reviewed 8 September 2026:</a:t>
            </a:r>
          </a:p>
          <a:p xmlns:a="http://schemas.openxmlformats.org/drawingml/2006/main">
            <a:r>
              <a:t>Project: 00_program/ARCHITECTURE.md</a:t>
            </a:r>
          </a:p>
          <a:p xmlns:a="http://schemas.openxmlformats.org/drawingml/2006/main">
            <a:r>
              <a:t>Project: 07_learning/VALUE_AND_CALIBRATION.md</a:t>
            </a:r>
          </a:p>
          <a:p xmlns:a="http://schemas.openxmlformats.org/drawingml/2006/main">
            <a:r>
              <a:t>Project: 06_planning/OPTIMIZATION.md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report uses hierarchical paired intervals over scenarios and training seeds. Failed and withdrawn decisions stay in the denominator. Promotion thresholds are frozen before opening the final test set.</a:t>
            </a:r>
          </a:p>
          <a:p xmlns:a="http://schemas.openxmlformats.org/drawingml/2006/main">
            <a:r>
              <a:t/>
            </a:r>
          </a:p>
          <a:p xmlns:a="http://schemas.openxmlformats.org/drawingml/2006/main">
            <a:r>
              <a:t>Sources reviewed 8 September 2026:</a:t>
            </a:r>
          </a:p>
          <a:p xmlns:a="http://schemas.openxmlformats.org/drawingml/2006/main">
            <a:r>
              <a:t>Project: 07_learning/SERVING_AND_EVALUATION.md</a:t>
            </a:r>
          </a:p>
          <a:p xmlns:a="http://schemas.openxmlformats.org/drawingml/2006/main">
            <a:r>
              <a:t>Project: 13_validation/TECHNICAL_SPEC.md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USP is the auditable chain from real event context to a constrained recommendation and observed execution. The final demonstration must run two actual branches rather than playing authored chart data.</a:t>
            </a:r>
          </a:p>
          <a:p xmlns:a="http://schemas.openxmlformats.org/drawingml/2006/main">
            <a:r>
              <a:t/>
            </a:r>
          </a:p>
          <a:p xmlns:a="http://schemas.openxmlformats.org/drawingml/2006/main">
            <a:r>
              <a:t>Sources reviewed 8 September 2026:</a:t>
            </a:r>
          </a:p>
          <a:p xmlns:a="http://schemas.openxmlformats.org/drawingml/2006/main">
            <a:r>
              <a:t>Project: 12_design/DESIGN_REVISION_02.md</a:t>
            </a:r>
          </a:p>
          <a:p xmlns:a="http://schemas.openxmlformats.org/drawingml/2006/main">
            <a:r>
              <a:t>Project: 15_presentation/DEMO_RUNBOOK.md</a:t>
            </a:r>
          </a:p>
          <a:p xmlns:a="http://schemas.openxmlformats.org/drawingml/2006/main">
            <a:r>
              <a:t>Project: 17_real_tracks_conditions/README.md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258e6161a4b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ba858588ca4f58" /><Relationship Type="http://schemas.openxmlformats.org/officeDocument/2006/relationships/slideLayout" Target="/ppt/slideLayouts/slideLayout1.xml" Id="R0c4e07b8b9da43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4e07b8b9da43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c0e3a4caa442f6" /><Relationship Type="http://schemas.openxmlformats.org/officeDocument/2006/relationships/image" Target="/ppt/media/image.png" Id="Ra1bb6c3682a64e06" /><Relationship Type="http://schemas.openxmlformats.org/officeDocument/2006/relationships/notesSlide" Target="/ppt/notesSlides/notesSlide1.xml" Id="R9a2eb473912e49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4d0ae200f74ba4" /><Relationship Type="http://schemas.openxmlformats.org/officeDocument/2006/relationships/notesSlide" Target="/ppt/notesSlides/notesSlide2.xml" Id="R6f57591057f54f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b727712f34760" /><Relationship Type="http://schemas.openxmlformats.org/officeDocument/2006/relationships/notesSlide" Target="/ppt/notesSlides/notesSlide3.xml" Id="Rb33b94d8893649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c507c5d4b04916" /><Relationship Type="http://schemas.openxmlformats.org/officeDocument/2006/relationships/chart" Target="/ppt/slides/charts/chart1.xml" Id="R64170795bc274684" /><Relationship Type="http://schemas.openxmlformats.org/officeDocument/2006/relationships/notesSlide" Target="/ppt/notesSlides/notesSlide4.xml" Id="R7e0135a6501845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2e492c9b3349cc" /><Relationship Type="http://schemas.openxmlformats.org/officeDocument/2006/relationships/notesSlide" Target="/ppt/notesSlides/notesSlide5.xml" Id="Rb862496266a542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e1a0cbc8444658" /><Relationship Type="http://schemas.openxmlformats.org/officeDocument/2006/relationships/notesSlide" Target="/ppt/notesSlides/notesSlide6.xml" Id="R67ca6ff038fd49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3a2ac6426947cc" /><Relationship Type="http://schemas.openxmlformats.org/officeDocument/2006/relationships/notesSlide" Target="/ppt/notesSlides/notesSlide7.xml" Id="R25c0eefc310b4b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db62cd9fcf4d86" /><Relationship Type="http://schemas.openxmlformats.org/officeDocument/2006/relationships/notesSlide" Target="/ppt/notesSlides/notesSlide8.xml" Id="Re882a746b1b740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a2f9b1042049e0" /><Relationship Type="http://schemas.openxmlformats.org/officeDocument/2006/relationships/notesSlide" Target="/ppt/notesSlides/notesSlide9.xml" Id="R741c52b6063e4e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3ca29adba54b59" /><Relationship Type="http://schemas.openxmlformats.org/officeDocument/2006/relationships/notesSlide" Target="/ppt/notesSlides/notesSlide10.xml" Id="Race4e75d952340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af482c1958b4a3a" /><Relationship Type="http://schemas.openxmlformats.org/officeDocument/2006/relationships/notesSlide" Target="/ppt/notesSlides/notesSlide11.xml" Id="R9a75d536daf14e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88d0aad0f44ea9" /><Relationship Type="http://schemas.openxmlformats.org/officeDocument/2006/relationships/notesSlide" Target="/ppt/notesSlides/notesSlide12.xml" Id="R8f8d96c51b614a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9a1278d3d84375" /><Relationship Type="http://schemas.openxmlformats.org/officeDocument/2006/relationships/notesSlide" Target="/ppt/notesSlides/notesSlide13.xml" Id="R64fd9ac26aa543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542b5112c24373" /><Relationship Type="http://schemas.openxmlformats.org/officeDocument/2006/relationships/notesSlide" Target="/ppt/notesSlides/notesSlide14.xml" Id="R2dd06cbb299b4e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08ee0e771a4a72" /><Relationship Type="http://schemas.openxmlformats.org/officeDocument/2006/relationships/notesSlide" Target="/ppt/notesSlides/notesSlide15.xml" Id="R0a22fa7696044e28" /></Relationships>
</file>

<file path=ppt/slides/charts/chart1.xml><?xml version="1.0" encoding="utf-8"?>
<c:chartSpace xmlns:c="http://schemas.openxmlformats.org/drawingml/2006/chart">
  <c:lang val="en-US"/>
  <c:chart>
    <c:plotArea>
      <c:barChart>
        <c:barDir val="bar"/>
        <c:grouping val="clustered"/>
        <c:varyColors val="0"/>
        <c:ser>
          <c:idx val="0"/>
          <c:order val="0"/>
          <c:tx>
            <c:v>Circuit length</c:v>
          </c:tx>
          <c:spPr>
            <a:solidFill xmlns:a="http://schemas.openxmlformats.org/drawingml/2006/main">
              <a:srgbClr val="1768C4"/>
            </a:solidFill>
          </c:spPr>
          <c:cat>
            <c:strLit>
              <c:ptCount val="6"/>
              <c:pt idx="0">
                <c:v>Spa</c:v>
              </c:pt>
              <c:pt idx="1">
                <c:v>Monza</c:v>
              </c:pt>
              <c:pt idx="2">
                <c:v>Suzuka</c:v>
              </c:pt>
              <c:pt idx="3">
                <c:v>Singapore</c:v>
              </c:pt>
              <c:pt idx="4">
                <c:v>Mexico City</c:v>
              </c:pt>
              <c:pt idx="5">
                <c:v>Monaco</c:v>
              </c:pt>
            </c:strLit>
          </c:cat>
          <c:val>
            <c:numLit>
              <c:formatCode>General</c:formatCode>
              <c:ptCount val="6"/>
              <c:pt idx="0">
                <c:v>7.004</c:v>
              </c:pt>
              <c:pt idx="1">
                <c:v>5.793</c:v>
              </c:pt>
              <c:pt idx="2">
                <c:v>5.807</c:v>
              </c:pt>
              <c:pt idx="3">
                <c:v>4.927</c:v>
              </c:pt>
              <c:pt idx="4">
                <c:v>4.304</c:v>
              </c:pt>
              <c:pt idx="5">
                <c:v>3.337</c:v>
              </c:pt>
            </c:numLit>
          </c:val>
        </c:ser>
        <c:dLbls>
          <c:txPr>
            <a:bodyPr xmlns:a="http://schemas.openxmlformats.org/drawingml/2006/main" anchorCtr="1"/>
            <a:lstStyle xmlns:a="http://schemas.openxmlformats.org/drawingml/2006/main"/>
            <a:p xmlns:a="http://schemas.openxmlformats.org/drawingml/2006/main">
              <a:pPr>
                <a:defRPr sz="1125"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DE1E4"/>
              </a:solidFill>
              <a:prstDash val="solid"/>
            </a:ln>
          </c:spPr>
        </c:majorGridlines>
        <c:numFmt formatCode="0.0&quot; k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872"/>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17212B"/>
                </a:solidFill>
                <a:latin typeface="Arial"/>
                <a:ea typeface="Arial"/>
                <a:cs typeface="Arial"/>
              </a:defRPr>
            </a:pPr>
          </a:p>
        </c:txPr>
        <c:crossAx val="48650112"/>
        <c:crossBetween val="between"/>
      </c:valAx>
    </c:plotArea>
    <c:plotVisOnly val="1"/>
  </c:chart>
  <c:spPr>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1bb6c3682a64e0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12C5A95-57FD-44BA-AB32-18315C43DF66}"/>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0182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202D59-9CD6-4CF6-9F74-213391DE4ACD}"/>
              </a:ext>
            </a:extLst>
          </p:cNvPr>
          <p:cNvSpPr>
            <a:spLocks xmlns:a="http://schemas.openxmlformats.org/drawingml/2006/main" noGrp="1"/>
          </p:cNvSpPr>
          <p:nvPr/>
        </p:nvSpPr>
        <p:spPr>
          <a:xfrm xmlns:a="http://schemas.openxmlformats.org/drawingml/2006/main">
            <a:off x="647700" y="60960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AFTERLAP</a:t>
            </a:r>
          </a:p>
        </p:txBody>
      </p:sp>
      <p:sp>
        <p:nvSpPr>
          <p:cNvPr id="4" name="">
            <a:extLst xmlns:a="http://schemas.openxmlformats.org/drawingml/2006/main">
              <a:ext uri="{FF2B5EF4-FFF2-40B4-BE49-F238E27FC236}">
                <a16:creationId xmlns:a16="http://schemas.microsoft.com/office/drawing/2014/main" id="{4F0232B0-C2FE-4366-9E97-9A00E9149E42}"/>
              </a:ext>
            </a:extLst>
          </p:cNvPr>
          <p:cNvSpPr>
            <a:spLocks xmlns:a="http://schemas.openxmlformats.org/drawingml/2006/main" noGrp="1"/>
          </p:cNvSpPr>
          <p:nvPr/>
        </p:nvSpPr>
        <p:spPr>
          <a:xfrm xmlns:a="http://schemas.openxmlformats.org/drawingml/2006/main">
            <a:off x="647700" y="209550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310"/>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Energy and overtake intelligence</a:t>
            </a:r>
          </a:p>
        </p:txBody>
      </p:sp>
      <p:sp>
        <p:nvSpPr>
          <p:cNvPr id="5" name="">
            <a:extLst xmlns:a="http://schemas.openxmlformats.org/drawingml/2006/main">
              <a:ext uri="{FF2B5EF4-FFF2-40B4-BE49-F238E27FC236}">
                <a16:creationId xmlns:a16="http://schemas.microsoft.com/office/drawing/2014/main" id="{B481C179-F9CC-4493-9BD3-284A86B27EC1}"/>
              </a:ext>
            </a:extLst>
          </p:cNvPr>
          <p:cNvSpPr>
            <a:spLocks xmlns:a="http://schemas.openxmlformats.org/drawingml/2006/main" noGrp="1"/>
          </p:cNvSpPr>
          <p:nvPr/>
        </p:nvSpPr>
        <p:spPr>
          <a:xfrm xmlns:a="http://schemas.openxmlformats.org/drawingml/2006/main">
            <a:off x="666750" y="34861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D3DAE0"/>
                </a:solidFill>
                <a:latin typeface="Arial"/>
                <a:ea typeface="Arial"/>
                <a:cs typeface="Arial"/>
              </a:defRPr>
            </a:pPr>
            <a:r>
              <a:rPr sz="1800" b="0">
                <a:solidFill>
                  <a:srgbClr val="D3DAE0"/>
                </a:solidFill>
                <a:latin typeface="Arial"/>
                <a:ea typeface="Arial"/>
                <a:cs typeface="Arial"/>
              </a:rPr>
              <a:t>Real circuits, constrained learning and decisions an engineer can inspect</a:t>
            </a:r>
          </a:p>
        </p:txBody>
      </p:sp>
      <p:sp>
        <p:nvSpPr>
          <p:cNvPr id="6" name="">
            <a:extLst xmlns:a="http://schemas.openxmlformats.org/drawingml/2006/main">
              <a:ext uri="{FF2B5EF4-FFF2-40B4-BE49-F238E27FC236}">
                <a16:creationId xmlns:a16="http://schemas.microsoft.com/office/drawing/2014/main" id="{CB0B6EFB-5AE4-46C6-9A72-C8E55F56832F}"/>
              </a:ext>
            </a:extLst>
          </p:cNvPr>
          <p:cNvSpPr>
            <a:spLocks xmlns:a="http://schemas.openxmlformats.org/drawingml/2006/main" noGrp="1"/>
          </p:cNvSpPr>
          <p:nvPr/>
        </p:nvSpPr>
        <p:spPr>
          <a:xfrm xmlns:a="http://schemas.openxmlformats.org/drawingml/2006/main">
            <a:off x="666750" y="59055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E5A637"/>
                </a:solidFill>
                <a:latin typeface="Arial"/>
                <a:ea typeface="Arial"/>
                <a:cs typeface="Arial"/>
              </a:defRPr>
            </a:pPr>
            <a:r>
              <a:rPr sz="1200" b="1">
                <a:solidFill>
                  <a:srgbClr val="E5A637"/>
                </a:solidFill>
                <a:latin typeface="Arial"/>
                <a:ea typeface="Arial"/>
                <a:cs typeface="Arial"/>
              </a:rPr>
              <a:t>TrackShift 2026 final round</a:t>
            </a:r>
          </a:p>
        </p:txBody>
      </p:sp>
    </p:spTree>
    <p:extLst>
      <p:ext uri="{BB962C8B-B14F-4D97-AF65-F5344CB8AC3E}">
        <p14:creationId xmlns:p14="http://schemas.microsoft.com/office/powerpoint/2010/main" val="1402212613"/>
      </p:ext>
    </p:extLst>
  </p:cSld>
</p:sld>
</file>

<file path=ppt/slides/slide2.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294D9D3-9D44-4CC2-BE6D-9BC6909D5A9D}"/>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DBE63DB1-EE4F-427B-ABDF-19C0D7080780}"/>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7212B"/>
                </a:solidFill>
                <a:latin typeface="Arial"/>
                <a:ea typeface="Arial"/>
                <a:cs typeface="Arial"/>
              </a:defRPr>
            </a:pPr>
            <a:r>
              <a:rPr sz="3000" b="1">
                <a:solidFill>
                  <a:srgbClr val="17212B"/>
                </a:solidFill>
                <a:latin typeface="Arial"/>
                <a:ea typeface="Arial"/>
                <a:cs typeface="Arial"/>
              </a:rPr>
              <a:t>The engineering question</a:t>
            </a:r>
          </a:p>
        </p:txBody>
      </p:sp>
      <p:sp>
        <p:nvSpPr>
          <p:cNvPr id="3" name="">
            <a:extLst xmlns:a="http://schemas.openxmlformats.org/drawingml/2006/main">
              <a:ext uri="{FF2B5EF4-FFF2-40B4-BE49-F238E27FC236}">
                <a16:creationId xmlns:a16="http://schemas.microsoft.com/office/drawing/2014/main" id="{838C626D-FCB3-4BDA-A0D6-2E914917E4C8}"/>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A pass has value only if the car can survive what follows</a:t>
            </a:r>
          </a:p>
        </p:txBody>
      </p:sp>
      <p:sp>
        <p:nvSpPr>
          <p:cNvPr id="4" name="">
            <a:extLst xmlns:a="http://schemas.openxmlformats.org/drawingml/2006/main">
              <a:ext uri="{FF2B5EF4-FFF2-40B4-BE49-F238E27FC236}">
                <a16:creationId xmlns:a16="http://schemas.microsoft.com/office/drawing/2014/main" id="{3453D0BE-F3E1-4CD3-AB17-2B8FA9623A93}"/>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952409CA-696A-45CA-80EC-962E80FD601A}"/>
              </a:ext>
            </a:extLst>
          </p:cNvPr>
          <p:cNvSpPr>
            <a:spLocks xmlns:a="http://schemas.openxmlformats.org/drawingml/2006/main" noGrp="1"/>
          </p:cNvSpPr>
          <p:nvPr/>
        </p:nvSpPr>
        <p:spPr>
          <a:xfrm xmlns:a="http://schemas.openxmlformats.org/drawingml/2006/main">
            <a:off x="685800" y="16764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68C4"/>
                </a:solidFill>
                <a:latin typeface="Arial"/>
                <a:ea typeface="Arial"/>
                <a:cs typeface="Arial"/>
              </a:defRPr>
            </a:pPr>
            <a:r>
              <a:rPr sz="4050" b="1">
                <a:solidFill>
                  <a:srgbClr val="1768C4"/>
                </a:solidFill>
                <a:latin typeface="Arial"/>
                <a:ea typeface="Arial"/>
                <a:cs typeface="Arial"/>
              </a:rPr>
              <a:t>0.65 s</a:t>
            </a:r>
          </a:p>
        </p:txBody>
      </p:sp>
      <p:sp>
        <p:nvSpPr>
          <p:cNvPr id="6" name="">
            <a:extLst xmlns:a="http://schemas.openxmlformats.org/drawingml/2006/main">
              <a:ext uri="{FF2B5EF4-FFF2-40B4-BE49-F238E27FC236}">
                <a16:creationId xmlns:a16="http://schemas.microsoft.com/office/drawing/2014/main" id="{D1750769-A25B-4EDE-BFAB-B3F8B54DBF7F}"/>
              </a:ext>
            </a:extLst>
          </p:cNvPr>
          <p:cNvSpPr>
            <a:spLocks xmlns:a="http://schemas.openxmlformats.org/drawingml/2006/main" noGrp="1"/>
          </p:cNvSpPr>
          <p:nvPr/>
        </p:nvSpPr>
        <p:spPr>
          <a:xfrm xmlns:a="http://schemas.openxmlformats.org/drawingml/2006/main">
            <a:off x="723900" y="23145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gap to the car ahead</a:t>
            </a:r>
          </a:p>
        </p:txBody>
      </p:sp>
      <p:sp>
        <p:nvSpPr>
          <p:cNvPr id="7" name="">
            <a:extLst xmlns:a="http://schemas.openxmlformats.org/drawingml/2006/main">
              <a:ext uri="{FF2B5EF4-FFF2-40B4-BE49-F238E27FC236}">
                <a16:creationId xmlns:a16="http://schemas.microsoft.com/office/drawing/2014/main" id="{5D1F02F3-3A17-40D2-A8BF-FDF20C614019}"/>
              </a:ext>
            </a:extLst>
          </p:cNvPr>
          <p:cNvSpPr>
            <a:spLocks xmlns:a="http://schemas.openxmlformats.org/drawingml/2006/main" noGrp="1"/>
          </p:cNvSpPr>
          <p:nvPr/>
        </p:nvSpPr>
        <p:spPr>
          <a:xfrm xmlns:a="http://schemas.openxmlformats.org/drawingml/2006/main">
            <a:off x="3333750" y="1657350"/>
            <a:ext cx="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8" name="">
            <a:extLst xmlns:a="http://schemas.openxmlformats.org/drawingml/2006/main">
              <a:ext uri="{FF2B5EF4-FFF2-40B4-BE49-F238E27FC236}">
                <a16:creationId xmlns:a16="http://schemas.microsoft.com/office/drawing/2014/main" id="{A95BB447-48C8-45FA-A651-70B94478C896}"/>
              </a:ext>
            </a:extLst>
          </p:cNvPr>
          <p:cNvSpPr>
            <a:spLocks xmlns:a="http://schemas.openxmlformats.org/drawingml/2006/main" noGrp="1"/>
          </p:cNvSpPr>
          <p:nvPr/>
        </p:nvSpPr>
        <p:spPr>
          <a:xfrm xmlns:a="http://schemas.openxmlformats.org/drawingml/2006/main">
            <a:off x="3619500" y="1666875"/>
            <a:ext cx="1809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9" name="">
            <a:extLst xmlns:a="http://schemas.openxmlformats.org/drawingml/2006/main">
              <a:ext uri="{FF2B5EF4-FFF2-40B4-BE49-F238E27FC236}">
                <a16:creationId xmlns:a16="http://schemas.microsoft.com/office/drawing/2014/main" id="{102EF011-05DC-40E1-8DCE-0DF3110BF973}"/>
              </a:ext>
            </a:extLst>
          </p:cNvPr>
          <p:cNvSpPr>
            <a:spLocks xmlns:a="http://schemas.openxmlformats.org/drawingml/2006/main" noGrp="1"/>
          </p:cNvSpPr>
          <p:nvPr/>
        </p:nvSpPr>
        <p:spPr>
          <a:xfrm xmlns:a="http://schemas.openxmlformats.org/drawingml/2006/main">
            <a:off x="3733800" y="1743075"/>
            <a:ext cx="1581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Approach</a:t>
            </a:r>
          </a:p>
        </p:txBody>
      </p:sp>
      <p:sp>
        <p:nvSpPr>
          <p:cNvPr id="10" name="">
            <a:extLst xmlns:a="http://schemas.openxmlformats.org/drawingml/2006/main">
              <a:ext uri="{FF2B5EF4-FFF2-40B4-BE49-F238E27FC236}">
                <a16:creationId xmlns:a16="http://schemas.microsoft.com/office/drawing/2014/main" id="{43F5E711-942E-4881-AB48-051C284C4A64}"/>
              </a:ext>
            </a:extLst>
          </p:cNvPr>
          <p:cNvSpPr>
            <a:spLocks xmlns:a="http://schemas.openxmlformats.org/drawingml/2006/main" noGrp="1"/>
          </p:cNvSpPr>
          <p:nvPr/>
        </p:nvSpPr>
        <p:spPr>
          <a:xfrm xmlns:a="http://schemas.openxmlformats.org/drawingml/2006/main">
            <a:off x="6191250" y="1666875"/>
            <a:ext cx="1809750" cy="742950"/>
          </a:xfrm>
          <a:prstGeom xmlns:a="http://schemas.openxmlformats.org/drawingml/2006/main" prst="rect">
            <a:avLst/>
          </a:prstGeom>
          <a:solidFill xmlns:a="http://schemas.openxmlformats.org/drawingml/2006/main">
            <a:srgbClr val="E7EEF7"/>
          </a:solidFill>
          <a:ln xmlns:a="http://schemas.openxmlformats.org/drawingml/2006/main" w="9525">
            <a:solidFill>
              <a:srgbClr val="1768C4"/>
            </a:solidFill>
            <a:prstDash val="solid"/>
          </a:ln>
        </p:spPr>
      </p:sp>
      <p:sp>
        <p:nvSpPr>
          <p:cNvPr id="11" name="">
            <a:extLst xmlns:a="http://schemas.openxmlformats.org/drawingml/2006/main">
              <a:ext uri="{FF2B5EF4-FFF2-40B4-BE49-F238E27FC236}">
                <a16:creationId xmlns:a16="http://schemas.microsoft.com/office/drawing/2014/main" id="{23FC3F45-215F-4BE9-8B13-681D1978E931}"/>
              </a:ext>
            </a:extLst>
          </p:cNvPr>
          <p:cNvSpPr>
            <a:spLocks xmlns:a="http://schemas.openxmlformats.org/drawingml/2006/main" noGrp="1"/>
          </p:cNvSpPr>
          <p:nvPr/>
        </p:nvSpPr>
        <p:spPr>
          <a:xfrm xmlns:a="http://schemas.openxmlformats.org/drawingml/2006/main">
            <a:off x="6305550" y="1743075"/>
            <a:ext cx="1581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Pass attempt</a:t>
            </a:r>
          </a:p>
        </p:txBody>
      </p:sp>
      <p:sp>
        <p:nvSpPr>
          <p:cNvPr id="12" name="">
            <a:extLst xmlns:a="http://schemas.openxmlformats.org/drawingml/2006/main">
              <a:ext uri="{FF2B5EF4-FFF2-40B4-BE49-F238E27FC236}">
                <a16:creationId xmlns:a16="http://schemas.microsoft.com/office/drawing/2014/main" id="{77E38B8E-D53D-458C-9AD4-E94476686241}"/>
              </a:ext>
            </a:extLst>
          </p:cNvPr>
          <p:cNvSpPr>
            <a:spLocks xmlns:a="http://schemas.openxmlformats.org/drawingml/2006/main" noGrp="1"/>
          </p:cNvSpPr>
          <p:nvPr/>
        </p:nvSpPr>
        <p:spPr>
          <a:xfrm xmlns:a="http://schemas.openxmlformats.org/drawingml/2006/main">
            <a:off x="8763000" y="1666875"/>
            <a:ext cx="2095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3" name="">
            <a:extLst xmlns:a="http://schemas.openxmlformats.org/drawingml/2006/main">
              <a:ext uri="{FF2B5EF4-FFF2-40B4-BE49-F238E27FC236}">
                <a16:creationId xmlns:a16="http://schemas.microsoft.com/office/drawing/2014/main" id="{56C4479F-048D-4A42-A3CD-F76898D78FEE}"/>
              </a:ext>
            </a:extLst>
          </p:cNvPr>
          <p:cNvSpPr>
            <a:spLocks xmlns:a="http://schemas.openxmlformats.org/drawingml/2006/main" noGrp="1"/>
          </p:cNvSpPr>
          <p:nvPr/>
        </p:nvSpPr>
        <p:spPr>
          <a:xfrm xmlns:a="http://schemas.openxmlformats.org/drawingml/2006/main">
            <a:off x="8877300" y="1743075"/>
            <a:ext cx="1866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Retain at T12</a:t>
            </a:r>
          </a:p>
        </p:txBody>
      </p:sp>
      <p:cxnSp>
        <p:nvCxnSpPr>
          <p:cNvPr id="44" name=""/>
          <p:cNvCxnSpPr>
            <a:stCxn xmlns:a="http://schemas.openxmlformats.org/drawingml/2006/main" id="8" idx="3"/>
            <a:endCxn xmlns:a="http://schemas.openxmlformats.org/drawingml/2006/main" id="10" idx="1"/>
          </p:cNvCxnSpPr>
          <p:nvPr/>
        </p:nvCxnSpPr>
        <p:spPr>
          <a:xfrm xmlns:a="http://schemas.openxmlformats.org/drawingml/2006/main">
            <a:off x="5429250" y="2038350"/>
            <a:ext cx="7620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45" name=""/>
          <p:cNvCxnSpPr>
            <a:stCxn xmlns:a="http://schemas.openxmlformats.org/drawingml/2006/main" id="10" idx="3"/>
            <a:endCxn xmlns:a="http://schemas.openxmlformats.org/drawingml/2006/main" id="12" idx="1"/>
          </p:cNvCxnSpPr>
          <p:nvPr/>
        </p:nvCxnSpPr>
        <p:spPr>
          <a:xfrm xmlns:a="http://schemas.openxmlformats.org/drawingml/2006/main">
            <a:off x="8001000" y="2038350"/>
            <a:ext cx="7620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6" name="">
            <a:extLst xmlns:a="http://schemas.openxmlformats.org/drawingml/2006/main">
              <a:ext uri="{FF2B5EF4-FFF2-40B4-BE49-F238E27FC236}">
                <a16:creationId xmlns:a16="http://schemas.microsoft.com/office/drawing/2014/main" id="{CABE799B-C7CF-47EA-8CE7-69122BB81D34}"/>
              </a:ext>
            </a:extLst>
          </p:cNvPr>
          <p:cNvSpPr>
            <a:spLocks xmlns:a="http://schemas.openxmlformats.org/drawingml/2006/main" noGrp="1"/>
          </p:cNvSpPr>
          <p:nvPr/>
        </p:nvSpPr>
        <p:spPr>
          <a:xfrm xmlns:a="http://schemas.openxmlformats.org/drawingml/2006/main">
            <a:off x="704850" y="3286125"/>
            <a:ext cx="57150" cy="666750"/>
          </a:xfrm>
          <a:prstGeom xmlns:a="http://schemas.openxmlformats.org/drawingml/2006/main" prst="rect">
            <a:avLst/>
          </a:prstGeom>
          <a:solidFill xmlns:a="http://schemas.openxmlformats.org/drawingml/2006/main">
            <a:srgbClr val="1768C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487659F-AE74-474E-8975-D0FDD35359E3}"/>
              </a:ext>
            </a:extLst>
          </p:cNvPr>
          <p:cNvSpPr>
            <a:spLocks xmlns:a="http://schemas.openxmlformats.org/drawingml/2006/main" noGrp="1"/>
          </p:cNvSpPr>
          <p:nvPr/>
        </p:nvSpPr>
        <p:spPr>
          <a:xfrm xmlns:a="http://schemas.openxmlformats.org/drawingml/2006/main">
            <a:off x="914400" y="32385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Immediate gain</a:t>
            </a:r>
          </a:p>
        </p:txBody>
      </p:sp>
      <p:sp>
        <p:nvSpPr>
          <p:cNvPr id="18" name="">
            <a:extLst xmlns:a="http://schemas.openxmlformats.org/drawingml/2006/main">
              <a:ext uri="{FF2B5EF4-FFF2-40B4-BE49-F238E27FC236}">
                <a16:creationId xmlns:a16="http://schemas.microsoft.com/office/drawing/2014/main" id="{B5429DBE-D10D-4C1F-A0F6-A5429AE2F54C}"/>
              </a:ext>
            </a:extLst>
          </p:cNvPr>
          <p:cNvSpPr>
            <a:spLocks xmlns:a="http://schemas.openxmlformats.org/drawingml/2006/main" noGrp="1"/>
          </p:cNvSpPr>
          <p:nvPr/>
        </p:nvSpPr>
        <p:spPr>
          <a:xfrm xmlns:a="http://schemas.openxmlformats.org/drawingml/2006/main">
            <a:off x="914400" y="35623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Electrical power closes the gap and changes the passing window.</a:t>
            </a:r>
          </a:p>
        </p:txBody>
      </p:sp>
      <p:sp>
        <p:nvSpPr>
          <p:cNvPr id="19" name="">
            <a:extLst xmlns:a="http://schemas.openxmlformats.org/drawingml/2006/main">
              <a:ext uri="{FF2B5EF4-FFF2-40B4-BE49-F238E27FC236}">
                <a16:creationId xmlns:a16="http://schemas.microsoft.com/office/drawing/2014/main" id="{CA1D64A3-8BE5-4224-B6AA-4510782FEC80}"/>
              </a:ext>
            </a:extLst>
          </p:cNvPr>
          <p:cNvSpPr>
            <a:spLocks xmlns:a="http://schemas.openxmlformats.org/drawingml/2006/main" noGrp="1"/>
          </p:cNvSpPr>
          <p:nvPr/>
        </p:nvSpPr>
        <p:spPr>
          <a:xfrm xmlns:a="http://schemas.openxmlformats.org/drawingml/2006/main">
            <a:off x="704850" y="4333875"/>
            <a:ext cx="57150" cy="666750"/>
          </a:xfrm>
          <a:prstGeom xmlns:a="http://schemas.openxmlformats.org/drawingml/2006/main" prst="rect">
            <a:avLst/>
          </a:prstGeom>
          <a:solidFill xmlns:a="http://schemas.openxmlformats.org/drawingml/2006/main">
            <a:srgbClr val="E5A63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C657CF2-26A7-4729-94CD-24ED8606C4E7}"/>
              </a:ext>
            </a:extLst>
          </p:cNvPr>
          <p:cNvSpPr>
            <a:spLocks xmlns:a="http://schemas.openxmlformats.org/drawingml/2006/main" noGrp="1"/>
          </p:cNvSpPr>
          <p:nvPr/>
        </p:nvSpPr>
        <p:spPr>
          <a:xfrm xmlns:a="http://schemas.openxmlformats.org/drawingml/2006/main">
            <a:off x="914400" y="42862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Delayed cost</a:t>
            </a:r>
          </a:p>
        </p:txBody>
      </p:sp>
      <p:sp>
        <p:nvSpPr>
          <p:cNvPr id="21" name="">
            <a:extLst xmlns:a="http://schemas.openxmlformats.org/drawingml/2006/main">
              <a:ext uri="{FF2B5EF4-FFF2-40B4-BE49-F238E27FC236}">
                <a16:creationId xmlns:a16="http://schemas.microsoft.com/office/drawing/2014/main" id="{818DDBEA-9EF8-4399-896F-FB892D4E5BAC}"/>
              </a:ext>
            </a:extLst>
          </p:cNvPr>
          <p:cNvSpPr>
            <a:spLocks xmlns:a="http://schemas.openxmlformats.org/drawingml/2006/main" noGrp="1"/>
          </p:cNvSpPr>
          <p:nvPr/>
        </p:nvSpPr>
        <p:spPr>
          <a:xfrm xmlns:a="http://schemas.openxmlformats.org/drawingml/2006/main">
            <a:off x="914400" y="46101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The same energy may be needed to defend on the following straight.</a:t>
            </a:r>
          </a:p>
        </p:txBody>
      </p:sp>
      <p:sp>
        <p:nvSpPr>
          <p:cNvPr id="22" name="">
            <a:extLst xmlns:a="http://schemas.openxmlformats.org/drawingml/2006/main">
              <a:ext uri="{FF2B5EF4-FFF2-40B4-BE49-F238E27FC236}">
                <a16:creationId xmlns:a16="http://schemas.microsoft.com/office/drawing/2014/main" id="{7DC19018-F127-4C68-ACF2-801E86B85EFB}"/>
              </a:ext>
            </a:extLst>
          </p:cNvPr>
          <p:cNvSpPr>
            <a:spLocks xmlns:a="http://schemas.openxmlformats.org/drawingml/2006/main" noGrp="1"/>
          </p:cNvSpPr>
          <p:nvPr/>
        </p:nvSpPr>
        <p:spPr>
          <a:xfrm xmlns:a="http://schemas.openxmlformats.org/drawingml/2006/main">
            <a:off x="6096000" y="34290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5D6872"/>
                </a:solidFill>
                <a:latin typeface="Arial"/>
                <a:ea typeface="Arial"/>
                <a:cs typeface="Arial"/>
              </a:defRPr>
            </a:pPr>
            <a:r>
              <a:rPr sz="1200" b="1">
                <a:solidFill>
                  <a:srgbClr val="5D6872"/>
                </a:solidFill>
                <a:latin typeface="Arial"/>
                <a:ea typeface="Arial"/>
                <a:cs typeface="Arial"/>
              </a:rPr>
              <a:t>Decision horizon</a:t>
            </a:r>
          </a:p>
        </p:txBody>
      </p:sp>
      <p:sp>
        <p:nvSpPr>
          <p:cNvPr id="23" name="">
            <a:extLst xmlns:a="http://schemas.openxmlformats.org/drawingml/2006/main">
              <a:ext uri="{FF2B5EF4-FFF2-40B4-BE49-F238E27FC236}">
                <a16:creationId xmlns:a16="http://schemas.microsoft.com/office/drawing/2014/main" id="{B5053BFC-9EAF-44E2-B0FD-E45C289DFDA6}"/>
              </a:ext>
            </a:extLst>
          </p:cNvPr>
          <p:cNvSpPr>
            <a:spLocks xmlns:a="http://schemas.openxmlformats.org/drawingml/2006/main" noGrp="1"/>
          </p:cNvSpPr>
          <p:nvPr/>
        </p:nvSpPr>
        <p:spPr>
          <a:xfrm xmlns:a="http://schemas.openxmlformats.org/drawingml/2006/main">
            <a:off x="6096000" y="39052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7212B"/>
                </a:solidFill>
                <a:latin typeface="Arial"/>
                <a:ea typeface="Arial"/>
                <a:cs typeface="Arial"/>
              </a:defRPr>
            </a:pPr>
            <a:r>
              <a:rPr sz="1425" b="1">
                <a:solidFill>
                  <a:srgbClr val="17212B"/>
                </a:solidFill>
                <a:latin typeface="Arial"/>
                <a:ea typeface="Arial"/>
                <a:cs typeface="Arial"/>
              </a:rPr>
              <a:t>Current opportunity</a:t>
            </a:r>
          </a:p>
        </p:txBody>
      </p:sp>
      <p:sp>
        <p:nvSpPr>
          <p:cNvPr id="24" name="">
            <a:extLst xmlns:a="http://schemas.openxmlformats.org/drawingml/2006/main">
              <a:ext uri="{FF2B5EF4-FFF2-40B4-BE49-F238E27FC236}">
                <a16:creationId xmlns:a16="http://schemas.microsoft.com/office/drawing/2014/main" id="{8D715A03-9460-4371-96F8-2C2313B281B0}"/>
              </a:ext>
            </a:extLst>
          </p:cNvPr>
          <p:cNvSpPr>
            <a:spLocks xmlns:a="http://schemas.openxmlformats.org/drawingml/2006/main" noGrp="1"/>
          </p:cNvSpPr>
          <p:nvPr/>
        </p:nvSpPr>
        <p:spPr>
          <a:xfrm xmlns:a="http://schemas.openxmlformats.org/drawingml/2006/main">
            <a:off x="6096000" y="4267200"/>
            <a:ext cx="2190750" cy="114300"/>
          </a:xfrm>
          <a:prstGeom xmlns:a="http://schemas.openxmlformats.org/drawingml/2006/main" prst="rect">
            <a:avLst/>
          </a:prstGeom>
          <a:solidFill xmlns:a="http://schemas.openxmlformats.org/drawingml/2006/main">
            <a:srgbClr val="1768C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BA4301D-D857-436F-8BFA-8B1223FB1DA2}"/>
              </a:ext>
            </a:extLst>
          </p:cNvPr>
          <p:cNvSpPr>
            <a:spLocks xmlns:a="http://schemas.openxmlformats.org/drawingml/2006/main" noGrp="1"/>
          </p:cNvSpPr>
          <p:nvPr/>
        </p:nvSpPr>
        <p:spPr>
          <a:xfrm xmlns:a="http://schemas.openxmlformats.org/drawingml/2006/main">
            <a:off x="8667750" y="39052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7212B"/>
                </a:solidFill>
                <a:latin typeface="Arial"/>
                <a:ea typeface="Arial"/>
                <a:cs typeface="Arial"/>
              </a:defRPr>
            </a:pPr>
            <a:r>
              <a:rPr sz="1425" b="1">
                <a:solidFill>
                  <a:srgbClr val="17212B"/>
                </a:solidFill>
                <a:latin typeface="Arial"/>
                <a:ea typeface="Arial"/>
                <a:cs typeface="Arial"/>
              </a:rPr>
              <a:t>Later response</a:t>
            </a:r>
          </a:p>
        </p:txBody>
      </p:sp>
      <p:sp>
        <p:nvSpPr>
          <p:cNvPr id="26" name="">
            <a:extLst xmlns:a="http://schemas.openxmlformats.org/drawingml/2006/main">
              <a:ext uri="{FF2B5EF4-FFF2-40B4-BE49-F238E27FC236}">
                <a16:creationId xmlns:a16="http://schemas.microsoft.com/office/drawing/2014/main" id="{035444B4-0B14-4F39-8047-7034B84B5398}"/>
              </a:ext>
            </a:extLst>
          </p:cNvPr>
          <p:cNvSpPr>
            <a:spLocks xmlns:a="http://schemas.openxmlformats.org/drawingml/2006/main" noGrp="1"/>
          </p:cNvSpPr>
          <p:nvPr/>
        </p:nvSpPr>
        <p:spPr>
          <a:xfrm xmlns:a="http://schemas.openxmlformats.org/drawingml/2006/main">
            <a:off x="8667750" y="4267200"/>
            <a:ext cx="1714500" cy="114300"/>
          </a:xfrm>
          <a:prstGeom xmlns:a="http://schemas.openxmlformats.org/drawingml/2006/main" prst="rect">
            <a:avLst/>
          </a:prstGeom>
          <a:solidFill xmlns:a="http://schemas.openxmlformats.org/drawingml/2006/main">
            <a:srgbClr val="E5A63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D3EC96B-C71F-4464-9DCC-76C6CDE0D503}"/>
              </a:ext>
            </a:extLst>
          </p:cNvPr>
          <p:cNvSpPr>
            <a:spLocks xmlns:a="http://schemas.openxmlformats.org/drawingml/2006/main" noGrp="1"/>
          </p:cNvSpPr>
          <p:nvPr/>
        </p:nvSpPr>
        <p:spPr>
          <a:xfrm xmlns:a="http://schemas.openxmlformats.org/drawingml/2006/main">
            <a:off x="6096000" y="47625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The objective records elapsed time and position separately. A utility score never becomes fictional seconds.</a:t>
            </a:r>
          </a:p>
        </p:txBody>
      </p:sp>
      <p:sp>
        <p:nvSpPr>
          <p:cNvPr id="28" name="">
            <a:extLst xmlns:a="http://schemas.openxmlformats.org/drawingml/2006/main">
              <a:ext uri="{FF2B5EF4-FFF2-40B4-BE49-F238E27FC236}">
                <a16:creationId xmlns:a16="http://schemas.microsoft.com/office/drawing/2014/main" id="{70BDB897-BC72-41C2-9310-F756D785CF99}"/>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9" name="">
            <a:extLst xmlns:a="http://schemas.openxmlformats.org/drawingml/2006/main">
              <a:ext uri="{FF2B5EF4-FFF2-40B4-BE49-F238E27FC236}">
                <a16:creationId xmlns:a16="http://schemas.microsoft.com/office/drawing/2014/main" id="{29C77F49-60F8-4468-859F-5C9DEE371CB7}"/>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30" name="">
            <a:extLst xmlns:a="http://schemas.openxmlformats.org/drawingml/2006/main">
              <a:ext uri="{FF2B5EF4-FFF2-40B4-BE49-F238E27FC236}">
                <a16:creationId xmlns:a16="http://schemas.microsoft.com/office/drawing/2014/main" id="{75676B97-8AD9-4200-A3E1-3EE49CFAD750}"/>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2</a:t>
            </a:r>
          </a:p>
        </p:txBody>
      </p:sp>
    </p:spTree>
    <p:extLst>
      <p:ext uri="{BB962C8B-B14F-4D97-AF65-F5344CB8AC3E}">
        <p14:creationId xmlns:p14="http://schemas.microsoft.com/office/powerpoint/2010/main" val="720642212"/>
      </p:ext>
    </p:extLst>
  </p:cSld>
</p:sld>
</file>

<file path=ppt/slides/slide3.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6921437-90CE-4CB2-99A9-673502EF2DFB}"/>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AF75A5CC-DBAF-45E8-A172-DA3B617C81E5}"/>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7212B"/>
                </a:solidFill>
                <a:latin typeface="Arial"/>
                <a:ea typeface="Arial"/>
                <a:cs typeface="Arial"/>
              </a:defRPr>
            </a:pPr>
            <a:r>
              <a:rPr sz="3000" b="1">
                <a:solidFill>
                  <a:srgbClr val="17212B"/>
                </a:solidFill>
                <a:latin typeface="Arial"/>
                <a:ea typeface="Arial"/>
                <a:cs typeface="Arial"/>
              </a:rPr>
              <a:t>2026 circuit scope</a:t>
            </a:r>
          </a:p>
        </p:txBody>
      </p:sp>
      <p:sp>
        <p:nvSpPr>
          <p:cNvPr id="3" name="">
            <a:extLst xmlns:a="http://schemas.openxmlformats.org/drawingml/2006/main">
              <a:ext uri="{FF2B5EF4-FFF2-40B4-BE49-F238E27FC236}">
                <a16:creationId xmlns:a16="http://schemas.microsoft.com/office/drawing/2014/main" id="{41934377-1BE6-4685-8E62-860417CE4DBC}"/>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Current Formula 1 schedule snapshot: 23 rounds on 23 physical circuits</a:t>
            </a:r>
          </a:p>
        </p:txBody>
      </p:sp>
      <p:sp>
        <p:nvSpPr>
          <p:cNvPr id="4" name="">
            <a:extLst xmlns:a="http://schemas.openxmlformats.org/drawingml/2006/main">
              <a:ext uri="{FF2B5EF4-FFF2-40B4-BE49-F238E27FC236}">
                <a16:creationId xmlns:a16="http://schemas.microsoft.com/office/drawing/2014/main" id="{699F0814-C88B-4CAC-BE4F-190501712088}"/>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936A881E-93DE-46CA-8278-60B679C2A958}"/>
              </a:ext>
            </a:extLst>
          </p:cNvPr>
          <p:cNvSpPr>
            <a:spLocks xmlns:a="http://schemas.openxmlformats.org/drawingml/2006/main" noGrp="1"/>
          </p:cNvSpPr>
          <p:nvPr/>
        </p:nvSpPr>
        <p:spPr>
          <a:xfrm xmlns:a="http://schemas.openxmlformats.org/drawingml/2006/main">
            <a:off x="723900" y="1657350"/>
            <a:ext cx="304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01 Melbourne</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02 Shanghai</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03 Suzuka</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04 Miami</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05 Montréal</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06 Monaco</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07 Catalunya</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08 Spielberg</a:t>
            </a:r>
          </a:p>
        </p:txBody>
      </p:sp>
      <p:sp>
        <p:nvSpPr>
          <p:cNvPr id="6" name="">
            <a:extLst xmlns:a="http://schemas.openxmlformats.org/drawingml/2006/main">
              <a:ext uri="{FF2B5EF4-FFF2-40B4-BE49-F238E27FC236}">
                <a16:creationId xmlns:a16="http://schemas.microsoft.com/office/drawing/2014/main" id="{5835B2DD-74B7-4D0F-88B6-201F00EC4C01}"/>
              </a:ext>
            </a:extLst>
          </p:cNvPr>
          <p:cNvSpPr>
            <a:spLocks xmlns:a="http://schemas.openxmlformats.org/drawingml/2006/main" noGrp="1"/>
          </p:cNvSpPr>
          <p:nvPr/>
        </p:nvSpPr>
        <p:spPr>
          <a:xfrm xmlns:a="http://schemas.openxmlformats.org/drawingml/2006/main">
            <a:off x="723900" y="5181600"/>
            <a:ext cx="3000375" cy="38100"/>
          </a:xfrm>
          <a:prstGeom xmlns:a="http://schemas.openxmlformats.org/drawingml/2006/main" prst="rect">
            <a:avLst/>
          </a:prstGeom>
          <a:solidFill xmlns:a="http://schemas.openxmlformats.org/drawingml/2006/main">
            <a:srgbClr val="1768C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6CAD86-B346-42F7-A664-F23C4186CC49}"/>
              </a:ext>
            </a:extLst>
          </p:cNvPr>
          <p:cNvSpPr>
            <a:spLocks xmlns:a="http://schemas.openxmlformats.org/drawingml/2006/main" noGrp="1"/>
          </p:cNvSpPr>
          <p:nvPr/>
        </p:nvSpPr>
        <p:spPr>
          <a:xfrm xmlns:a="http://schemas.openxmlformats.org/drawingml/2006/main">
            <a:off x="4438650" y="1657350"/>
            <a:ext cx="304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09 Silverstone</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10 Spa</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11 Hungaroring</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12 Zandvoort</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13 Monza</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14 Madring</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15 Baku</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16 Sepang</a:t>
            </a:r>
          </a:p>
        </p:txBody>
      </p:sp>
      <p:sp>
        <p:nvSpPr>
          <p:cNvPr id="8" name="">
            <a:extLst xmlns:a="http://schemas.openxmlformats.org/drawingml/2006/main">
              <a:ext uri="{FF2B5EF4-FFF2-40B4-BE49-F238E27FC236}">
                <a16:creationId xmlns:a16="http://schemas.microsoft.com/office/drawing/2014/main" id="{D3C4B2AA-950C-4E6F-B970-18E9B7402629}"/>
              </a:ext>
            </a:extLst>
          </p:cNvPr>
          <p:cNvSpPr>
            <a:spLocks xmlns:a="http://schemas.openxmlformats.org/drawingml/2006/main" noGrp="1"/>
          </p:cNvSpPr>
          <p:nvPr/>
        </p:nvSpPr>
        <p:spPr>
          <a:xfrm xmlns:a="http://schemas.openxmlformats.org/drawingml/2006/main">
            <a:off x="4438650" y="5181600"/>
            <a:ext cx="3000375" cy="38100"/>
          </a:xfrm>
          <a:prstGeom xmlns:a="http://schemas.openxmlformats.org/drawingml/2006/main" prst="rect">
            <a:avLst/>
          </a:prstGeom>
          <a:solidFill xmlns:a="http://schemas.openxmlformats.org/drawingml/2006/main">
            <a:srgbClr val="E5A63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1C2FCD-CBEB-4B06-AB94-4F9027519384}"/>
              </a:ext>
            </a:extLst>
          </p:cNvPr>
          <p:cNvSpPr>
            <a:spLocks xmlns:a="http://schemas.openxmlformats.org/drawingml/2006/main" noGrp="1"/>
          </p:cNvSpPr>
          <p:nvPr/>
        </p:nvSpPr>
        <p:spPr>
          <a:xfrm xmlns:a="http://schemas.openxmlformats.org/drawingml/2006/main">
            <a:off x="8153400" y="1657350"/>
            <a:ext cx="304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17 Singapore</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18 Austin</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19 Mexico City</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20 Interlagos</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21 Las Vegas</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22 Lusail</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23 Yas Marina</a:t>
            </a:r>
          </a:p>
        </p:txBody>
      </p:sp>
      <p:sp>
        <p:nvSpPr>
          <p:cNvPr id="10" name="">
            <a:extLst xmlns:a="http://schemas.openxmlformats.org/drawingml/2006/main">
              <a:ext uri="{FF2B5EF4-FFF2-40B4-BE49-F238E27FC236}">
                <a16:creationId xmlns:a16="http://schemas.microsoft.com/office/drawing/2014/main" id="{D6C7FAE8-DE53-4779-9599-E6BDBDA94926}"/>
              </a:ext>
            </a:extLst>
          </p:cNvPr>
          <p:cNvSpPr>
            <a:spLocks xmlns:a="http://schemas.openxmlformats.org/drawingml/2006/main" noGrp="1"/>
          </p:cNvSpPr>
          <p:nvPr/>
        </p:nvSpPr>
        <p:spPr>
          <a:xfrm xmlns:a="http://schemas.openxmlformats.org/drawingml/2006/main">
            <a:off x="8153400" y="5181600"/>
            <a:ext cx="3000375" cy="38100"/>
          </a:xfrm>
          <a:prstGeom xmlns:a="http://schemas.openxmlformats.org/drawingml/2006/main" prst="rect">
            <a:avLst/>
          </a:prstGeom>
          <a:solidFill xmlns:a="http://schemas.openxmlformats.org/drawingml/2006/main">
            <a:srgbClr val="1768C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4D0204-9916-4A82-857C-CD3E5EA61EA8}"/>
              </a:ext>
            </a:extLst>
          </p:cNvPr>
          <p:cNvSpPr>
            <a:spLocks xmlns:a="http://schemas.openxmlformats.org/drawingml/2006/main" noGrp="1"/>
          </p:cNvSpPr>
          <p:nvPr/>
        </p:nvSpPr>
        <p:spPr>
          <a:xfrm xmlns:a="http://schemas.openxmlformats.org/drawingml/2006/main">
            <a:off x="723900" y="56197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7212B"/>
                </a:solidFill>
                <a:latin typeface="Arial"/>
                <a:ea typeface="Arial"/>
                <a:cs typeface="Arial"/>
              </a:defRPr>
            </a:pPr>
            <a:r>
              <a:rPr sz="1350" b="1">
                <a:solidFill>
                  <a:srgbClr val="17212B"/>
                </a:solidFill>
                <a:latin typeface="Arial"/>
                <a:ea typeface="Arial"/>
                <a:cs typeface="Arial"/>
              </a:rPr>
              <a:t>Calendar event</a:t>
            </a:r>
          </a:p>
        </p:txBody>
      </p:sp>
      <p:sp>
        <p:nvSpPr>
          <p:cNvPr id="12" name="">
            <a:extLst xmlns:a="http://schemas.openxmlformats.org/drawingml/2006/main">
              <a:ext uri="{FF2B5EF4-FFF2-40B4-BE49-F238E27FC236}">
                <a16:creationId xmlns:a16="http://schemas.microsoft.com/office/drawing/2014/main" id="{7D246539-AE02-4C93-9142-F8FD1AD48B98}"/>
              </a:ext>
            </a:extLst>
          </p:cNvPr>
          <p:cNvSpPr>
            <a:spLocks xmlns:a="http://schemas.openxmlformats.org/drawingml/2006/main" noGrp="1"/>
          </p:cNvSpPr>
          <p:nvPr/>
        </p:nvSpPr>
        <p:spPr>
          <a:xfrm xmlns:a="http://schemas.openxmlformats.org/drawingml/2006/main">
            <a:off x="2343150" y="56197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Bahrain Grand Prix</a:t>
            </a:r>
          </a:p>
        </p:txBody>
      </p:sp>
      <p:sp>
        <p:nvSpPr>
          <p:cNvPr id="13" name="">
            <a:extLst xmlns:a="http://schemas.openxmlformats.org/drawingml/2006/main">
              <a:ext uri="{FF2B5EF4-FFF2-40B4-BE49-F238E27FC236}">
                <a16:creationId xmlns:a16="http://schemas.microsoft.com/office/drawing/2014/main" id="{1C0B2780-438B-47AA-950C-DC545100B224}"/>
              </a:ext>
            </a:extLst>
          </p:cNvPr>
          <p:cNvSpPr>
            <a:spLocks xmlns:a="http://schemas.openxmlformats.org/drawingml/2006/main" noGrp="1"/>
          </p:cNvSpPr>
          <p:nvPr/>
        </p:nvSpPr>
        <p:spPr>
          <a:xfrm xmlns:a="http://schemas.openxmlformats.org/drawingml/2006/main">
            <a:off x="5334000" y="56197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7212B"/>
                </a:solidFill>
                <a:latin typeface="Arial"/>
                <a:ea typeface="Arial"/>
                <a:cs typeface="Arial"/>
              </a:defRPr>
            </a:pPr>
            <a:r>
              <a:rPr sz="1350" b="1">
                <a:solidFill>
                  <a:srgbClr val="17212B"/>
                </a:solidFill>
                <a:latin typeface="Arial"/>
                <a:ea typeface="Arial"/>
                <a:cs typeface="Arial"/>
              </a:rPr>
              <a:t>Physical circuit</a:t>
            </a:r>
          </a:p>
        </p:txBody>
      </p:sp>
      <p:sp>
        <p:nvSpPr>
          <p:cNvPr id="14" name="">
            <a:extLst xmlns:a="http://schemas.openxmlformats.org/drawingml/2006/main">
              <a:ext uri="{FF2B5EF4-FFF2-40B4-BE49-F238E27FC236}">
                <a16:creationId xmlns:a16="http://schemas.microsoft.com/office/drawing/2014/main" id="{8D70CECA-E719-4D27-A57A-5415008A06FD}"/>
              </a:ext>
            </a:extLst>
          </p:cNvPr>
          <p:cNvSpPr>
            <a:spLocks xmlns:a="http://schemas.openxmlformats.org/drawingml/2006/main" noGrp="1"/>
          </p:cNvSpPr>
          <p:nvPr/>
        </p:nvSpPr>
        <p:spPr>
          <a:xfrm xmlns:a="http://schemas.openxmlformats.org/drawingml/2006/main">
            <a:off x="6953250" y="56197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Sepang, Malaysia</a:t>
            </a:r>
          </a:p>
        </p:txBody>
      </p:sp>
      <p:sp>
        <p:nvSpPr>
          <p:cNvPr id="15" name="">
            <a:extLst xmlns:a="http://schemas.openxmlformats.org/drawingml/2006/main">
              <a:ext uri="{FF2B5EF4-FFF2-40B4-BE49-F238E27FC236}">
                <a16:creationId xmlns:a16="http://schemas.microsoft.com/office/drawing/2014/main" id="{DEF39F2A-6249-4033-9123-D64679D9FDD7}"/>
              </a:ext>
            </a:extLst>
          </p:cNvPr>
          <p:cNvSpPr>
            <a:spLocks xmlns:a="http://schemas.openxmlformats.org/drawingml/2006/main" noGrp="1"/>
          </p:cNvSpPr>
          <p:nvPr/>
        </p:nvSpPr>
        <p:spPr>
          <a:xfrm xmlns:a="http://schemas.openxmlformats.org/drawingml/2006/main">
            <a:off x="9220200" y="5619750"/>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1768C4"/>
                </a:solidFill>
                <a:latin typeface="Arial"/>
                <a:ea typeface="Arial"/>
                <a:cs typeface="Arial"/>
              </a:defRPr>
            </a:pPr>
            <a:r>
              <a:rPr sz="1200" b="1">
                <a:solidFill>
                  <a:srgbClr val="1768C4"/>
                </a:solidFill>
                <a:latin typeface="Arial"/>
                <a:ea typeface="Arial"/>
                <a:cs typeface="Arial"/>
              </a:rPr>
              <a:t>Separate IDs preserve schedule changes</a:t>
            </a:r>
          </a:p>
        </p:txBody>
      </p:sp>
      <p:sp>
        <p:nvSpPr>
          <p:cNvPr id="16" name="">
            <a:extLst xmlns:a="http://schemas.openxmlformats.org/drawingml/2006/main">
              <a:ext uri="{FF2B5EF4-FFF2-40B4-BE49-F238E27FC236}">
                <a16:creationId xmlns:a16="http://schemas.microsoft.com/office/drawing/2014/main" id="{2100D27B-F3B0-4E81-8DAA-CA6910D1F72E}"/>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17" name="">
            <a:extLst xmlns:a="http://schemas.openxmlformats.org/drawingml/2006/main">
              <a:ext uri="{FF2B5EF4-FFF2-40B4-BE49-F238E27FC236}">
                <a16:creationId xmlns:a16="http://schemas.microsoft.com/office/drawing/2014/main" id="{B2661FB5-0CF9-4C8D-804A-3C9C7B120FCA}"/>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Official Formula 1 schedule, snapshot 8 September 2026</a:t>
            </a:r>
          </a:p>
        </p:txBody>
      </p:sp>
      <p:sp>
        <p:nvSpPr>
          <p:cNvPr id="18" name="">
            <a:extLst xmlns:a="http://schemas.openxmlformats.org/drawingml/2006/main">
              <a:ext uri="{FF2B5EF4-FFF2-40B4-BE49-F238E27FC236}">
                <a16:creationId xmlns:a16="http://schemas.microsoft.com/office/drawing/2014/main" id="{2DF51348-BC7C-40A6-8218-2BC44544E35B}"/>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3</a:t>
            </a:r>
          </a:p>
        </p:txBody>
      </p:sp>
    </p:spTree>
    <p:extLst>
      <p:ext uri="{BB962C8B-B14F-4D97-AF65-F5344CB8AC3E}">
        <p14:creationId xmlns:p14="http://schemas.microsoft.com/office/powerpoint/2010/main" val="1852191021"/>
      </p:ext>
    </p:extLst>
  </p:cSld>
</p:sld>
</file>

<file path=ppt/slides/slide4.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3131C16-272D-4E5A-9FC0-E55CA8094AF7}"/>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89A19B9E-0D21-4A75-8B37-50D79062BDFE}"/>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Circuit diversity changes energy value</a:t>
            </a:r>
          </a:p>
        </p:txBody>
      </p:sp>
      <p:sp>
        <p:nvSpPr>
          <p:cNvPr id="3" name="">
            <a:extLst xmlns:a="http://schemas.openxmlformats.org/drawingml/2006/main">
              <a:ext uri="{FF2B5EF4-FFF2-40B4-BE49-F238E27FC236}">
                <a16:creationId xmlns:a16="http://schemas.microsoft.com/office/drawing/2014/main" id="{CE672253-4263-4E5A-B907-20DC27CD3CC3}"/>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Official nominal lengths for six validation circuits</a:t>
            </a:r>
          </a:p>
        </p:txBody>
      </p:sp>
      <p:sp>
        <p:nvSpPr>
          <p:cNvPr id="4" name="">
            <a:extLst xmlns:a="http://schemas.openxmlformats.org/drawingml/2006/main">
              <a:ext uri="{FF2B5EF4-FFF2-40B4-BE49-F238E27FC236}">
                <a16:creationId xmlns:a16="http://schemas.microsoft.com/office/drawing/2014/main" id="{D1F6559B-D8F5-434E-A9E4-E8A52D7D25F4}"/>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graphicFrame>
        <p:nvGraphicFramePr>
          <p:cNvPr id="22" name="Chart"/>
          <p:cNvGraphicFramePr/>
          <p:nvPr/>
        </p:nvGraphicFramePr>
        <p:xfrm>
          <a:off xmlns:a="http://schemas.openxmlformats.org/drawingml/2006/main" x="5286375" y="1571625"/>
          <a:ext xmlns:a="http://schemas.openxmlformats.org/drawingml/2006/main" cx="6191250" cy="4095750"/>
        </p:xfrm>
        <a:graphic xmlns:a="http://schemas.openxmlformats.org/drawingml/2006/main">
          <a:graphicData uri="http://schemas.openxmlformats.org/drawingml/2006/chart">
            <c:chart xmlns:r="http://schemas.openxmlformats.org/officeDocument/2006/relationships" xmlns:c="http://schemas.openxmlformats.org/drawingml/2006/chart" r:id="R64170795bc274684"/>
          </a:graphicData>
        </a:graphic>
      </p:graphicFrame>
      <p:sp>
        <p:nvSpPr>
          <p:cNvPr id="6" name="">
            <a:extLst xmlns:a="http://schemas.openxmlformats.org/drawingml/2006/main">
              <a:ext uri="{FF2B5EF4-FFF2-40B4-BE49-F238E27FC236}">
                <a16:creationId xmlns:a16="http://schemas.microsoft.com/office/drawing/2014/main" id="{0D4EF733-6502-4E02-9F59-19945C8635F4}"/>
              </a:ext>
            </a:extLst>
          </p:cNvPr>
          <p:cNvSpPr>
            <a:spLocks xmlns:a="http://schemas.openxmlformats.org/drawingml/2006/main" noGrp="1"/>
          </p:cNvSpPr>
          <p:nvPr/>
        </p:nvSpPr>
        <p:spPr>
          <a:xfrm xmlns:a="http://schemas.openxmlformats.org/drawingml/2006/main">
            <a:off x="704850" y="1714500"/>
            <a:ext cx="57150" cy="666750"/>
          </a:xfrm>
          <a:prstGeom xmlns:a="http://schemas.openxmlformats.org/drawingml/2006/main" prst="rect">
            <a:avLst/>
          </a:prstGeom>
          <a:solidFill xmlns:a="http://schemas.openxmlformats.org/drawingml/2006/main">
            <a:srgbClr val="1768C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16B09A-B54B-4A8E-BF71-29B7CD190E89}"/>
              </a:ext>
            </a:extLst>
          </p:cNvPr>
          <p:cNvSpPr>
            <a:spLocks xmlns:a="http://schemas.openxmlformats.org/drawingml/2006/main" noGrp="1"/>
          </p:cNvSpPr>
          <p:nvPr/>
        </p:nvSpPr>
        <p:spPr>
          <a:xfrm xmlns:a="http://schemas.openxmlformats.org/drawingml/2006/main">
            <a:off x="914400" y="16668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Monza</a:t>
            </a:r>
          </a:p>
        </p:txBody>
      </p:sp>
      <p:sp>
        <p:nvSpPr>
          <p:cNvPr id="8" name="">
            <a:extLst xmlns:a="http://schemas.openxmlformats.org/drawingml/2006/main">
              <a:ext uri="{FF2B5EF4-FFF2-40B4-BE49-F238E27FC236}">
                <a16:creationId xmlns:a16="http://schemas.microsoft.com/office/drawing/2014/main" id="{50599504-3E7E-4375-A07F-8879DC3700DF}"/>
              </a:ext>
            </a:extLst>
          </p:cNvPr>
          <p:cNvSpPr>
            <a:spLocks xmlns:a="http://schemas.openxmlformats.org/drawingml/2006/main" noGrp="1"/>
          </p:cNvSpPr>
          <p:nvPr/>
        </p:nvSpPr>
        <p:spPr>
          <a:xfrm xmlns:a="http://schemas.openxmlformats.org/drawingml/2006/main">
            <a:off x="914400" y="19907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79"/>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Long full-throttle running followed by heavy braking changes both deployment demand and recovery opportunity.</a:t>
            </a:r>
          </a:p>
        </p:txBody>
      </p:sp>
      <p:sp>
        <p:nvSpPr>
          <p:cNvPr id="9" name="">
            <a:extLst xmlns:a="http://schemas.openxmlformats.org/drawingml/2006/main">
              <a:ext uri="{FF2B5EF4-FFF2-40B4-BE49-F238E27FC236}">
                <a16:creationId xmlns:a16="http://schemas.microsoft.com/office/drawing/2014/main" id="{3715342B-9BD2-43D0-BA5E-93A526950C9D}"/>
              </a:ext>
            </a:extLst>
          </p:cNvPr>
          <p:cNvSpPr>
            <a:spLocks xmlns:a="http://schemas.openxmlformats.org/drawingml/2006/main" noGrp="1"/>
          </p:cNvSpPr>
          <p:nvPr/>
        </p:nvSpPr>
        <p:spPr>
          <a:xfrm xmlns:a="http://schemas.openxmlformats.org/drawingml/2006/main">
            <a:off x="704850" y="3048000"/>
            <a:ext cx="57150" cy="666750"/>
          </a:xfrm>
          <a:prstGeom xmlns:a="http://schemas.openxmlformats.org/drawingml/2006/main" prst="rect">
            <a:avLst/>
          </a:prstGeom>
          <a:solidFill xmlns:a="http://schemas.openxmlformats.org/drawingml/2006/main">
            <a:srgbClr val="E5A63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9A4193-777F-46C0-9695-4DAE9D523B37}"/>
              </a:ext>
            </a:extLst>
          </p:cNvPr>
          <p:cNvSpPr>
            <a:spLocks xmlns:a="http://schemas.openxmlformats.org/drawingml/2006/main" noGrp="1"/>
          </p:cNvSpPr>
          <p:nvPr/>
        </p:nvSpPr>
        <p:spPr>
          <a:xfrm xmlns:a="http://schemas.openxmlformats.org/drawingml/2006/main">
            <a:off x="914400" y="30003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Monaco</a:t>
            </a:r>
          </a:p>
        </p:txBody>
      </p:sp>
      <p:sp>
        <p:nvSpPr>
          <p:cNvPr id="11" name="">
            <a:extLst xmlns:a="http://schemas.openxmlformats.org/drawingml/2006/main">
              <a:ext uri="{FF2B5EF4-FFF2-40B4-BE49-F238E27FC236}">
                <a16:creationId xmlns:a16="http://schemas.microsoft.com/office/drawing/2014/main" id="{E8EC063C-A31A-447D-B52E-3016D31CAB2F}"/>
              </a:ext>
            </a:extLst>
          </p:cNvPr>
          <p:cNvSpPr>
            <a:spLocks xmlns:a="http://schemas.openxmlformats.org/drawingml/2006/main" noGrp="1"/>
          </p:cNvSpPr>
          <p:nvPr/>
        </p:nvSpPr>
        <p:spPr>
          <a:xfrm xmlns:a="http://schemas.openxmlformats.org/drawingml/2006/main">
            <a:off x="914400" y="33242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A narrow corridor and difficult passing make space and retention central to the decision.</a:t>
            </a:r>
          </a:p>
        </p:txBody>
      </p:sp>
      <p:sp>
        <p:nvSpPr>
          <p:cNvPr id="12" name="">
            <a:extLst xmlns:a="http://schemas.openxmlformats.org/drawingml/2006/main">
              <a:ext uri="{FF2B5EF4-FFF2-40B4-BE49-F238E27FC236}">
                <a16:creationId xmlns:a16="http://schemas.microsoft.com/office/drawing/2014/main" id="{E11A23E2-97A1-46BF-9555-146353EAD281}"/>
              </a:ext>
            </a:extLst>
          </p:cNvPr>
          <p:cNvSpPr>
            <a:spLocks xmlns:a="http://schemas.openxmlformats.org/drawingml/2006/main" noGrp="1"/>
          </p:cNvSpPr>
          <p:nvPr/>
        </p:nvSpPr>
        <p:spPr>
          <a:xfrm xmlns:a="http://schemas.openxmlformats.org/drawingml/2006/main">
            <a:off x="704850" y="4381500"/>
            <a:ext cx="57150" cy="666750"/>
          </a:xfrm>
          <a:prstGeom xmlns:a="http://schemas.openxmlformats.org/drawingml/2006/main" prst="rect">
            <a:avLst/>
          </a:prstGeom>
          <a:solidFill xmlns:a="http://schemas.openxmlformats.org/drawingml/2006/main">
            <a:srgbClr val="7B5A9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FC49413-9DD0-46D8-A976-C49BB56AE8A9}"/>
              </a:ext>
            </a:extLst>
          </p:cNvPr>
          <p:cNvSpPr>
            <a:spLocks xmlns:a="http://schemas.openxmlformats.org/drawingml/2006/main" noGrp="1"/>
          </p:cNvSpPr>
          <p:nvPr/>
        </p:nvSpPr>
        <p:spPr>
          <a:xfrm xmlns:a="http://schemas.openxmlformats.org/drawingml/2006/main">
            <a:off x="914400" y="43338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Spa and Mexico</a:t>
            </a:r>
          </a:p>
        </p:txBody>
      </p:sp>
      <p:sp>
        <p:nvSpPr>
          <p:cNvPr id="14" name="">
            <a:extLst xmlns:a="http://schemas.openxmlformats.org/drawingml/2006/main">
              <a:ext uri="{FF2B5EF4-FFF2-40B4-BE49-F238E27FC236}">
                <a16:creationId xmlns:a16="http://schemas.microsoft.com/office/drawing/2014/main" id="{E58F5617-3DE7-475A-9CF4-4FB217EE23B0}"/>
              </a:ext>
            </a:extLst>
          </p:cNvPr>
          <p:cNvSpPr>
            <a:spLocks xmlns:a="http://schemas.openxmlformats.org/drawingml/2006/main" noGrp="1"/>
          </p:cNvSpPr>
          <p:nvPr/>
        </p:nvSpPr>
        <p:spPr>
          <a:xfrm xmlns:a="http://schemas.openxmlformats.org/drawingml/2006/main">
            <a:off x="914400" y="46577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Weather, elevation and air density test whether physics transfers beyond one circuit profile.</a:t>
            </a:r>
          </a:p>
        </p:txBody>
      </p:sp>
      <p:sp>
        <p:nvSpPr>
          <p:cNvPr id="15" name="">
            <a:extLst xmlns:a="http://schemas.openxmlformats.org/drawingml/2006/main">
              <a:ext uri="{FF2B5EF4-FFF2-40B4-BE49-F238E27FC236}">
                <a16:creationId xmlns:a16="http://schemas.microsoft.com/office/drawing/2014/main" id="{DEF42149-C3A6-4586-8F4A-795C377D5835}"/>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16" name="">
            <a:extLst xmlns:a="http://schemas.openxmlformats.org/drawingml/2006/main">
              <a:ext uri="{FF2B5EF4-FFF2-40B4-BE49-F238E27FC236}">
                <a16:creationId xmlns:a16="http://schemas.microsoft.com/office/drawing/2014/main" id="{31F1F062-0FD8-4CB9-A751-0B2EA23FDFA6}"/>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Formula1.com circuit pages; lengths in kilometres</a:t>
            </a:r>
          </a:p>
        </p:txBody>
      </p:sp>
      <p:sp>
        <p:nvSpPr>
          <p:cNvPr id="17" name="">
            <a:extLst xmlns:a="http://schemas.openxmlformats.org/drawingml/2006/main">
              <a:ext uri="{FF2B5EF4-FFF2-40B4-BE49-F238E27FC236}">
                <a16:creationId xmlns:a16="http://schemas.microsoft.com/office/drawing/2014/main" id="{EDE9BF65-D68C-4847-A2FF-257E9CFDADEC}"/>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4</a:t>
            </a:r>
          </a:p>
        </p:txBody>
      </p:sp>
    </p:spTree>
    <p:extLst>
      <p:ext uri="{BB962C8B-B14F-4D97-AF65-F5344CB8AC3E}">
        <p14:creationId xmlns:p14="http://schemas.microsoft.com/office/powerpoint/2010/main" val="1634769995"/>
      </p:ext>
    </p:extLst>
  </p:cSld>
</p:sld>
</file>

<file path=ppt/slides/slide5.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D32E7C6-4F64-44BE-A299-CB2BDE549104}"/>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2349AC59-248E-40E6-AE1A-A7E14AF92113}"/>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A simulation-grade track package</a:t>
            </a:r>
          </a:p>
        </p:txBody>
      </p:sp>
      <p:sp>
        <p:nvSpPr>
          <p:cNvPr id="3" name="">
            <a:extLst xmlns:a="http://schemas.openxmlformats.org/drawingml/2006/main">
              <a:ext uri="{FF2B5EF4-FFF2-40B4-BE49-F238E27FC236}">
                <a16:creationId xmlns:a16="http://schemas.microsoft.com/office/drawing/2014/main" id="{3E41F47F-673E-4A3C-9B67-B46D4905BF8B}"/>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A map image cannot drive the physics model</a:t>
            </a:r>
          </a:p>
        </p:txBody>
      </p:sp>
      <p:sp>
        <p:nvSpPr>
          <p:cNvPr id="4" name="">
            <a:extLst xmlns:a="http://schemas.openxmlformats.org/drawingml/2006/main">
              <a:ext uri="{FF2B5EF4-FFF2-40B4-BE49-F238E27FC236}">
                <a16:creationId xmlns:a16="http://schemas.microsoft.com/office/drawing/2014/main" id="{8DE03E63-2F74-4137-AF24-45AAAC632847}"/>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A037A38E-9915-47B0-9AE0-3409354321CD}"/>
              </a:ext>
            </a:extLst>
          </p:cNvPr>
          <p:cNvSpPr>
            <a:spLocks xmlns:a="http://schemas.openxmlformats.org/drawingml/2006/main" noGrp="1"/>
          </p:cNvSpPr>
          <p:nvPr/>
        </p:nvSpPr>
        <p:spPr>
          <a:xfrm xmlns:a="http://schemas.openxmlformats.org/drawingml/2006/main">
            <a:off x="685800" y="1714500"/>
            <a:ext cx="2095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6" name="">
            <a:extLst xmlns:a="http://schemas.openxmlformats.org/drawingml/2006/main">
              <a:ext uri="{FF2B5EF4-FFF2-40B4-BE49-F238E27FC236}">
                <a16:creationId xmlns:a16="http://schemas.microsoft.com/office/drawing/2014/main" id="{888FECA1-198B-4756-A248-6D62557CA558}"/>
              </a:ext>
            </a:extLst>
          </p:cNvPr>
          <p:cNvSpPr>
            <a:spLocks xmlns:a="http://schemas.openxmlformats.org/drawingml/2006/main" noGrp="1"/>
          </p:cNvSpPr>
          <p:nvPr/>
        </p:nvSpPr>
        <p:spPr>
          <a:xfrm xmlns:a="http://schemas.openxmlformats.org/drawingml/2006/main">
            <a:off x="800100" y="1790700"/>
            <a:ext cx="1866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Metric centreline</a:t>
            </a:r>
          </a:p>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x, y, z, s</a:t>
            </a:r>
          </a:p>
        </p:txBody>
      </p:sp>
      <p:sp>
        <p:nvSpPr>
          <p:cNvPr id="7" name="">
            <a:extLst xmlns:a="http://schemas.openxmlformats.org/drawingml/2006/main">
              <a:ext uri="{FF2B5EF4-FFF2-40B4-BE49-F238E27FC236}">
                <a16:creationId xmlns:a16="http://schemas.microsoft.com/office/drawing/2014/main" id="{5166001C-4BB3-43AB-BDB4-C9579D6E1633}"/>
              </a:ext>
            </a:extLst>
          </p:cNvPr>
          <p:cNvSpPr>
            <a:spLocks xmlns:a="http://schemas.openxmlformats.org/drawingml/2006/main" noGrp="1"/>
          </p:cNvSpPr>
          <p:nvPr/>
        </p:nvSpPr>
        <p:spPr>
          <a:xfrm xmlns:a="http://schemas.openxmlformats.org/drawingml/2006/main">
            <a:off x="3429000" y="1714500"/>
            <a:ext cx="2476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8" name="">
            <a:extLst xmlns:a="http://schemas.openxmlformats.org/drawingml/2006/main">
              <a:ext uri="{FF2B5EF4-FFF2-40B4-BE49-F238E27FC236}">
                <a16:creationId xmlns:a16="http://schemas.microsoft.com/office/drawing/2014/main" id="{FF64571A-27AD-483C-A1F1-E5801C8C2A29}"/>
              </a:ext>
            </a:extLst>
          </p:cNvPr>
          <p:cNvSpPr>
            <a:spLocks xmlns:a="http://schemas.openxmlformats.org/drawingml/2006/main" noGrp="1"/>
          </p:cNvSpPr>
          <p:nvPr/>
        </p:nvSpPr>
        <p:spPr>
          <a:xfrm xmlns:a="http://schemas.openxmlformats.org/drawingml/2006/main">
            <a:off x="3543300" y="1790700"/>
            <a:ext cx="2247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Derived geometry</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curvature, grade, heading</a:t>
            </a:r>
          </a:p>
        </p:txBody>
      </p:sp>
      <p:sp>
        <p:nvSpPr>
          <p:cNvPr id="9" name="">
            <a:extLst xmlns:a="http://schemas.openxmlformats.org/drawingml/2006/main">
              <a:ext uri="{FF2B5EF4-FFF2-40B4-BE49-F238E27FC236}">
                <a16:creationId xmlns:a16="http://schemas.microsoft.com/office/drawing/2014/main" id="{9C2C0668-7DD5-4563-8704-9090C8682C70}"/>
              </a:ext>
            </a:extLst>
          </p:cNvPr>
          <p:cNvSpPr>
            <a:spLocks xmlns:a="http://schemas.openxmlformats.org/drawingml/2006/main" noGrp="1"/>
          </p:cNvSpPr>
          <p:nvPr/>
        </p:nvSpPr>
        <p:spPr>
          <a:xfrm xmlns:a="http://schemas.openxmlformats.org/drawingml/2006/main">
            <a:off x="6572250" y="1714500"/>
            <a:ext cx="26670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0" name="">
            <a:extLst xmlns:a="http://schemas.openxmlformats.org/drawingml/2006/main">
              <a:ext uri="{FF2B5EF4-FFF2-40B4-BE49-F238E27FC236}">
                <a16:creationId xmlns:a16="http://schemas.microsoft.com/office/drawing/2014/main" id="{1D222A9D-2781-40BA-BEFD-FCB74BF65F96}"/>
              </a:ext>
            </a:extLst>
          </p:cNvPr>
          <p:cNvSpPr>
            <a:spLocks xmlns:a="http://schemas.openxmlformats.org/drawingml/2006/main" noGrp="1"/>
          </p:cNvSpPr>
          <p:nvPr/>
        </p:nvSpPr>
        <p:spPr>
          <a:xfrm xmlns:a="http://schemas.openxmlformats.org/drawingml/2006/main">
            <a:off x="6686550" y="1790700"/>
            <a:ext cx="2438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Driveable corridor</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width, boundaries, pit exclusion</a:t>
            </a:r>
          </a:p>
        </p:txBody>
      </p:sp>
      <p:sp>
        <p:nvSpPr>
          <p:cNvPr id="11" name="">
            <a:extLst xmlns:a="http://schemas.openxmlformats.org/drawingml/2006/main">
              <a:ext uri="{FF2B5EF4-FFF2-40B4-BE49-F238E27FC236}">
                <a16:creationId xmlns:a16="http://schemas.microsoft.com/office/drawing/2014/main" id="{E0472889-FF9A-4690-9B02-040C1A283767}"/>
              </a:ext>
            </a:extLst>
          </p:cNvPr>
          <p:cNvSpPr>
            <a:spLocks xmlns:a="http://schemas.openxmlformats.org/drawingml/2006/main" noGrp="1"/>
          </p:cNvSpPr>
          <p:nvPr/>
        </p:nvSpPr>
        <p:spPr>
          <a:xfrm xmlns:a="http://schemas.openxmlformats.org/drawingml/2006/main">
            <a:off x="685800" y="3714750"/>
            <a:ext cx="2381250" cy="952500"/>
          </a:xfrm>
          <a:prstGeom xmlns:a="http://schemas.openxmlformats.org/drawingml/2006/main" prst="rect">
            <a:avLst/>
          </a:prstGeom>
          <a:solidFill xmlns:a="http://schemas.openxmlformats.org/drawingml/2006/main">
            <a:srgbClr val="E7EEF7"/>
          </a:solidFill>
          <a:ln xmlns:a="http://schemas.openxmlformats.org/drawingml/2006/main" w="9525">
            <a:solidFill>
              <a:srgbClr val="1768C4"/>
            </a:solidFill>
            <a:prstDash val="solid"/>
          </a:ln>
        </p:spPr>
      </p:sp>
      <p:sp>
        <p:nvSpPr>
          <p:cNvPr id="12" name="">
            <a:extLst xmlns:a="http://schemas.openxmlformats.org/drawingml/2006/main">
              <a:ext uri="{FF2B5EF4-FFF2-40B4-BE49-F238E27FC236}">
                <a16:creationId xmlns:a16="http://schemas.microsoft.com/office/drawing/2014/main" id="{57EDD1D8-721A-46DE-BA07-8EE7048F38B1}"/>
              </a:ext>
            </a:extLst>
          </p:cNvPr>
          <p:cNvSpPr>
            <a:spLocks xmlns:a="http://schemas.openxmlformats.org/drawingml/2006/main" noGrp="1"/>
          </p:cNvSpPr>
          <p:nvPr/>
        </p:nvSpPr>
        <p:spPr>
          <a:xfrm xmlns:a="http://schemas.openxmlformats.org/drawingml/2006/main">
            <a:off x="800100" y="3790950"/>
            <a:ext cx="2152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Event overlay</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FIA lines, zones and curves</a:t>
            </a:r>
          </a:p>
        </p:txBody>
      </p:sp>
      <p:sp>
        <p:nvSpPr>
          <p:cNvPr id="13" name="">
            <a:extLst xmlns:a="http://schemas.openxmlformats.org/drawingml/2006/main">
              <a:ext uri="{FF2B5EF4-FFF2-40B4-BE49-F238E27FC236}">
                <a16:creationId xmlns:a16="http://schemas.microsoft.com/office/drawing/2014/main" id="{D07359FD-D037-40E0-A1D5-27FCDB20B9E7}"/>
              </a:ext>
            </a:extLst>
          </p:cNvPr>
          <p:cNvSpPr>
            <a:spLocks xmlns:a="http://schemas.openxmlformats.org/drawingml/2006/main" noGrp="1"/>
          </p:cNvSpPr>
          <p:nvPr/>
        </p:nvSpPr>
        <p:spPr>
          <a:xfrm xmlns:a="http://schemas.openxmlformats.org/drawingml/2006/main">
            <a:off x="3714750" y="3714750"/>
            <a:ext cx="2571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4" name="">
            <a:extLst xmlns:a="http://schemas.openxmlformats.org/drawingml/2006/main">
              <a:ext uri="{FF2B5EF4-FFF2-40B4-BE49-F238E27FC236}">
                <a16:creationId xmlns:a16="http://schemas.microsoft.com/office/drawing/2014/main" id="{4D756955-295A-4245-B6F5-76EB4C4055BE}"/>
              </a:ext>
            </a:extLst>
          </p:cNvPr>
          <p:cNvSpPr>
            <a:spLocks xmlns:a="http://schemas.openxmlformats.org/drawingml/2006/main" noGrp="1"/>
          </p:cNvSpPr>
          <p:nvPr/>
        </p:nvSpPr>
        <p:spPr>
          <a:xfrm xmlns:a="http://schemas.openxmlformats.org/drawingml/2006/main">
            <a:off x="3829050" y="379095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Source record</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URL, revision, licence and hash</a:t>
            </a:r>
          </a:p>
        </p:txBody>
      </p:sp>
      <p:sp>
        <p:nvSpPr>
          <p:cNvPr id="15" name="">
            <a:extLst xmlns:a="http://schemas.openxmlformats.org/drawingml/2006/main">
              <a:ext uri="{FF2B5EF4-FFF2-40B4-BE49-F238E27FC236}">
                <a16:creationId xmlns:a16="http://schemas.microsoft.com/office/drawing/2014/main" id="{4470C732-C69F-48AE-8D8C-6074E95DA12B}"/>
              </a:ext>
            </a:extLst>
          </p:cNvPr>
          <p:cNvSpPr>
            <a:spLocks xmlns:a="http://schemas.openxmlformats.org/drawingml/2006/main" noGrp="1"/>
          </p:cNvSpPr>
          <p:nvPr/>
        </p:nvSpPr>
        <p:spPr>
          <a:xfrm xmlns:a="http://schemas.openxmlformats.org/drawingml/2006/main">
            <a:off x="6953250" y="3714750"/>
            <a:ext cx="2476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6" name="">
            <a:extLst xmlns:a="http://schemas.openxmlformats.org/drawingml/2006/main">
              <a:ext uri="{FF2B5EF4-FFF2-40B4-BE49-F238E27FC236}">
                <a16:creationId xmlns:a16="http://schemas.microsoft.com/office/drawing/2014/main" id="{580EA6DA-9DD8-49B7-B763-1A359162103F}"/>
              </a:ext>
            </a:extLst>
          </p:cNvPr>
          <p:cNvSpPr>
            <a:spLocks xmlns:a="http://schemas.openxmlformats.org/drawingml/2006/main" noGrp="1"/>
          </p:cNvSpPr>
          <p:nvPr/>
        </p:nvSpPr>
        <p:spPr>
          <a:xfrm xmlns:a="http://schemas.openxmlformats.org/drawingml/2006/main">
            <a:off x="7067550" y="3790950"/>
            <a:ext cx="2247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Validation report</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closure, scale and projection</a:t>
            </a:r>
          </a:p>
        </p:txBody>
      </p:sp>
      <p:sp>
        <p:nvSpPr>
          <p:cNvPr id="17" name="">
            <a:extLst xmlns:a="http://schemas.openxmlformats.org/drawingml/2006/main">
              <a:ext uri="{FF2B5EF4-FFF2-40B4-BE49-F238E27FC236}">
                <a16:creationId xmlns:a16="http://schemas.microsoft.com/office/drawing/2014/main" id="{61A23B94-1B3B-44EB-9FEC-645BF01E3229}"/>
              </a:ext>
            </a:extLst>
          </p:cNvPr>
          <p:cNvSpPr>
            <a:spLocks xmlns:a="http://schemas.openxmlformats.org/drawingml/2006/main" noGrp="1"/>
          </p:cNvSpPr>
          <p:nvPr/>
        </p:nvSpPr>
        <p:spPr>
          <a:xfrm xmlns:a="http://schemas.openxmlformats.org/drawingml/2006/main">
            <a:off x="9858375" y="2667000"/>
            <a:ext cx="1714500" cy="1047750"/>
          </a:xfrm>
          <a:prstGeom xmlns:a="http://schemas.openxmlformats.org/drawingml/2006/main" prst="rect">
            <a:avLst/>
          </a:prstGeom>
          <a:solidFill xmlns:a="http://schemas.openxmlformats.org/drawingml/2006/main">
            <a:srgbClr val="E5F0EA"/>
          </a:solidFill>
          <a:ln xmlns:a="http://schemas.openxmlformats.org/drawingml/2006/main" w="9525">
            <a:solidFill>
              <a:srgbClr val="2E7C57"/>
            </a:solidFill>
            <a:prstDash val="solid"/>
          </a:ln>
        </p:spPr>
      </p:sp>
      <p:sp>
        <p:nvSpPr>
          <p:cNvPr id="18" name="">
            <a:extLst xmlns:a="http://schemas.openxmlformats.org/drawingml/2006/main">
              <a:ext uri="{FF2B5EF4-FFF2-40B4-BE49-F238E27FC236}">
                <a16:creationId xmlns:a16="http://schemas.microsoft.com/office/drawing/2014/main" id="{C640A05F-6846-49F4-80BC-FDB86702FB83}"/>
              </a:ext>
            </a:extLst>
          </p:cNvPr>
          <p:cNvSpPr>
            <a:spLocks xmlns:a="http://schemas.openxmlformats.org/drawingml/2006/main" noGrp="1"/>
          </p:cNvSpPr>
          <p:nvPr/>
        </p:nvSpPr>
        <p:spPr>
          <a:xfrm xmlns:a="http://schemas.openxmlformats.org/drawingml/2006/main">
            <a:off x="9972675" y="2743200"/>
            <a:ext cx="1485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Simulation eligible</a:t>
            </a:r>
          </a:p>
        </p:txBody>
      </p:sp>
      <p:cxnSp>
        <p:nvCxnSpPr>
          <p:cNvPr id="49" name=""/>
          <p:cNvCxnSpPr>
            <a:stCxn xmlns:a="http://schemas.openxmlformats.org/drawingml/2006/main" id="5" idx="3"/>
            <a:endCxn xmlns:a="http://schemas.openxmlformats.org/drawingml/2006/main" id="7" idx="1"/>
          </p:cNvCxnSpPr>
          <p:nvPr/>
        </p:nvCxnSpPr>
        <p:spPr>
          <a:xfrm xmlns:a="http://schemas.openxmlformats.org/drawingml/2006/main">
            <a:off x="2781300" y="2190750"/>
            <a:ext cx="6477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50" name=""/>
          <p:cNvCxnSpPr>
            <a:stCxn xmlns:a="http://schemas.openxmlformats.org/drawingml/2006/main" id="7" idx="3"/>
            <a:endCxn xmlns:a="http://schemas.openxmlformats.org/drawingml/2006/main" id="9" idx="1"/>
          </p:cNvCxnSpPr>
          <p:nvPr/>
        </p:nvCxnSpPr>
        <p:spPr>
          <a:xfrm xmlns:a="http://schemas.openxmlformats.org/drawingml/2006/main">
            <a:off x="5905500" y="2190750"/>
            <a:ext cx="6667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51" name=""/>
          <p:cNvCxnSpPr>
            <a:stCxn xmlns:a="http://schemas.openxmlformats.org/drawingml/2006/main" id="11" idx="3"/>
            <a:endCxn xmlns:a="http://schemas.openxmlformats.org/drawingml/2006/main" id="13" idx="1"/>
          </p:cNvCxnSpPr>
          <p:nvPr/>
        </p:nvCxnSpPr>
        <p:spPr>
          <a:xfrm xmlns:a="http://schemas.openxmlformats.org/drawingml/2006/main">
            <a:off x="3067050" y="4191000"/>
            <a:ext cx="6477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52" name=""/>
          <p:cNvCxnSpPr>
            <a:stCxn xmlns:a="http://schemas.openxmlformats.org/drawingml/2006/main" id="13" idx="3"/>
            <a:endCxn xmlns:a="http://schemas.openxmlformats.org/drawingml/2006/main" id="15" idx="1"/>
          </p:cNvCxnSpPr>
          <p:nvPr/>
        </p:nvCxnSpPr>
        <p:spPr>
          <a:xfrm xmlns:a="http://schemas.openxmlformats.org/drawingml/2006/main">
            <a:off x="6286500" y="4191000"/>
            <a:ext cx="6667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53" name=""/>
          <p:cNvCxnSpPr>
            <a:stCxn xmlns:a="http://schemas.openxmlformats.org/drawingml/2006/main" id="9" idx="3"/>
            <a:endCxn xmlns:a="http://schemas.openxmlformats.org/drawingml/2006/main" id="17" idx="1"/>
          </p:cNvCxnSpPr>
          <p:nvPr/>
        </p:nvCxnSpPr>
        <p:spPr>
          <a:xfrm xmlns:a="http://schemas.openxmlformats.org/drawingml/2006/main">
            <a:off x="9239250" y="2190750"/>
            <a:ext cx="619125" cy="1000125"/>
          </a:xfrm>
          <a:prstGeom xmlns:a="http://schemas.openxmlformats.org/drawingml/2006/main" prst="bentConnector3">
            <a:avLst>
              <a:gd name="adj1" fmla="val 50000"/>
            </a:avLst>
          </a:prstGeom>
          <a:ln xmlns:a="http://schemas.openxmlformats.org/drawingml/2006/main" w="19050">
            <a:solidFill>
              <a:srgbClr val="1768C4"/>
            </a:solidFill>
            <a:prstDash val="solid"/>
            <a:tailEnd type="arrow" w="sm" len="sm"/>
          </a:ln>
        </p:spPr>
      </p:cxnSp>
      <p:cxnSp>
        <p:nvCxnSpPr>
          <p:cNvPr id="54" name=""/>
          <p:cNvCxnSpPr>
            <a:stCxn xmlns:a="http://schemas.openxmlformats.org/drawingml/2006/main" id="15" idx="3"/>
            <a:endCxn xmlns:a="http://schemas.openxmlformats.org/drawingml/2006/main" id="17" idx="1"/>
          </p:cNvCxnSpPr>
          <p:nvPr/>
        </p:nvCxnSpPr>
        <p:spPr>
          <a:xfrm xmlns:a="http://schemas.openxmlformats.org/drawingml/2006/main" flipV="1">
            <a:off x="9429750" y="3190875"/>
            <a:ext cx="428625" cy="1000125"/>
          </a:xfrm>
          <a:prstGeom xmlns:a="http://schemas.openxmlformats.org/drawingml/2006/main" prst="bentConnector3">
            <a:avLst>
              <a:gd name="adj1" fmla="val 50000"/>
            </a:avLst>
          </a:prstGeom>
          <a:ln xmlns:a="http://schemas.openxmlformats.org/drawingml/2006/main" w="19050">
            <a:solidFill>
              <a:srgbClr val="1768C4"/>
            </a:solidFill>
            <a:prstDash val="solid"/>
            <a:tailEnd type="arrow" w="sm" len="sm"/>
          </a:ln>
        </p:spPr>
      </p:cxnSp>
      <p:sp>
        <p:nvSpPr>
          <p:cNvPr id="25" name="">
            <a:extLst xmlns:a="http://schemas.openxmlformats.org/drawingml/2006/main">
              <a:ext uri="{FF2B5EF4-FFF2-40B4-BE49-F238E27FC236}">
                <a16:creationId xmlns:a16="http://schemas.microsoft.com/office/drawing/2014/main" id="{AA379115-873E-4F48-9B17-3447D06F557A}"/>
              </a:ext>
            </a:extLst>
          </p:cNvPr>
          <p:cNvSpPr>
            <a:spLocks xmlns:a="http://schemas.openxmlformats.org/drawingml/2006/main" noGrp="1"/>
          </p:cNvSpPr>
          <p:nvPr/>
        </p:nvSpPr>
        <p:spPr>
          <a:xfrm xmlns:a="http://schemas.openxmlformats.org/drawingml/2006/main">
            <a:off x="704850" y="2857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0">
                <a:solidFill>
                  <a:srgbClr val="5D6872"/>
                </a:solidFill>
                <a:latin typeface="Arial"/>
                <a:ea typeface="Arial"/>
                <a:cs typeface="Arial"/>
              </a:defRPr>
            </a:pPr>
            <a:r>
              <a:rPr sz="1200" b="0">
                <a:solidFill>
                  <a:srgbClr val="5D6872"/>
                </a:solidFill>
                <a:latin typeface="Arial"/>
                <a:ea typeface="Arial"/>
                <a:cs typeface="Arial"/>
              </a:rPr>
              <a:t>1 m canonical resampling</a:t>
            </a:r>
          </a:p>
        </p:txBody>
      </p:sp>
      <p:sp>
        <p:nvSpPr>
          <p:cNvPr id="26" name="">
            <a:extLst xmlns:a="http://schemas.openxmlformats.org/drawingml/2006/main">
              <a:ext uri="{FF2B5EF4-FFF2-40B4-BE49-F238E27FC236}">
                <a16:creationId xmlns:a16="http://schemas.microsoft.com/office/drawing/2014/main" id="{F2AD0865-4F1A-4455-BEE4-EBF20969232E}"/>
              </a:ext>
            </a:extLst>
          </p:cNvPr>
          <p:cNvSpPr>
            <a:spLocks xmlns:a="http://schemas.openxmlformats.org/drawingml/2006/main" noGrp="1"/>
          </p:cNvSpPr>
          <p:nvPr/>
        </p:nvSpPr>
        <p:spPr>
          <a:xfrm xmlns:a="http://schemas.openxmlformats.org/drawingml/2006/main">
            <a:off x="685800" y="539115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7212B"/>
                </a:solidFill>
                <a:latin typeface="Arial"/>
                <a:ea typeface="Arial"/>
                <a:cs typeface="Arial"/>
              </a:defRPr>
            </a:pPr>
            <a:r>
              <a:rPr sz="1800" b="1">
                <a:solidFill>
                  <a:srgbClr val="17212B"/>
                </a:solidFill>
                <a:latin typeface="Arial"/>
                <a:ea typeface="Arial"/>
                <a:cs typeface="Arial"/>
              </a:rPr>
              <a:t>Archive track hash and event hash with every run</a:t>
            </a:r>
          </a:p>
        </p:txBody>
      </p:sp>
      <p:sp>
        <p:nvSpPr>
          <p:cNvPr id="27" name="">
            <a:extLst xmlns:a="http://schemas.openxmlformats.org/drawingml/2006/main">
              <a:ext uri="{FF2B5EF4-FFF2-40B4-BE49-F238E27FC236}">
                <a16:creationId xmlns:a16="http://schemas.microsoft.com/office/drawing/2014/main" id="{FCEFFE9F-CEB3-401D-9462-6EADA53C0F42}"/>
              </a:ext>
            </a:extLst>
          </p:cNvPr>
          <p:cNvSpPr>
            <a:spLocks xmlns:a="http://schemas.openxmlformats.org/drawingml/2006/main" noGrp="1"/>
          </p:cNvSpPr>
          <p:nvPr/>
        </p:nvSpPr>
        <p:spPr>
          <a:xfrm xmlns:a="http://schemas.openxmlformats.org/drawingml/2006/main">
            <a:off x="685800" y="5829300"/>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0">
                <a:solidFill>
                  <a:srgbClr val="B63B42"/>
                </a:solidFill>
                <a:latin typeface="Arial"/>
                <a:ea typeface="Arial"/>
                <a:cs typeface="Arial"/>
              </a:defRPr>
            </a:pPr>
            <a:r>
              <a:rPr sz="1350" b="0">
                <a:solidFill>
                  <a:srgbClr val="B63B42"/>
                </a:solidFill>
                <a:latin typeface="Arial"/>
                <a:ea typeface="Arial"/>
                <a:cs typeface="Arial"/>
              </a:rPr>
              <a:t>Missing boundaries disable precise contact-risk claims</a:t>
            </a:r>
          </a:p>
        </p:txBody>
      </p:sp>
      <p:sp>
        <p:nvSpPr>
          <p:cNvPr id="28" name="">
            <a:extLst xmlns:a="http://schemas.openxmlformats.org/drawingml/2006/main">
              <a:ext uri="{FF2B5EF4-FFF2-40B4-BE49-F238E27FC236}">
                <a16:creationId xmlns:a16="http://schemas.microsoft.com/office/drawing/2014/main" id="{5644294B-80B7-4A37-A380-42D34AFC7270}"/>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9" name="">
            <a:extLst xmlns:a="http://schemas.openxmlformats.org/drawingml/2006/main">
              <a:ext uri="{FF2B5EF4-FFF2-40B4-BE49-F238E27FC236}">
                <a16:creationId xmlns:a16="http://schemas.microsoft.com/office/drawing/2014/main" id="{C74307CF-461C-4576-AB2E-A95D91B3226B}"/>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30" name="">
            <a:extLst xmlns:a="http://schemas.openxmlformats.org/drawingml/2006/main">
              <a:ext uri="{FF2B5EF4-FFF2-40B4-BE49-F238E27FC236}">
                <a16:creationId xmlns:a16="http://schemas.microsoft.com/office/drawing/2014/main" id="{8C825B22-2E6D-40EC-88A0-1F19855F110D}"/>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5</a:t>
            </a:r>
          </a:p>
        </p:txBody>
      </p:sp>
    </p:spTree>
    <p:extLst>
      <p:ext uri="{BB962C8B-B14F-4D97-AF65-F5344CB8AC3E}">
        <p14:creationId xmlns:p14="http://schemas.microsoft.com/office/powerpoint/2010/main" val="975558505"/>
      </p:ext>
    </p:extLst>
  </p:cSld>
</p:sld>
</file>

<file path=ppt/slides/slide6.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47E66C4-EE17-4D36-A7E5-EF774598D13D}"/>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BAAD140A-9FAE-4CAD-89DD-C3DC8938F8BB}"/>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Real observations with clear limits</a:t>
            </a:r>
          </a:p>
        </p:txBody>
      </p:sp>
      <p:sp>
        <p:nvSpPr>
          <p:cNvPr id="3" name="">
            <a:extLst xmlns:a="http://schemas.openxmlformats.org/drawingml/2006/main">
              <a:ext uri="{FF2B5EF4-FFF2-40B4-BE49-F238E27FC236}">
                <a16:creationId xmlns:a16="http://schemas.microsoft.com/office/drawing/2014/main" id="{E4884B08-3D75-4AA9-92A8-16EF30ABBBF9}"/>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Each source has a declared capability and provenance</a:t>
            </a:r>
          </a:p>
        </p:txBody>
      </p:sp>
      <p:sp>
        <p:nvSpPr>
          <p:cNvPr id="4" name="">
            <a:extLst xmlns:a="http://schemas.openxmlformats.org/drawingml/2006/main">
              <a:ext uri="{FF2B5EF4-FFF2-40B4-BE49-F238E27FC236}">
                <a16:creationId xmlns:a16="http://schemas.microsoft.com/office/drawing/2014/main" id="{70056681-D88E-491B-91A4-370E3FDDAAB3}"/>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15F5DADF-FEEC-4A8E-A04E-FAC323265E27}"/>
              </a:ext>
            </a:extLst>
          </p:cNvPr>
          <p:cNvSpPr>
            <a:spLocks xmlns:a="http://schemas.openxmlformats.org/drawingml/2006/main" noGrp="1"/>
          </p:cNvSpPr>
          <p:nvPr/>
        </p:nvSpPr>
        <p:spPr>
          <a:xfrm xmlns:a="http://schemas.openxmlformats.org/drawingml/2006/main">
            <a:off x="723900" y="14668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8C4"/>
                </a:solidFill>
                <a:latin typeface="Arial"/>
                <a:ea typeface="Arial"/>
                <a:cs typeface="Arial"/>
              </a:defRPr>
            </a:pPr>
            <a:r>
              <a:rPr sz="975" b="1">
                <a:solidFill>
                  <a:srgbClr val="1768C4"/>
                </a:solidFill>
                <a:latin typeface="Arial"/>
                <a:ea typeface="Arial"/>
                <a:cs typeface="Arial"/>
              </a:rPr>
              <a:t>SOURCE</a:t>
            </a:r>
          </a:p>
        </p:txBody>
      </p:sp>
      <p:sp>
        <p:nvSpPr>
          <p:cNvPr id="6" name="">
            <a:extLst xmlns:a="http://schemas.openxmlformats.org/drawingml/2006/main">
              <a:ext uri="{FF2B5EF4-FFF2-40B4-BE49-F238E27FC236}">
                <a16:creationId xmlns:a16="http://schemas.microsoft.com/office/drawing/2014/main" id="{A75FB4A9-181A-4B44-BCEC-571080855C75}"/>
              </a:ext>
            </a:extLst>
          </p:cNvPr>
          <p:cNvSpPr>
            <a:spLocks xmlns:a="http://schemas.openxmlformats.org/drawingml/2006/main" noGrp="1"/>
          </p:cNvSpPr>
          <p:nvPr/>
        </p:nvSpPr>
        <p:spPr>
          <a:xfrm xmlns:a="http://schemas.openxmlformats.org/drawingml/2006/main">
            <a:off x="3448050" y="14668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8C4"/>
                </a:solidFill>
                <a:latin typeface="Arial"/>
                <a:ea typeface="Arial"/>
                <a:cs typeface="Arial"/>
              </a:defRPr>
            </a:pPr>
            <a:r>
              <a:rPr sz="975" b="1">
                <a:solidFill>
                  <a:srgbClr val="1768C4"/>
                </a:solidFill>
                <a:latin typeface="Arial"/>
                <a:ea typeface="Arial"/>
                <a:cs typeface="Arial"/>
              </a:rPr>
              <a:t>WHAT IT CAN PROVIDE</a:t>
            </a:r>
          </a:p>
        </p:txBody>
      </p:sp>
      <p:sp>
        <p:nvSpPr>
          <p:cNvPr id="7" name="">
            <a:extLst xmlns:a="http://schemas.openxmlformats.org/drawingml/2006/main">
              <a:ext uri="{FF2B5EF4-FFF2-40B4-BE49-F238E27FC236}">
                <a16:creationId xmlns:a16="http://schemas.microsoft.com/office/drawing/2014/main" id="{C90E5DF9-0DEE-4DAA-92B6-70AFC086B50D}"/>
              </a:ext>
            </a:extLst>
          </p:cNvPr>
          <p:cNvSpPr>
            <a:spLocks xmlns:a="http://schemas.openxmlformats.org/drawingml/2006/main" noGrp="1"/>
          </p:cNvSpPr>
          <p:nvPr/>
        </p:nvSpPr>
        <p:spPr>
          <a:xfrm xmlns:a="http://schemas.openxmlformats.org/drawingml/2006/main">
            <a:off x="9048750" y="1466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8C4"/>
                </a:solidFill>
                <a:latin typeface="Arial"/>
                <a:ea typeface="Arial"/>
                <a:cs typeface="Arial"/>
              </a:defRPr>
            </a:pPr>
            <a:r>
              <a:rPr sz="975" b="1">
                <a:solidFill>
                  <a:srgbClr val="1768C4"/>
                </a:solidFill>
                <a:latin typeface="Arial"/>
                <a:ea typeface="Arial"/>
                <a:cs typeface="Arial"/>
              </a:rPr>
              <a:t>ROLE</a:t>
            </a:r>
          </a:p>
        </p:txBody>
      </p:sp>
      <p:sp>
        <p:nvSpPr>
          <p:cNvPr id="8" name="">
            <a:extLst xmlns:a="http://schemas.openxmlformats.org/drawingml/2006/main">
              <a:ext uri="{FF2B5EF4-FFF2-40B4-BE49-F238E27FC236}">
                <a16:creationId xmlns:a16="http://schemas.microsoft.com/office/drawing/2014/main" id="{AAA29670-CB13-4F11-95EB-0923E974AA55}"/>
              </a:ext>
            </a:extLst>
          </p:cNvPr>
          <p:cNvSpPr>
            <a:spLocks xmlns:a="http://schemas.openxmlformats.org/drawingml/2006/main" noGrp="1"/>
          </p:cNvSpPr>
          <p:nvPr/>
        </p:nvSpPr>
        <p:spPr>
          <a:xfrm xmlns:a="http://schemas.openxmlformats.org/drawingml/2006/main">
            <a:off x="723900" y="1847850"/>
            <a:ext cx="10525125"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9" name="">
            <a:extLst xmlns:a="http://schemas.openxmlformats.org/drawingml/2006/main">
              <a:ext uri="{FF2B5EF4-FFF2-40B4-BE49-F238E27FC236}">
                <a16:creationId xmlns:a16="http://schemas.microsoft.com/office/drawing/2014/main" id="{D694E365-845F-48D8-82AB-FA70261F4BA3}"/>
              </a:ext>
            </a:extLst>
          </p:cNvPr>
          <p:cNvSpPr>
            <a:spLocks xmlns:a="http://schemas.openxmlformats.org/drawingml/2006/main" noGrp="1"/>
          </p:cNvSpPr>
          <p:nvPr/>
        </p:nvSpPr>
        <p:spPr>
          <a:xfrm xmlns:a="http://schemas.openxmlformats.org/drawingml/2006/main">
            <a:off x="723900" y="2066925"/>
            <a:ext cx="66675" cy="495300"/>
          </a:xfrm>
          <a:prstGeom xmlns:a="http://schemas.openxmlformats.org/drawingml/2006/main" prst="rect">
            <a:avLst/>
          </a:prstGeom>
          <a:solidFill xmlns:a="http://schemas.openxmlformats.org/drawingml/2006/main">
            <a:srgbClr val="1768C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6647E35-3BE8-47E0-917A-4AABCF023DF1}"/>
              </a:ext>
            </a:extLst>
          </p:cNvPr>
          <p:cNvSpPr>
            <a:spLocks xmlns:a="http://schemas.openxmlformats.org/drawingml/2006/main" noGrp="1"/>
          </p:cNvSpPr>
          <p:nvPr/>
        </p:nvSpPr>
        <p:spPr>
          <a:xfrm xmlns:a="http://schemas.openxmlformats.org/drawingml/2006/main">
            <a:off x="933450" y="19812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FIA event documents</a:t>
            </a:r>
          </a:p>
        </p:txBody>
      </p:sp>
      <p:sp>
        <p:nvSpPr>
          <p:cNvPr id="11" name="">
            <a:extLst xmlns:a="http://schemas.openxmlformats.org/drawingml/2006/main">
              <a:ext uri="{FF2B5EF4-FFF2-40B4-BE49-F238E27FC236}">
                <a16:creationId xmlns:a16="http://schemas.microsoft.com/office/drawing/2014/main" id="{7C8A448E-DC2D-45F5-A270-02F15DAD311A}"/>
              </a:ext>
            </a:extLst>
          </p:cNvPr>
          <p:cNvSpPr>
            <a:spLocks xmlns:a="http://schemas.openxmlformats.org/drawingml/2006/main" noGrp="1"/>
          </p:cNvSpPr>
          <p:nvPr/>
        </p:nvSpPr>
        <p:spPr>
          <a:xfrm xmlns:a="http://schemas.openxmlformats.org/drawingml/2006/main">
            <a:off x="3448050" y="19431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Detection and activation lines, straight-mode areas, power-unit parameters</a:t>
            </a:r>
          </a:p>
        </p:txBody>
      </p:sp>
      <p:sp>
        <p:nvSpPr>
          <p:cNvPr id="12" name="">
            <a:extLst xmlns:a="http://schemas.openxmlformats.org/drawingml/2006/main">
              <a:ext uri="{FF2B5EF4-FFF2-40B4-BE49-F238E27FC236}">
                <a16:creationId xmlns:a16="http://schemas.microsoft.com/office/drawing/2014/main" id="{AD097726-4BFA-416A-948D-ED61EDD73069}"/>
              </a:ext>
            </a:extLst>
          </p:cNvPr>
          <p:cNvSpPr>
            <a:spLocks xmlns:a="http://schemas.openxmlformats.org/drawingml/2006/main" noGrp="1"/>
          </p:cNvSpPr>
          <p:nvPr/>
        </p:nvSpPr>
        <p:spPr>
          <a:xfrm xmlns:a="http://schemas.openxmlformats.org/drawingml/2006/main">
            <a:off x="9048750" y="20193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1">
                <a:solidFill>
                  <a:srgbClr val="17212B"/>
                </a:solidFill>
                <a:latin typeface="Arial"/>
                <a:ea typeface="Arial"/>
                <a:cs typeface="Arial"/>
              </a:defRPr>
            </a:pPr>
            <a:r>
              <a:rPr sz="1350" b="1">
                <a:solidFill>
                  <a:srgbClr val="17212B"/>
                </a:solidFill>
                <a:latin typeface="Arial"/>
                <a:ea typeface="Arial"/>
                <a:cs typeface="Arial"/>
              </a:rPr>
              <a:t>Human-reviewed event overlay</a:t>
            </a:r>
          </a:p>
        </p:txBody>
      </p:sp>
      <p:sp>
        <p:nvSpPr>
          <p:cNvPr id="13" name="">
            <a:extLst xmlns:a="http://schemas.openxmlformats.org/drawingml/2006/main">
              <a:ext uri="{FF2B5EF4-FFF2-40B4-BE49-F238E27FC236}">
                <a16:creationId xmlns:a16="http://schemas.microsoft.com/office/drawing/2014/main" id="{777946EB-3A05-479D-9364-262DC1835417}"/>
              </a:ext>
            </a:extLst>
          </p:cNvPr>
          <p:cNvSpPr>
            <a:spLocks xmlns:a="http://schemas.openxmlformats.org/drawingml/2006/main" noGrp="1"/>
          </p:cNvSpPr>
          <p:nvPr/>
        </p:nvSpPr>
        <p:spPr>
          <a:xfrm xmlns:a="http://schemas.openxmlformats.org/drawingml/2006/main">
            <a:off x="723900" y="2819400"/>
            <a:ext cx="10525125"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14" name="">
            <a:extLst xmlns:a="http://schemas.openxmlformats.org/drawingml/2006/main">
              <a:ext uri="{FF2B5EF4-FFF2-40B4-BE49-F238E27FC236}">
                <a16:creationId xmlns:a16="http://schemas.microsoft.com/office/drawing/2014/main" id="{17CE8513-2D1C-4421-B46B-3824BF058B69}"/>
              </a:ext>
            </a:extLst>
          </p:cNvPr>
          <p:cNvSpPr>
            <a:spLocks xmlns:a="http://schemas.openxmlformats.org/drawingml/2006/main" noGrp="1"/>
          </p:cNvSpPr>
          <p:nvPr/>
        </p:nvSpPr>
        <p:spPr>
          <a:xfrm xmlns:a="http://schemas.openxmlformats.org/drawingml/2006/main">
            <a:off x="723900" y="3038475"/>
            <a:ext cx="66675" cy="495300"/>
          </a:xfrm>
          <a:prstGeom xmlns:a="http://schemas.openxmlformats.org/drawingml/2006/main" prst="rect">
            <a:avLst/>
          </a:prstGeom>
          <a:solidFill xmlns:a="http://schemas.openxmlformats.org/drawingml/2006/main">
            <a:srgbClr val="2E7C5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0DF2CC-4E76-4C29-ACE2-80BAF50B4588}"/>
              </a:ext>
            </a:extLst>
          </p:cNvPr>
          <p:cNvSpPr>
            <a:spLocks xmlns:a="http://schemas.openxmlformats.org/drawingml/2006/main" noGrp="1"/>
          </p:cNvSpPr>
          <p:nvPr/>
        </p:nvSpPr>
        <p:spPr>
          <a:xfrm xmlns:a="http://schemas.openxmlformats.org/drawingml/2006/main">
            <a:off x="933450" y="295275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Licensed survey or CAD</a:t>
            </a:r>
          </a:p>
        </p:txBody>
      </p:sp>
      <p:sp>
        <p:nvSpPr>
          <p:cNvPr id="16" name="">
            <a:extLst xmlns:a="http://schemas.openxmlformats.org/drawingml/2006/main">
              <a:ext uri="{FF2B5EF4-FFF2-40B4-BE49-F238E27FC236}">
                <a16:creationId xmlns:a16="http://schemas.microsoft.com/office/drawing/2014/main" id="{C70BDD20-5202-455B-8664-FC915CE12AB8}"/>
              </a:ext>
            </a:extLst>
          </p:cNvPr>
          <p:cNvSpPr>
            <a:spLocks xmlns:a="http://schemas.openxmlformats.org/drawingml/2006/main" noGrp="1"/>
          </p:cNvSpPr>
          <p:nvPr/>
        </p:nvSpPr>
        <p:spPr>
          <a:xfrm xmlns:a="http://schemas.openxmlformats.org/drawingml/2006/main">
            <a:off x="3448050" y="291465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Metric centreline, elevation, banking, boundaries</a:t>
            </a:r>
          </a:p>
        </p:txBody>
      </p:sp>
      <p:sp>
        <p:nvSpPr>
          <p:cNvPr id="17" name="">
            <a:extLst xmlns:a="http://schemas.openxmlformats.org/drawingml/2006/main">
              <a:ext uri="{FF2B5EF4-FFF2-40B4-BE49-F238E27FC236}">
                <a16:creationId xmlns:a16="http://schemas.microsoft.com/office/drawing/2014/main" id="{AE7F8B3A-9409-4229-AC4D-E34F180BC8CB}"/>
              </a:ext>
            </a:extLst>
          </p:cNvPr>
          <p:cNvSpPr>
            <a:spLocks xmlns:a="http://schemas.openxmlformats.org/drawingml/2006/main" noGrp="1"/>
          </p:cNvSpPr>
          <p:nvPr/>
        </p:nvSpPr>
        <p:spPr>
          <a:xfrm xmlns:a="http://schemas.openxmlformats.org/drawingml/2006/main">
            <a:off x="9048750" y="29908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12B"/>
                </a:solidFill>
                <a:latin typeface="Arial"/>
                <a:ea typeface="Arial"/>
                <a:cs typeface="Arial"/>
              </a:defRPr>
            </a:pPr>
            <a:r>
              <a:rPr sz="1350" b="1">
                <a:solidFill>
                  <a:srgbClr val="17212B"/>
                </a:solidFill>
                <a:latin typeface="Arial"/>
                <a:ea typeface="Arial"/>
                <a:cs typeface="Arial"/>
              </a:rPr>
              <a:t>Primary geometry</a:t>
            </a:r>
          </a:p>
        </p:txBody>
      </p:sp>
      <p:sp>
        <p:nvSpPr>
          <p:cNvPr id="18" name="">
            <a:extLst xmlns:a="http://schemas.openxmlformats.org/drawingml/2006/main">
              <a:ext uri="{FF2B5EF4-FFF2-40B4-BE49-F238E27FC236}">
                <a16:creationId xmlns:a16="http://schemas.microsoft.com/office/drawing/2014/main" id="{F225156B-39A8-4817-9691-E4B945B417DE}"/>
              </a:ext>
            </a:extLst>
          </p:cNvPr>
          <p:cNvSpPr>
            <a:spLocks xmlns:a="http://schemas.openxmlformats.org/drawingml/2006/main" noGrp="1"/>
          </p:cNvSpPr>
          <p:nvPr/>
        </p:nvSpPr>
        <p:spPr>
          <a:xfrm xmlns:a="http://schemas.openxmlformats.org/drawingml/2006/main">
            <a:off x="723900" y="3790950"/>
            <a:ext cx="10525125"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19" name="">
            <a:extLst xmlns:a="http://schemas.openxmlformats.org/drawingml/2006/main">
              <a:ext uri="{FF2B5EF4-FFF2-40B4-BE49-F238E27FC236}">
                <a16:creationId xmlns:a16="http://schemas.microsoft.com/office/drawing/2014/main" id="{A140CD36-DA29-4428-B753-B1577E33C692}"/>
              </a:ext>
            </a:extLst>
          </p:cNvPr>
          <p:cNvSpPr>
            <a:spLocks xmlns:a="http://schemas.openxmlformats.org/drawingml/2006/main" noGrp="1"/>
          </p:cNvSpPr>
          <p:nvPr/>
        </p:nvSpPr>
        <p:spPr>
          <a:xfrm xmlns:a="http://schemas.openxmlformats.org/drawingml/2006/main">
            <a:off x="723900" y="4010025"/>
            <a:ext cx="66675" cy="495300"/>
          </a:xfrm>
          <a:prstGeom xmlns:a="http://schemas.openxmlformats.org/drawingml/2006/main" prst="rect">
            <a:avLst/>
          </a:prstGeom>
          <a:solidFill xmlns:a="http://schemas.openxmlformats.org/drawingml/2006/main">
            <a:srgbClr val="7B5A9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EF2457-271D-49EF-B7A8-D9AC10664585}"/>
              </a:ext>
            </a:extLst>
          </p:cNvPr>
          <p:cNvSpPr>
            <a:spLocks xmlns:a="http://schemas.openxmlformats.org/drawingml/2006/main" noGrp="1"/>
          </p:cNvSpPr>
          <p:nvPr/>
        </p:nvSpPr>
        <p:spPr>
          <a:xfrm xmlns:a="http://schemas.openxmlformats.org/drawingml/2006/main">
            <a:off x="933450" y="3924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OpenF1 and FastF1</a:t>
            </a:r>
          </a:p>
        </p:txBody>
      </p:sp>
      <p:sp>
        <p:nvSpPr>
          <p:cNvPr id="21" name="">
            <a:extLst xmlns:a="http://schemas.openxmlformats.org/drawingml/2006/main">
              <a:ext uri="{FF2B5EF4-FFF2-40B4-BE49-F238E27FC236}">
                <a16:creationId xmlns:a16="http://schemas.microsoft.com/office/drawing/2014/main" id="{A1A94A07-51CE-45A3-81D9-2ABCE7839EC8}"/>
              </a:ext>
            </a:extLst>
          </p:cNvPr>
          <p:cNvSpPr>
            <a:spLocks xmlns:a="http://schemas.openxmlformats.org/drawingml/2006/main" noGrp="1"/>
          </p:cNvSpPr>
          <p:nvPr/>
        </p:nvSpPr>
        <p:spPr>
          <a:xfrm xmlns:a="http://schemas.openxmlformats.org/drawingml/2006/main">
            <a:off x="3448050" y="38862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Position, speed, gaps, stints, race control and weather</a:t>
            </a:r>
          </a:p>
        </p:txBody>
      </p:sp>
      <p:sp>
        <p:nvSpPr>
          <p:cNvPr id="22" name="">
            <a:extLst xmlns:a="http://schemas.openxmlformats.org/drawingml/2006/main">
              <a:ext uri="{FF2B5EF4-FFF2-40B4-BE49-F238E27FC236}">
                <a16:creationId xmlns:a16="http://schemas.microsoft.com/office/drawing/2014/main" id="{7EBD31AF-9B5C-4DC3-80C9-5A1F1C847CD1}"/>
              </a:ext>
            </a:extLst>
          </p:cNvPr>
          <p:cNvSpPr>
            <a:spLocks xmlns:a="http://schemas.openxmlformats.org/drawingml/2006/main" noGrp="1"/>
          </p:cNvSpPr>
          <p:nvPr/>
        </p:nvSpPr>
        <p:spPr>
          <a:xfrm xmlns:a="http://schemas.openxmlformats.org/drawingml/2006/main">
            <a:off x="9048750" y="39624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12B"/>
                </a:solidFill>
                <a:latin typeface="Arial"/>
                <a:ea typeface="Arial"/>
                <a:cs typeface="Arial"/>
              </a:defRPr>
            </a:pPr>
            <a:r>
              <a:rPr sz="1350" b="1">
                <a:solidFill>
                  <a:srgbClr val="17212B"/>
                </a:solidFill>
                <a:latin typeface="Arial"/>
                <a:ea typeface="Arial"/>
                <a:cs typeface="Arial"/>
              </a:rPr>
              <a:t>Context and calibration</a:t>
            </a:r>
          </a:p>
        </p:txBody>
      </p:sp>
      <p:sp>
        <p:nvSpPr>
          <p:cNvPr id="23" name="">
            <a:extLst xmlns:a="http://schemas.openxmlformats.org/drawingml/2006/main">
              <a:ext uri="{FF2B5EF4-FFF2-40B4-BE49-F238E27FC236}">
                <a16:creationId xmlns:a16="http://schemas.microsoft.com/office/drawing/2014/main" id="{58F46638-35D8-4682-BFF1-2FDEBA225852}"/>
              </a:ext>
            </a:extLst>
          </p:cNvPr>
          <p:cNvSpPr>
            <a:spLocks xmlns:a="http://schemas.openxmlformats.org/drawingml/2006/main" noGrp="1"/>
          </p:cNvSpPr>
          <p:nvPr/>
        </p:nvSpPr>
        <p:spPr>
          <a:xfrm xmlns:a="http://schemas.openxmlformats.org/drawingml/2006/main">
            <a:off x="723900" y="4762500"/>
            <a:ext cx="10525125"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4" name="">
            <a:extLst xmlns:a="http://schemas.openxmlformats.org/drawingml/2006/main">
              <a:ext uri="{FF2B5EF4-FFF2-40B4-BE49-F238E27FC236}">
                <a16:creationId xmlns:a16="http://schemas.microsoft.com/office/drawing/2014/main" id="{79C309AF-AEA2-4D6D-813A-87DB7C977729}"/>
              </a:ext>
            </a:extLst>
          </p:cNvPr>
          <p:cNvSpPr>
            <a:spLocks xmlns:a="http://schemas.openxmlformats.org/drawingml/2006/main" noGrp="1"/>
          </p:cNvSpPr>
          <p:nvPr/>
        </p:nvSpPr>
        <p:spPr>
          <a:xfrm xmlns:a="http://schemas.openxmlformats.org/drawingml/2006/main">
            <a:off x="723900" y="4981575"/>
            <a:ext cx="66675" cy="495300"/>
          </a:xfrm>
          <a:prstGeom xmlns:a="http://schemas.openxmlformats.org/drawingml/2006/main" prst="rect">
            <a:avLst/>
          </a:prstGeom>
          <a:solidFill xmlns:a="http://schemas.openxmlformats.org/drawingml/2006/main">
            <a:srgbClr val="E5A63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F9D9F94-07A0-4B11-84CB-C32AD14D59DE}"/>
              </a:ext>
            </a:extLst>
          </p:cNvPr>
          <p:cNvSpPr>
            <a:spLocks xmlns:a="http://schemas.openxmlformats.org/drawingml/2006/main" noGrp="1"/>
          </p:cNvSpPr>
          <p:nvPr/>
        </p:nvSpPr>
        <p:spPr>
          <a:xfrm xmlns:a="http://schemas.openxmlformats.org/drawingml/2006/main">
            <a:off x="933450" y="489585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Authorised team telemetry</a:t>
            </a:r>
          </a:p>
        </p:txBody>
      </p:sp>
      <p:sp>
        <p:nvSpPr>
          <p:cNvPr id="26" name="">
            <a:extLst xmlns:a="http://schemas.openxmlformats.org/drawingml/2006/main">
              <a:ext uri="{FF2B5EF4-FFF2-40B4-BE49-F238E27FC236}">
                <a16:creationId xmlns:a16="http://schemas.microsoft.com/office/drawing/2014/main" id="{A92B3941-3C6A-4BF7-92C1-4E59AA6B62E9}"/>
              </a:ext>
            </a:extLst>
          </p:cNvPr>
          <p:cNvSpPr>
            <a:spLocks xmlns:a="http://schemas.openxmlformats.org/drawingml/2006/main" noGrp="1"/>
          </p:cNvSpPr>
          <p:nvPr/>
        </p:nvSpPr>
        <p:spPr>
          <a:xfrm xmlns:a="http://schemas.openxmlformats.org/drawingml/2006/main">
            <a:off x="3448050" y="485775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Own-car energy, electrical power and temperatures where permission allows</a:t>
            </a:r>
          </a:p>
        </p:txBody>
      </p:sp>
      <p:sp>
        <p:nvSpPr>
          <p:cNvPr id="27" name="">
            <a:extLst xmlns:a="http://schemas.openxmlformats.org/drawingml/2006/main">
              <a:ext uri="{FF2B5EF4-FFF2-40B4-BE49-F238E27FC236}">
                <a16:creationId xmlns:a16="http://schemas.microsoft.com/office/drawing/2014/main" id="{AB2D38C1-CFCB-436C-8D54-6159F192DE88}"/>
              </a:ext>
            </a:extLst>
          </p:cNvPr>
          <p:cNvSpPr>
            <a:spLocks xmlns:a="http://schemas.openxmlformats.org/drawingml/2006/main" noGrp="1"/>
          </p:cNvSpPr>
          <p:nvPr/>
        </p:nvSpPr>
        <p:spPr>
          <a:xfrm xmlns:a="http://schemas.openxmlformats.org/drawingml/2006/main">
            <a:off x="9048750" y="49339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12B"/>
                </a:solidFill>
                <a:latin typeface="Arial"/>
                <a:ea typeface="Arial"/>
                <a:cs typeface="Arial"/>
              </a:defRPr>
            </a:pPr>
            <a:r>
              <a:rPr sz="1350" b="1">
                <a:solidFill>
                  <a:srgbClr val="17212B"/>
                </a:solidFill>
                <a:latin typeface="Arial"/>
                <a:ea typeface="Arial"/>
                <a:cs typeface="Arial"/>
              </a:rPr>
              <a:t>Private capability</a:t>
            </a:r>
          </a:p>
        </p:txBody>
      </p:sp>
      <p:sp>
        <p:nvSpPr>
          <p:cNvPr id="28" name="">
            <a:extLst xmlns:a="http://schemas.openxmlformats.org/drawingml/2006/main">
              <a:ext uri="{FF2B5EF4-FFF2-40B4-BE49-F238E27FC236}">
                <a16:creationId xmlns:a16="http://schemas.microsoft.com/office/drawing/2014/main" id="{F77F0FAE-8D78-4E28-9637-B4CADDC3039D}"/>
              </a:ext>
            </a:extLst>
          </p:cNvPr>
          <p:cNvSpPr>
            <a:spLocks xmlns:a="http://schemas.openxmlformats.org/drawingml/2006/main" noGrp="1"/>
          </p:cNvSpPr>
          <p:nvPr/>
        </p:nvSpPr>
        <p:spPr>
          <a:xfrm xmlns:a="http://schemas.openxmlformats.org/drawingml/2006/main">
            <a:off x="723900" y="59055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l">
              <a:defRPr sz="1875" b="1">
                <a:solidFill>
                  <a:srgbClr val="B63B42"/>
                </a:solidFill>
                <a:latin typeface="Arial"/>
                <a:ea typeface="Arial"/>
                <a:cs typeface="Arial"/>
              </a:defRPr>
            </a:pPr>
            <a:r>
              <a:rPr sz="1875" b="1">
                <a:solidFill>
                  <a:srgbClr val="B63B42"/>
                </a:solidFill>
                <a:latin typeface="Arial"/>
                <a:ea typeface="Arial"/>
                <a:cs typeface="Arial"/>
              </a:rPr>
              <a:t>Public telemetry does not contain true rival battery state</a:t>
            </a:r>
          </a:p>
        </p:txBody>
      </p:sp>
      <p:sp>
        <p:nvSpPr>
          <p:cNvPr id="29" name="">
            <a:extLst xmlns:a="http://schemas.openxmlformats.org/drawingml/2006/main">
              <a:ext uri="{FF2B5EF4-FFF2-40B4-BE49-F238E27FC236}">
                <a16:creationId xmlns:a16="http://schemas.microsoft.com/office/drawing/2014/main" id="{130AEE77-AB21-47BA-97BB-58E4F53C63D2}"/>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30" name="">
            <a:extLst xmlns:a="http://schemas.openxmlformats.org/drawingml/2006/main">
              <a:ext uri="{FF2B5EF4-FFF2-40B4-BE49-F238E27FC236}">
                <a16:creationId xmlns:a16="http://schemas.microsoft.com/office/drawing/2014/main" id="{28156D70-2214-4877-AAE2-B17F81046812}"/>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FIA decision documents, OpenF1 and FastF1 documentation</a:t>
            </a:r>
          </a:p>
        </p:txBody>
      </p:sp>
      <p:sp>
        <p:nvSpPr>
          <p:cNvPr id="31" name="">
            <a:extLst xmlns:a="http://schemas.openxmlformats.org/drawingml/2006/main">
              <a:ext uri="{FF2B5EF4-FFF2-40B4-BE49-F238E27FC236}">
                <a16:creationId xmlns:a16="http://schemas.microsoft.com/office/drawing/2014/main" id="{BE2245FA-3D5B-4DA9-8F19-B978F30355FC}"/>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6</a:t>
            </a:r>
          </a:p>
        </p:txBody>
      </p:sp>
    </p:spTree>
    <p:extLst>
      <p:ext uri="{BB962C8B-B14F-4D97-AF65-F5344CB8AC3E}">
        <p14:creationId xmlns:p14="http://schemas.microsoft.com/office/powerpoint/2010/main" val="1534267135"/>
      </p:ext>
    </p:extLst>
  </p:cSld>
</p:sld>
</file>

<file path=ppt/slides/slide7.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940974B-1040-4D39-AC9C-DEDE353D7209}"/>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A4FE39C5-F39C-4279-8320-675B762EB701}"/>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7212B"/>
                </a:solidFill>
                <a:latin typeface="Arial"/>
                <a:ea typeface="Arial"/>
                <a:cs typeface="Arial"/>
              </a:defRPr>
            </a:pPr>
            <a:r>
              <a:rPr sz="3000" b="1">
                <a:solidFill>
                  <a:srgbClr val="17212B"/>
                </a:solidFill>
                <a:latin typeface="Arial"/>
                <a:ea typeface="Arial"/>
                <a:cs typeface="Arial"/>
              </a:rPr>
              <a:t>Factors that alter the decision</a:t>
            </a:r>
          </a:p>
        </p:txBody>
      </p:sp>
      <p:sp>
        <p:nvSpPr>
          <p:cNvPr id="3" name="">
            <a:extLst xmlns:a="http://schemas.openxmlformats.org/drawingml/2006/main">
              <a:ext uri="{FF2B5EF4-FFF2-40B4-BE49-F238E27FC236}">
                <a16:creationId xmlns:a16="http://schemas.microsoft.com/office/drawing/2014/main" id="{88B8B9FC-48B4-43DE-9E54-1DE42D39FBE0}"/>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The simulator preserves causal relationships and correlated conditions</a:t>
            </a:r>
          </a:p>
        </p:txBody>
      </p:sp>
      <p:sp>
        <p:nvSpPr>
          <p:cNvPr id="4" name="">
            <a:extLst xmlns:a="http://schemas.openxmlformats.org/drawingml/2006/main">
              <a:ext uri="{FF2B5EF4-FFF2-40B4-BE49-F238E27FC236}">
                <a16:creationId xmlns:a16="http://schemas.microsoft.com/office/drawing/2014/main" id="{0B576C76-D465-43B4-B915-34727D9478AF}"/>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B68839E1-0653-44B0-A553-B2C8A81EEC5E}"/>
              </a:ext>
            </a:extLst>
          </p:cNvPr>
          <p:cNvSpPr>
            <a:spLocks xmlns:a="http://schemas.openxmlformats.org/drawingml/2006/main" noGrp="1"/>
          </p:cNvSpPr>
          <p:nvPr/>
        </p:nvSpPr>
        <p:spPr>
          <a:xfrm xmlns:a="http://schemas.openxmlformats.org/drawingml/2006/main">
            <a:off x="4572000" y="2095500"/>
            <a:ext cx="2857500" cy="952500"/>
          </a:xfrm>
          <a:prstGeom xmlns:a="http://schemas.openxmlformats.org/drawingml/2006/main" prst="rect">
            <a:avLst/>
          </a:prstGeom>
          <a:solidFill xmlns:a="http://schemas.openxmlformats.org/drawingml/2006/main">
            <a:srgbClr val="E7EEF7"/>
          </a:solidFill>
          <a:ln xmlns:a="http://schemas.openxmlformats.org/drawingml/2006/main" w="9525">
            <a:solidFill>
              <a:srgbClr val="1768C4"/>
            </a:solidFill>
            <a:prstDash val="solid"/>
          </a:ln>
        </p:spPr>
      </p:sp>
      <p:sp>
        <p:nvSpPr>
          <p:cNvPr id="6" name="">
            <a:extLst xmlns:a="http://schemas.openxmlformats.org/drawingml/2006/main">
              <a:ext uri="{FF2B5EF4-FFF2-40B4-BE49-F238E27FC236}">
                <a16:creationId xmlns:a16="http://schemas.microsoft.com/office/drawing/2014/main" id="{0AB31836-9AE5-4D6F-86DF-F89AA6F7D707}"/>
              </a:ext>
            </a:extLst>
          </p:cNvPr>
          <p:cNvSpPr>
            <a:spLocks xmlns:a="http://schemas.openxmlformats.org/drawingml/2006/main" noGrp="1"/>
          </p:cNvSpPr>
          <p:nvPr/>
        </p:nvSpPr>
        <p:spPr>
          <a:xfrm xmlns:a="http://schemas.openxmlformats.org/drawingml/2006/main">
            <a:off x="4686300" y="2171700"/>
            <a:ext cx="2628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Wheel demand</a:t>
            </a:r>
          </a:p>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and braking opportunity</a:t>
            </a:r>
          </a:p>
        </p:txBody>
      </p:sp>
      <p:sp>
        <p:nvSpPr>
          <p:cNvPr id="7" name="">
            <a:extLst xmlns:a="http://schemas.openxmlformats.org/drawingml/2006/main">
              <a:ext uri="{FF2B5EF4-FFF2-40B4-BE49-F238E27FC236}">
                <a16:creationId xmlns:a16="http://schemas.microsoft.com/office/drawing/2014/main" id="{2AAD1442-07BC-4EDF-AFFC-80C56A1E57D1}"/>
              </a:ext>
            </a:extLst>
          </p:cNvPr>
          <p:cNvSpPr>
            <a:spLocks xmlns:a="http://schemas.openxmlformats.org/drawingml/2006/main" noGrp="1"/>
          </p:cNvSpPr>
          <p:nvPr/>
        </p:nvSpPr>
        <p:spPr>
          <a:xfrm xmlns:a="http://schemas.openxmlformats.org/drawingml/2006/main">
            <a:off x="4572000" y="3905250"/>
            <a:ext cx="2857500" cy="952500"/>
          </a:xfrm>
          <a:prstGeom xmlns:a="http://schemas.openxmlformats.org/drawingml/2006/main" prst="rect">
            <a:avLst/>
          </a:prstGeom>
          <a:solidFill xmlns:a="http://schemas.openxmlformats.org/drawingml/2006/main">
            <a:srgbClr val="FFF3DC"/>
          </a:solidFill>
          <a:ln xmlns:a="http://schemas.openxmlformats.org/drawingml/2006/main" w="9525">
            <a:solidFill>
              <a:srgbClr val="E5A637"/>
            </a:solidFill>
            <a:prstDash val="solid"/>
          </a:ln>
        </p:spPr>
      </p:sp>
      <p:sp>
        <p:nvSpPr>
          <p:cNvPr id="8" name="">
            <a:extLst xmlns:a="http://schemas.openxmlformats.org/drawingml/2006/main">
              <a:ext uri="{FF2B5EF4-FFF2-40B4-BE49-F238E27FC236}">
                <a16:creationId xmlns:a16="http://schemas.microsoft.com/office/drawing/2014/main" id="{1CD1644C-E0B5-46CE-964D-F4D775212AFD}"/>
              </a:ext>
            </a:extLst>
          </p:cNvPr>
          <p:cNvSpPr>
            <a:spLocks xmlns:a="http://schemas.openxmlformats.org/drawingml/2006/main" noGrp="1"/>
          </p:cNvSpPr>
          <p:nvPr/>
        </p:nvSpPr>
        <p:spPr>
          <a:xfrm xmlns:a="http://schemas.openxmlformats.org/drawingml/2006/main">
            <a:off x="4686300" y="3981450"/>
            <a:ext cx="2628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Battery energy</a:t>
            </a:r>
          </a:p>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and temperature</a:t>
            </a:r>
          </a:p>
        </p:txBody>
      </p:sp>
      <p:sp>
        <p:nvSpPr>
          <p:cNvPr id="9" name="">
            <a:extLst xmlns:a="http://schemas.openxmlformats.org/drawingml/2006/main">
              <a:ext uri="{FF2B5EF4-FFF2-40B4-BE49-F238E27FC236}">
                <a16:creationId xmlns:a16="http://schemas.microsoft.com/office/drawing/2014/main" id="{2463423D-5621-46DA-9C14-7FC27379EC40}"/>
              </a:ext>
            </a:extLst>
          </p:cNvPr>
          <p:cNvSpPr>
            <a:spLocks xmlns:a="http://schemas.openxmlformats.org/drawingml/2006/main" noGrp="1"/>
          </p:cNvSpPr>
          <p:nvPr/>
        </p:nvSpPr>
        <p:spPr>
          <a:xfrm xmlns:a="http://schemas.openxmlformats.org/drawingml/2006/main">
            <a:off x="685800" y="1619250"/>
            <a:ext cx="2667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1768C4"/>
            </a:solidFill>
            <a:prstDash val="solid"/>
          </a:ln>
        </p:spPr>
      </p:sp>
      <p:sp>
        <p:nvSpPr>
          <p:cNvPr id="10" name="">
            <a:extLst xmlns:a="http://schemas.openxmlformats.org/drawingml/2006/main">
              <a:ext uri="{FF2B5EF4-FFF2-40B4-BE49-F238E27FC236}">
                <a16:creationId xmlns:a16="http://schemas.microsoft.com/office/drawing/2014/main" id="{D2717D1A-8523-46E9-97E9-2B766501CE72}"/>
              </a:ext>
            </a:extLst>
          </p:cNvPr>
          <p:cNvSpPr>
            <a:spLocks xmlns:a="http://schemas.openxmlformats.org/drawingml/2006/main" noGrp="1"/>
          </p:cNvSpPr>
          <p:nvPr/>
        </p:nvSpPr>
        <p:spPr>
          <a:xfrm xmlns:a="http://schemas.openxmlformats.org/drawingml/2006/main">
            <a:off x="800100" y="169545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Track geometry</a:t>
            </a:r>
          </a:p>
        </p:txBody>
      </p:sp>
      <p:cxnSp>
        <p:nvCxnSpPr>
          <p:cNvPr id="45" name=""/>
          <p:cNvCxnSpPr>
            <a:stCxn xmlns:a="http://schemas.openxmlformats.org/drawingml/2006/main" id="9" idx="3"/>
            <a:endCxn xmlns:a="http://schemas.openxmlformats.org/drawingml/2006/main" id="5" idx="1"/>
          </p:cNvCxnSpPr>
          <p:nvPr/>
        </p:nvCxnSpPr>
        <p:spPr>
          <a:xfrm xmlns:a="http://schemas.openxmlformats.org/drawingml/2006/main">
            <a:off x="3352800" y="1933575"/>
            <a:ext cx="1219200" cy="638175"/>
          </a:xfrm>
          <a:prstGeom xmlns:a="http://schemas.openxmlformats.org/drawingml/2006/main" prst="bentConnector3">
            <a:avLst>
              <a:gd name="adj1" fmla="val 50000"/>
            </a:avLst>
          </a:prstGeom>
          <a:ln xmlns:a="http://schemas.openxmlformats.org/drawingml/2006/main" w="19050">
            <a:solidFill>
              <a:srgbClr val="1768C4"/>
            </a:solidFill>
            <a:prstDash val="solid"/>
            <a:tailEnd type="arrow" w="sm" len="sm"/>
          </a:ln>
        </p:spPr>
      </p:cxnSp>
      <p:sp>
        <p:nvSpPr>
          <p:cNvPr id="12" name="">
            <a:extLst xmlns:a="http://schemas.openxmlformats.org/drawingml/2006/main">
              <a:ext uri="{FF2B5EF4-FFF2-40B4-BE49-F238E27FC236}">
                <a16:creationId xmlns:a16="http://schemas.microsoft.com/office/drawing/2014/main" id="{7D0A66AF-E8A2-442C-9D74-F3E68288FFBF}"/>
              </a:ext>
            </a:extLst>
          </p:cNvPr>
          <p:cNvSpPr>
            <a:spLocks xmlns:a="http://schemas.openxmlformats.org/drawingml/2006/main" noGrp="1"/>
          </p:cNvSpPr>
          <p:nvPr/>
        </p:nvSpPr>
        <p:spPr>
          <a:xfrm xmlns:a="http://schemas.openxmlformats.org/drawingml/2006/main">
            <a:off x="685800" y="2571750"/>
            <a:ext cx="2667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7B5A9A"/>
            </a:solidFill>
            <a:prstDash val="solid"/>
          </a:ln>
        </p:spPr>
      </p:sp>
      <p:sp>
        <p:nvSpPr>
          <p:cNvPr id="13" name="">
            <a:extLst xmlns:a="http://schemas.openxmlformats.org/drawingml/2006/main">
              <a:ext uri="{FF2B5EF4-FFF2-40B4-BE49-F238E27FC236}">
                <a16:creationId xmlns:a16="http://schemas.microsoft.com/office/drawing/2014/main" id="{93A60140-259D-4FDB-8837-F284651928EA}"/>
              </a:ext>
            </a:extLst>
          </p:cNvPr>
          <p:cNvSpPr>
            <a:spLocks xmlns:a="http://schemas.openxmlformats.org/drawingml/2006/main" noGrp="1"/>
          </p:cNvSpPr>
          <p:nvPr/>
        </p:nvSpPr>
        <p:spPr>
          <a:xfrm xmlns:a="http://schemas.openxmlformats.org/drawingml/2006/main">
            <a:off x="800100" y="264795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Weather and altitude</a:t>
            </a:r>
          </a:p>
        </p:txBody>
      </p:sp>
      <p:cxnSp>
        <p:nvCxnSpPr>
          <p:cNvPr id="48" name=""/>
          <p:cNvCxnSpPr>
            <a:stCxn xmlns:a="http://schemas.openxmlformats.org/drawingml/2006/main" id="12" idx="3"/>
            <a:endCxn xmlns:a="http://schemas.openxmlformats.org/drawingml/2006/main" id="5" idx="1"/>
          </p:cNvCxnSpPr>
          <p:nvPr/>
        </p:nvCxnSpPr>
        <p:spPr>
          <a:xfrm xmlns:a="http://schemas.openxmlformats.org/drawingml/2006/main" flipV="1">
            <a:off x="3352800" y="2571750"/>
            <a:ext cx="1219200" cy="314325"/>
          </a:xfrm>
          <a:prstGeom xmlns:a="http://schemas.openxmlformats.org/drawingml/2006/main" prst="bentConnector3">
            <a:avLst>
              <a:gd name="adj1" fmla="val 50000"/>
            </a:avLst>
          </a:prstGeom>
          <a:ln xmlns:a="http://schemas.openxmlformats.org/drawingml/2006/main" w="19050">
            <a:solidFill>
              <a:srgbClr val="7B5A9A"/>
            </a:solidFill>
            <a:prstDash val="solid"/>
            <a:tailEnd type="arrow" w="sm" len="sm"/>
          </a:ln>
        </p:spPr>
      </p:cxnSp>
      <p:sp>
        <p:nvSpPr>
          <p:cNvPr id="15" name="">
            <a:extLst xmlns:a="http://schemas.openxmlformats.org/drawingml/2006/main">
              <a:ext uri="{FF2B5EF4-FFF2-40B4-BE49-F238E27FC236}">
                <a16:creationId xmlns:a16="http://schemas.microsoft.com/office/drawing/2014/main" id="{A21BE5A8-BDA7-4B49-A0A1-1863600289B3}"/>
              </a:ext>
            </a:extLst>
          </p:cNvPr>
          <p:cNvSpPr>
            <a:spLocks xmlns:a="http://schemas.openxmlformats.org/drawingml/2006/main" noGrp="1"/>
          </p:cNvSpPr>
          <p:nvPr/>
        </p:nvSpPr>
        <p:spPr>
          <a:xfrm xmlns:a="http://schemas.openxmlformats.org/drawingml/2006/main">
            <a:off x="685800" y="3524250"/>
            <a:ext cx="2667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2E7C57"/>
            </a:solidFill>
            <a:prstDash val="solid"/>
          </a:ln>
        </p:spPr>
      </p:sp>
      <p:sp>
        <p:nvSpPr>
          <p:cNvPr id="16" name="">
            <a:extLst xmlns:a="http://schemas.openxmlformats.org/drawingml/2006/main">
              <a:ext uri="{FF2B5EF4-FFF2-40B4-BE49-F238E27FC236}">
                <a16:creationId xmlns:a16="http://schemas.microsoft.com/office/drawing/2014/main" id="{F68071DB-6586-4412-AC52-A3334BDC2B53}"/>
              </a:ext>
            </a:extLst>
          </p:cNvPr>
          <p:cNvSpPr>
            <a:spLocks xmlns:a="http://schemas.openxmlformats.org/drawingml/2006/main" noGrp="1"/>
          </p:cNvSpPr>
          <p:nvPr/>
        </p:nvSpPr>
        <p:spPr>
          <a:xfrm xmlns:a="http://schemas.openxmlformats.org/drawingml/2006/main">
            <a:off x="800100" y="360045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Tyres and grip</a:t>
            </a:r>
          </a:p>
        </p:txBody>
      </p:sp>
      <p:cxnSp>
        <p:nvCxnSpPr>
          <p:cNvPr id="51" name=""/>
          <p:cNvCxnSpPr>
            <a:stCxn xmlns:a="http://schemas.openxmlformats.org/drawingml/2006/main" id="15" idx="3"/>
            <a:endCxn xmlns:a="http://schemas.openxmlformats.org/drawingml/2006/main" id="5" idx="1"/>
          </p:cNvCxnSpPr>
          <p:nvPr/>
        </p:nvCxnSpPr>
        <p:spPr>
          <a:xfrm xmlns:a="http://schemas.openxmlformats.org/drawingml/2006/main" flipV="1">
            <a:off x="3352800" y="2571750"/>
            <a:ext cx="1219200" cy="1266825"/>
          </a:xfrm>
          <a:prstGeom xmlns:a="http://schemas.openxmlformats.org/drawingml/2006/main" prst="bentConnector3">
            <a:avLst>
              <a:gd name="adj1" fmla="val 50000"/>
            </a:avLst>
          </a:prstGeom>
          <a:ln xmlns:a="http://schemas.openxmlformats.org/drawingml/2006/main" w="19050">
            <a:solidFill>
              <a:srgbClr val="2E7C57"/>
            </a:solidFill>
            <a:prstDash val="solid"/>
            <a:tailEnd type="arrow" w="sm" len="sm"/>
          </a:ln>
        </p:spPr>
      </p:cxnSp>
      <p:sp>
        <p:nvSpPr>
          <p:cNvPr id="18" name="">
            <a:extLst xmlns:a="http://schemas.openxmlformats.org/drawingml/2006/main">
              <a:ext uri="{FF2B5EF4-FFF2-40B4-BE49-F238E27FC236}">
                <a16:creationId xmlns:a16="http://schemas.microsoft.com/office/drawing/2014/main" id="{9E380AF7-02F0-41F1-9AD2-13075145079B}"/>
              </a:ext>
            </a:extLst>
          </p:cNvPr>
          <p:cNvSpPr>
            <a:spLocks xmlns:a="http://schemas.openxmlformats.org/drawingml/2006/main" noGrp="1"/>
          </p:cNvSpPr>
          <p:nvPr/>
        </p:nvSpPr>
        <p:spPr>
          <a:xfrm xmlns:a="http://schemas.openxmlformats.org/drawingml/2006/main">
            <a:off x="685800" y="4476750"/>
            <a:ext cx="2667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E5A637"/>
            </a:solidFill>
            <a:prstDash val="solid"/>
          </a:ln>
        </p:spPr>
      </p:sp>
      <p:sp>
        <p:nvSpPr>
          <p:cNvPr id="19" name="">
            <a:extLst xmlns:a="http://schemas.openxmlformats.org/drawingml/2006/main">
              <a:ext uri="{FF2B5EF4-FFF2-40B4-BE49-F238E27FC236}">
                <a16:creationId xmlns:a16="http://schemas.microsoft.com/office/drawing/2014/main" id="{6A6774D5-2691-43E0-9D9D-0B7BD30E8833}"/>
              </a:ext>
            </a:extLst>
          </p:cNvPr>
          <p:cNvSpPr>
            <a:spLocks xmlns:a="http://schemas.openxmlformats.org/drawingml/2006/main" noGrp="1"/>
          </p:cNvSpPr>
          <p:nvPr/>
        </p:nvSpPr>
        <p:spPr>
          <a:xfrm xmlns:a="http://schemas.openxmlformats.org/drawingml/2006/main">
            <a:off x="800100" y="455295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Traffic and active aero</a:t>
            </a:r>
          </a:p>
        </p:txBody>
      </p:sp>
      <p:cxnSp>
        <p:nvCxnSpPr>
          <p:cNvPr id="54" name=""/>
          <p:cNvCxnSpPr>
            <a:stCxn xmlns:a="http://schemas.openxmlformats.org/drawingml/2006/main" id="18" idx="3"/>
            <a:endCxn xmlns:a="http://schemas.openxmlformats.org/drawingml/2006/main" id="5" idx="1"/>
          </p:cNvCxnSpPr>
          <p:nvPr/>
        </p:nvCxnSpPr>
        <p:spPr>
          <a:xfrm xmlns:a="http://schemas.openxmlformats.org/drawingml/2006/main" flipV="1">
            <a:off x="3352800" y="2571750"/>
            <a:ext cx="1219200" cy="2219325"/>
          </a:xfrm>
          <a:prstGeom xmlns:a="http://schemas.openxmlformats.org/drawingml/2006/main" prst="bentConnector3">
            <a:avLst>
              <a:gd name="adj1" fmla="val 50000"/>
            </a:avLst>
          </a:prstGeom>
          <a:ln xmlns:a="http://schemas.openxmlformats.org/drawingml/2006/main" w="19050">
            <a:solidFill>
              <a:srgbClr val="E5A637"/>
            </a:solidFill>
            <a:prstDash val="solid"/>
            <a:tailEnd type="arrow" w="sm" len="sm"/>
          </a:ln>
        </p:spPr>
      </p:cxnSp>
      <p:sp>
        <p:nvSpPr>
          <p:cNvPr id="21" name="">
            <a:extLst xmlns:a="http://schemas.openxmlformats.org/drawingml/2006/main">
              <a:ext uri="{FF2B5EF4-FFF2-40B4-BE49-F238E27FC236}">
                <a16:creationId xmlns:a16="http://schemas.microsoft.com/office/drawing/2014/main" id="{E8F9BE91-4CFC-432E-9D82-38EE316C8736}"/>
              </a:ext>
            </a:extLst>
          </p:cNvPr>
          <p:cNvSpPr>
            <a:spLocks xmlns:a="http://schemas.openxmlformats.org/drawingml/2006/main" noGrp="1"/>
          </p:cNvSpPr>
          <p:nvPr/>
        </p:nvSpPr>
        <p:spPr>
          <a:xfrm xmlns:a="http://schemas.openxmlformats.org/drawingml/2006/main">
            <a:off x="8572500" y="2143125"/>
            <a:ext cx="2571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22" name="">
            <a:extLst xmlns:a="http://schemas.openxmlformats.org/drawingml/2006/main">
              <a:ext uri="{FF2B5EF4-FFF2-40B4-BE49-F238E27FC236}">
                <a16:creationId xmlns:a16="http://schemas.microsoft.com/office/drawing/2014/main" id="{80D867E9-F5B6-4457-AE9C-91E72CD0E5A0}"/>
              </a:ext>
            </a:extLst>
          </p:cNvPr>
          <p:cNvSpPr>
            <a:spLocks xmlns:a="http://schemas.openxmlformats.org/drawingml/2006/main" noGrp="1"/>
          </p:cNvSpPr>
          <p:nvPr/>
        </p:nvSpPr>
        <p:spPr>
          <a:xfrm xmlns:a="http://schemas.openxmlformats.org/drawingml/2006/main">
            <a:off x="8686800" y="2219325"/>
            <a:ext cx="2343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Feasible power</a:t>
            </a:r>
          </a:p>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and recovery</a:t>
            </a:r>
          </a:p>
        </p:txBody>
      </p:sp>
      <p:sp>
        <p:nvSpPr>
          <p:cNvPr id="23" name="">
            <a:extLst xmlns:a="http://schemas.openxmlformats.org/drawingml/2006/main">
              <a:ext uri="{FF2B5EF4-FFF2-40B4-BE49-F238E27FC236}">
                <a16:creationId xmlns:a16="http://schemas.microsoft.com/office/drawing/2014/main" id="{B9C7DD05-EAE3-4E2A-A278-EB251609F86E}"/>
              </a:ext>
            </a:extLst>
          </p:cNvPr>
          <p:cNvSpPr>
            <a:spLocks xmlns:a="http://schemas.openxmlformats.org/drawingml/2006/main" noGrp="1"/>
          </p:cNvSpPr>
          <p:nvPr/>
        </p:nvSpPr>
        <p:spPr>
          <a:xfrm xmlns:a="http://schemas.openxmlformats.org/drawingml/2006/main">
            <a:off x="8572500" y="3952875"/>
            <a:ext cx="2571750" cy="857250"/>
          </a:xfrm>
          <a:prstGeom xmlns:a="http://schemas.openxmlformats.org/drawingml/2006/main" prst="rect">
            <a:avLst/>
          </a:prstGeom>
          <a:solidFill xmlns:a="http://schemas.openxmlformats.org/drawingml/2006/main">
            <a:srgbClr val="E5F0EA"/>
          </a:solidFill>
          <a:ln xmlns:a="http://schemas.openxmlformats.org/drawingml/2006/main" w="9525">
            <a:solidFill>
              <a:srgbClr val="2E7C57"/>
            </a:solidFill>
            <a:prstDash val="solid"/>
          </a:ln>
        </p:spPr>
      </p:sp>
      <p:sp>
        <p:nvSpPr>
          <p:cNvPr id="24" name="">
            <a:extLst xmlns:a="http://schemas.openxmlformats.org/drawingml/2006/main">
              <a:ext uri="{FF2B5EF4-FFF2-40B4-BE49-F238E27FC236}">
                <a16:creationId xmlns:a16="http://schemas.microsoft.com/office/drawing/2014/main" id="{F3E79ED1-B5F7-44C1-8D3A-C0EA7E6A29B6}"/>
              </a:ext>
            </a:extLst>
          </p:cNvPr>
          <p:cNvSpPr>
            <a:spLocks xmlns:a="http://schemas.openxmlformats.org/drawingml/2006/main" noGrp="1"/>
          </p:cNvSpPr>
          <p:nvPr/>
        </p:nvSpPr>
        <p:spPr>
          <a:xfrm xmlns:a="http://schemas.openxmlformats.org/drawingml/2006/main">
            <a:off x="8686800" y="4029075"/>
            <a:ext cx="2343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Pass and retained</a:t>
            </a:r>
          </a:p>
          <a:p xmlns:a="http://schemas.openxmlformats.org/drawingml/2006/main">
            <a:pPr algn="ctr">
              <a:defRPr sz="1650" b="1">
                <a:solidFill>
                  <a:srgbClr val="17212B"/>
                </a:solidFill>
                <a:latin typeface="Arial"/>
                <a:ea typeface="Arial"/>
                <a:cs typeface="Arial"/>
              </a:defRPr>
            </a:pPr>
            <a:r>
              <a:rPr sz="1650" b="1">
                <a:solidFill>
                  <a:srgbClr val="17212B"/>
                </a:solidFill>
                <a:latin typeface="Arial"/>
                <a:ea typeface="Arial"/>
                <a:cs typeface="Arial"/>
              </a:rPr>
              <a:t>position</a:t>
            </a:r>
          </a:p>
        </p:txBody>
      </p:sp>
      <p:cxnSp>
        <p:nvCxnSpPr>
          <p:cNvPr id="59" name=""/>
          <p:cNvCxnSpPr>
            <a:stCxn xmlns:a="http://schemas.openxmlformats.org/drawingml/2006/main" id="5" idx="2"/>
            <a:endCxn xmlns:a="http://schemas.openxmlformats.org/drawingml/2006/main" id="7" idx="0"/>
          </p:cNvCxnSpPr>
          <p:nvPr/>
        </p:nvCxnSpPr>
        <p:spPr>
          <a:xfrm xmlns:a="http://schemas.openxmlformats.org/drawingml/2006/main">
            <a:off x="6000750" y="3048000"/>
            <a:ext cx="0" cy="85725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60" name=""/>
          <p:cNvCxnSpPr>
            <a:stCxn xmlns:a="http://schemas.openxmlformats.org/drawingml/2006/main" id="5" idx="3"/>
            <a:endCxn xmlns:a="http://schemas.openxmlformats.org/drawingml/2006/main" id="21" idx="1"/>
          </p:cNvCxnSpPr>
          <p:nvPr/>
        </p:nvCxnSpPr>
        <p:spPr>
          <a:xfrm xmlns:a="http://schemas.openxmlformats.org/drawingml/2006/main">
            <a:off x="7429500" y="2571750"/>
            <a:ext cx="11430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61" name=""/>
          <p:cNvCxnSpPr>
            <a:stCxn xmlns:a="http://schemas.openxmlformats.org/drawingml/2006/main" id="7" idx="3"/>
            <a:endCxn xmlns:a="http://schemas.openxmlformats.org/drawingml/2006/main" id="21" idx="1"/>
          </p:cNvCxnSpPr>
          <p:nvPr/>
        </p:nvCxnSpPr>
        <p:spPr>
          <a:xfrm xmlns:a="http://schemas.openxmlformats.org/drawingml/2006/main" flipV="1">
            <a:off x="7429500" y="2571750"/>
            <a:ext cx="1143000" cy="1809750"/>
          </a:xfrm>
          <a:prstGeom xmlns:a="http://schemas.openxmlformats.org/drawingml/2006/main" prst="bentConnector3">
            <a:avLst>
              <a:gd name="adj1" fmla="val 50000"/>
            </a:avLst>
          </a:prstGeom>
          <a:ln xmlns:a="http://schemas.openxmlformats.org/drawingml/2006/main" w="19050">
            <a:solidFill>
              <a:srgbClr val="1768C4"/>
            </a:solidFill>
            <a:prstDash val="solid"/>
            <a:tailEnd type="arrow" w="sm" len="sm"/>
          </a:ln>
        </p:spPr>
      </p:cxnSp>
      <p:cxnSp>
        <p:nvCxnSpPr>
          <p:cNvPr id="62" name=""/>
          <p:cNvCxnSpPr>
            <a:stCxn xmlns:a="http://schemas.openxmlformats.org/drawingml/2006/main" id="21" idx="2"/>
            <a:endCxn xmlns:a="http://schemas.openxmlformats.org/drawingml/2006/main" id="23" idx="0"/>
          </p:cNvCxnSpPr>
          <p:nvPr/>
        </p:nvCxnSpPr>
        <p:spPr>
          <a:xfrm xmlns:a="http://schemas.openxmlformats.org/drawingml/2006/main">
            <a:off x="9858375" y="3000375"/>
            <a:ext cx="0" cy="952500"/>
          </a:xfrm>
          <a:prstGeom xmlns:a="http://schemas.openxmlformats.org/drawingml/2006/main" prst="straightConnector1">
            <a:avLst/>
          </a:prstGeom>
          <a:ln xmlns:a="http://schemas.openxmlformats.org/drawingml/2006/main" w="19050">
            <a:solidFill>
              <a:srgbClr val="2E7C57"/>
            </a:solidFill>
            <a:prstDash val="solid"/>
            <a:tailEnd type="arrow" w="sm" len="sm"/>
          </a:ln>
        </p:spPr>
      </p:cxnSp>
      <p:sp>
        <p:nvSpPr>
          <p:cNvPr id="29" name="">
            <a:extLst xmlns:a="http://schemas.openxmlformats.org/drawingml/2006/main">
              <a:ext uri="{FF2B5EF4-FFF2-40B4-BE49-F238E27FC236}">
                <a16:creationId xmlns:a16="http://schemas.microsoft.com/office/drawing/2014/main" id="{06F3367C-A5E9-4EBD-9999-1D90BD26BD0A}"/>
              </a:ext>
            </a:extLst>
          </p:cNvPr>
          <p:cNvSpPr>
            <a:spLocks xmlns:a="http://schemas.openxmlformats.org/drawingml/2006/main" noGrp="1"/>
          </p:cNvSpPr>
          <p:nvPr/>
        </p:nvSpPr>
        <p:spPr>
          <a:xfrm xmlns:a="http://schemas.openxmlformats.org/drawingml/2006/main">
            <a:off x="8667750" y="14287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B63B42"/>
                </a:solidFill>
                <a:latin typeface="Arial"/>
                <a:ea typeface="Arial"/>
                <a:cs typeface="Arial"/>
              </a:defRPr>
            </a:pPr>
            <a:r>
              <a:rPr sz="1350" b="1">
                <a:solidFill>
                  <a:srgbClr val="B63B42"/>
                </a:solidFill>
                <a:latin typeface="Arial"/>
                <a:ea typeface="Arial"/>
                <a:cs typeface="Arial"/>
              </a:rPr>
              <a:t>Rules and flags</a:t>
            </a:r>
          </a:p>
        </p:txBody>
      </p:sp>
      <p:sp>
        <p:nvSpPr>
          <p:cNvPr id="30" name="">
            <a:extLst xmlns:a="http://schemas.openxmlformats.org/drawingml/2006/main">
              <a:ext uri="{FF2B5EF4-FFF2-40B4-BE49-F238E27FC236}">
                <a16:creationId xmlns:a16="http://schemas.microsoft.com/office/drawing/2014/main" id="{451D855A-D098-4370-9306-23154853CA3D}"/>
              </a:ext>
            </a:extLst>
          </p:cNvPr>
          <p:cNvSpPr>
            <a:spLocks xmlns:a="http://schemas.openxmlformats.org/drawingml/2006/main" noGrp="1"/>
          </p:cNvSpPr>
          <p:nvPr/>
        </p:nvSpPr>
        <p:spPr>
          <a:xfrm xmlns:a="http://schemas.openxmlformats.org/drawingml/2006/main">
            <a:off x="8191500" y="50958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5D6872"/>
                </a:solidFill>
                <a:latin typeface="Arial"/>
                <a:ea typeface="Arial"/>
                <a:cs typeface="Arial"/>
              </a:defRPr>
            </a:pPr>
            <a:r>
              <a:rPr sz="1350" b="1">
                <a:solidFill>
                  <a:srgbClr val="5D6872"/>
                </a:solidFill>
                <a:latin typeface="Arial"/>
                <a:ea typeface="Arial"/>
                <a:cs typeface="Arial"/>
              </a:rPr>
              <a:t>Rival response and driver delay</a:t>
            </a:r>
          </a:p>
        </p:txBody>
      </p:sp>
      <p:sp>
        <p:nvSpPr>
          <p:cNvPr id="31" name="">
            <a:extLst xmlns:a="http://schemas.openxmlformats.org/drawingml/2006/main">
              <a:ext uri="{FF2B5EF4-FFF2-40B4-BE49-F238E27FC236}">
                <a16:creationId xmlns:a16="http://schemas.microsoft.com/office/drawing/2014/main" id="{98AFA046-078A-4595-BB23-A6CC56C3BE1C}"/>
              </a:ext>
            </a:extLst>
          </p:cNvPr>
          <p:cNvSpPr>
            <a:spLocks xmlns:a="http://schemas.openxmlformats.org/drawingml/2006/main" noGrp="1"/>
          </p:cNvSpPr>
          <p:nvPr/>
        </p:nvSpPr>
        <p:spPr>
          <a:xfrm xmlns:a="http://schemas.openxmlformats.org/drawingml/2006/main">
            <a:off x="2905125" y="56673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57"/>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Observed estimates feed the policy. Future weather and hidden rival energy stay unavailable.</a:t>
            </a:r>
          </a:p>
        </p:txBody>
      </p:sp>
      <p:sp>
        <p:nvSpPr>
          <p:cNvPr id="32" name="">
            <a:extLst xmlns:a="http://schemas.openxmlformats.org/drawingml/2006/main">
              <a:ext uri="{FF2B5EF4-FFF2-40B4-BE49-F238E27FC236}">
                <a16:creationId xmlns:a16="http://schemas.microsoft.com/office/drawing/2014/main" id="{A70EA892-AA66-4543-9FE8-D75C458FD72F}"/>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33" name="">
            <a:extLst xmlns:a="http://schemas.openxmlformats.org/drawingml/2006/main">
              <a:ext uri="{FF2B5EF4-FFF2-40B4-BE49-F238E27FC236}">
                <a16:creationId xmlns:a16="http://schemas.microsoft.com/office/drawing/2014/main" id="{52D311C1-522A-4BDA-8B67-110441FE616F}"/>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34" name="">
            <a:extLst xmlns:a="http://schemas.openxmlformats.org/drawingml/2006/main">
              <a:ext uri="{FF2B5EF4-FFF2-40B4-BE49-F238E27FC236}">
                <a16:creationId xmlns:a16="http://schemas.microsoft.com/office/drawing/2014/main" id="{1993586D-959C-4C84-8330-40E1A9B1B216}"/>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7</a:t>
            </a:r>
          </a:p>
        </p:txBody>
      </p:sp>
    </p:spTree>
    <p:extLst>
      <p:ext uri="{BB962C8B-B14F-4D97-AF65-F5344CB8AC3E}">
        <p14:creationId xmlns:p14="http://schemas.microsoft.com/office/powerpoint/2010/main" val="108693710"/>
      </p:ext>
    </p:extLst>
  </p:cSld>
</p:sld>
</file>

<file path=ppt/slides/slide8.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316890F-B800-4488-96A8-10C8FBD5F335}"/>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F8182D80-DD8E-4C6A-A9EE-C9A9A6742B51}"/>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Deployment and regeneration physics</a:t>
            </a:r>
          </a:p>
        </p:txBody>
      </p:sp>
      <p:sp>
        <p:nvSpPr>
          <p:cNvPr id="3" name="">
            <a:extLst xmlns:a="http://schemas.openxmlformats.org/drawingml/2006/main">
              <a:ext uri="{FF2B5EF4-FFF2-40B4-BE49-F238E27FC236}">
                <a16:creationId xmlns:a16="http://schemas.microsoft.com/office/drawing/2014/main" id="{3594EA6D-F4E0-4234-8639-71F18D7B6A1A}"/>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Energy moves through explicit physical and regulatory limits</a:t>
            </a:r>
          </a:p>
        </p:txBody>
      </p:sp>
      <p:sp>
        <p:nvSpPr>
          <p:cNvPr id="4" name="">
            <a:extLst xmlns:a="http://schemas.openxmlformats.org/drawingml/2006/main">
              <a:ext uri="{FF2B5EF4-FFF2-40B4-BE49-F238E27FC236}">
                <a16:creationId xmlns:a16="http://schemas.microsoft.com/office/drawing/2014/main" id="{F260C596-BB2B-4B02-B9A2-05653BFF7A83}"/>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2FFC9DAF-3A34-4600-86AD-06F2B5BE77EA}"/>
              </a:ext>
            </a:extLst>
          </p:cNvPr>
          <p:cNvSpPr>
            <a:spLocks xmlns:a="http://schemas.openxmlformats.org/drawingml/2006/main" noGrp="1"/>
          </p:cNvSpPr>
          <p:nvPr/>
        </p:nvSpPr>
        <p:spPr>
          <a:xfrm xmlns:a="http://schemas.openxmlformats.org/drawingml/2006/main">
            <a:off x="4762500" y="2524125"/>
            <a:ext cx="2667000" cy="1095375"/>
          </a:xfrm>
          <a:prstGeom xmlns:a="http://schemas.openxmlformats.org/drawingml/2006/main" prst="rect">
            <a:avLst/>
          </a:prstGeom>
          <a:solidFill xmlns:a="http://schemas.openxmlformats.org/drawingml/2006/main">
            <a:srgbClr val="FFF3DC"/>
          </a:solidFill>
          <a:ln xmlns:a="http://schemas.openxmlformats.org/drawingml/2006/main" w="9525">
            <a:solidFill>
              <a:srgbClr val="E5A637"/>
            </a:solidFill>
            <a:prstDash val="solid"/>
          </a:ln>
        </p:spPr>
      </p:sp>
      <p:sp>
        <p:nvSpPr>
          <p:cNvPr id="6" name="">
            <a:extLst xmlns:a="http://schemas.openxmlformats.org/drawingml/2006/main">
              <a:ext uri="{FF2B5EF4-FFF2-40B4-BE49-F238E27FC236}">
                <a16:creationId xmlns:a16="http://schemas.microsoft.com/office/drawing/2014/main" id="{1CEFEBD8-1130-4BD4-B101-202FCA459FF1}"/>
              </a:ext>
            </a:extLst>
          </p:cNvPr>
          <p:cNvSpPr>
            <a:spLocks xmlns:a="http://schemas.openxmlformats.org/drawingml/2006/main" noGrp="1"/>
          </p:cNvSpPr>
          <p:nvPr/>
        </p:nvSpPr>
        <p:spPr>
          <a:xfrm xmlns:a="http://schemas.openxmlformats.org/drawingml/2006/main">
            <a:off x="4876800" y="2600325"/>
            <a:ext cx="24384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7212B"/>
                </a:solidFill>
                <a:latin typeface="Arial"/>
                <a:ea typeface="Arial"/>
                <a:cs typeface="Arial"/>
              </a:defRPr>
            </a:pPr>
            <a:r>
              <a:rPr sz="1725" b="1">
                <a:solidFill>
                  <a:srgbClr val="17212B"/>
                </a:solidFill>
                <a:latin typeface="Arial"/>
                <a:ea typeface="Arial"/>
                <a:cs typeface="Arial"/>
              </a:rPr>
              <a:t>Energy store</a:t>
            </a:r>
          </a:p>
          <a:p xmlns:a="http://schemas.openxmlformats.org/drawingml/2006/main">
            <a:pPr algn="ctr">
              <a:defRPr sz="1725" b="1">
                <a:solidFill>
                  <a:srgbClr val="17212B"/>
                </a:solidFill>
                <a:latin typeface="Arial"/>
                <a:ea typeface="Arial"/>
                <a:cs typeface="Arial"/>
              </a:defRPr>
            </a:pPr>
            <a:r>
              <a:rPr sz="1725" b="1">
                <a:solidFill>
                  <a:srgbClr val="17212B"/>
                </a:solidFill>
                <a:latin typeface="Arial"/>
                <a:ea typeface="Arial"/>
                <a:cs typeface="Arial"/>
              </a:rPr>
              <a:t>SOC and temperature</a:t>
            </a:r>
          </a:p>
        </p:txBody>
      </p:sp>
      <p:sp>
        <p:nvSpPr>
          <p:cNvPr id="7" name="">
            <a:extLst xmlns:a="http://schemas.openxmlformats.org/drawingml/2006/main">
              <a:ext uri="{FF2B5EF4-FFF2-40B4-BE49-F238E27FC236}">
                <a16:creationId xmlns:a16="http://schemas.microsoft.com/office/drawing/2014/main" id="{18A89421-50C2-4AE8-88EF-61FFEA6BBB66}"/>
              </a:ext>
            </a:extLst>
          </p:cNvPr>
          <p:cNvSpPr>
            <a:spLocks xmlns:a="http://schemas.openxmlformats.org/drawingml/2006/main" noGrp="1"/>
          </p:cNvSpPr>
          <p:nvPr/>
        </p:nvSpPr>
        <p:spPr>
          <a:xfrm xmlns:a="http://schemas.openxmlformats.org/drawingml/2006/main">
            <a:off x="8191500" y="1714500"/>
            <a:ext cx="2667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1768C4"/>
            </a:solidFill>
            <a:prstDash val="solid"/>
          </a:ln>
        </p:spPr>
      </p:sp>
      <p:sp>
        <p:nvSpPr>
          <p:cNvPr id="8" name="">
            <a:extLst xmlns:a="http://schemas.openxmlformats.org/drawingml/2006/main">
              <a:ext uri="{FF2B5EF4-FFF2-40B4-BE49-F238E27FC236}">
                <a16:creationId xmlns:a16="http://schemas.microsoft.com/office/drawing/2014/main" id="{FE433A49-C248-49AA-A576-A6613FB9838F}"/>
              </a:ext>
            </a:extLst>
          </p:cNvPr>
          <p:cNvSpPr>
            <a:spLocks xmlns:a="http://schemas.openxmlformats.org/drawingml/2006/main" noGrp="1"/>
          </p:cNvSpPr>
          <p:nvPr/>
        </p:nvSpPr>
        <p:spPr>
          <a:xfrm xmlns:a="http://schemas.openxmlformats.org/drawingml/2006/main">
            <a:off x="8305800" y="1790700"/>
            <a:ext cx="243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ERS-K drive</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speed-dependent ceiling</a:t>
            </a:r>
          </a:p>
        </p:txBody>
      </p:sp>
      <p:sp>
        <p:nvSpPr>
          <p:cNvPr id="9" name="">
            <a:extLst xmlns:a="http://schemas.openxmlformats.org/drawingml/2006/main">
              <a:ext uri="{FF2B5EF4-FFF2-40B4-BE49-F238E27FC236}">
                <a16:creationId xmlns:a16="http://schemas.microsoft.com/office/drawing/2014/main" id="{352BE855-11B2-4AF2-B7CF-8DF6D88CE30C}"/>
              </a:ext>
            </a:extLst>
          </p:cNvPr>
          <p:cNvSpPr>
            <a:spLocks xmlns:a="http://schemas.openxmlformats.org/drawingml/2006/main" noGrp="1"/>
          </p:cNvSpPr>
          <p:nvPr/>
        </p:nvSpPr>
        <p:spPr>
          <a:xfrm xmlns:a="http://schemas.openxmlformats.org/drawingml/2006/main">
            <a:off x="8191500" y="3810000"/>
            <a:ext cx="2667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0" name="">
            <a:extLst xmlns:a="http://schemas.openxmlformats.org/drawingml/2006/main">
              <a:ext uri="{FF2B5EF4-FFF2-40B4-BE49-F238E27FC236}">
                <a16:creationId xmlns:a16="http://schemas.microsoft.com/office/drawing/2014/main" id="{47873E7D-18B6-40D0-B42E-441493A29C1A}"/>
              </a:ext>
            </a:extLst>
          </p:cNvPr>
          <p:cNvSpPr>
            <a:spLocks xmlns:a="http://schemas.openxmlformats.org/drawingml/2006/main" noGrp="1"/>
          </p:cNvSpPr>
          <p:nvPr/>
        </p:nvSpPr>
        <p:spPr>
          <a:xfrm xmlns:a="http://schemas.openxmlformats.org/drawingml/2006/main">
            <a:off x="8305800" y="3886200"/>
            <a:ext cx="243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44"/>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Wheel demand</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drag, grade and acceleration</a:t>
            </a:r>
          </a:p>
        </p:txBody>
      </p:sp>
      <p:sp>
        <p:nvSpPr>
          <p:cNvPr id="11" name="">
            <a:extLst xmlns:a="http://schemas.openxmlformats.org/drawingml/2006/main">
              <a:ext uri="{FF2B5EF4-FFF2-40B4-BE49-F238E27FC236}">
                <a16:creationId xmlns:a16="http://schemas.microsoft.com/office/drawing/2014/main" id="{654BA2DA-EAB7-49C4-ABA7-92F62F5BEFB7}"/>
              </a:ext>
            </a:extLst>
          </p:cNvPr>
          <p:cNvSpPr>
            <a:spLocks xmlns:a="http://schemas.openxmlformats.org/drawingml/2006/main" noGrp="1"/>
          </p:cNvSpPr>
          <p:nvPr/>
        </p:nvSpPr>
        <p:spPr>
          <a:xfrm xmlns:a="http://schemas.openxmlformats.org/drawingml/2006/main">
            <a:off x="857250" y="3810000"/>
            <a:ext cx="2667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2E7C57"/>
            </a:solidFill>
            <a:prstDash val="solid"/>
          </a:ln>
        </p:spPr>
      </p:sp>
      <p:sp>
        <p:nvSpPr>
          <p:cNvPr id="12" name="">
            <a:extLst xmlns:a="http://schemas.openxmlformats.org/drawingml/2006/main">
              <a:ext uri="{FF2B5EF4-FFF2-40B4-BE49-F238E27FC236}">
                <a16:creationId xmlns:a16="http://schemas.microsoft.com/office/drawing/2014/main" id="{B5350E9B-383B-429F-9D02-B6EDA1124588}"/>
              </a:ext>
            </a:extLst>
          </p:cNvPr>
          <p:cNvSpPr>
            <a:spLocks xmlns:a="http://schemas.openxmlformats.org/drawingml/2006/main" noGrp="1"/>
          </p:cNvSpPr>
          <p:nvPr/>
        </p:nvSpPr>
        <p:spPr>
          <a:xfrm xmlns:a="http://schemas.openxmlformats.org/drawingml/2006/main">
            <a:off x="971550" y="3886200"/>
            <a:ext cx="243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Braking work</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grip and stability</a:t>
            </a:r>
          </a:p>
        </p:txBody>
      </p:sp>
      <p:sp>
        <p:nvSpPr>
          <p:cNvPr id="13" name="">
            <a:extLst xmlns:a="http://schemas.openxmlformats.org/drawingml/2006/main">
              <a:ext uri="{FF2B5EF4-FFF2-40B4-BE49-F238E27FC236}">
                <a16:creationId xmlns:a16="http://schemas.microsoft.com/office/drawing/2014/main" id="{3AFD6E1F-5007-489D-B017-F558DBC2650C}"/>
              </a:ext>
            </a:extLst>
          </p:cNvPr>
          <p:cNvSpPr>
            <a:spLocks xmlns:a="http://schemas.openxmlformats.org/drawingml/2006/main" noGrp="1"/>
          </p:cNvSpPr>
          <p:nvPr/>
        </p:nvSpPr>
        <p:spPr>
          <a:xfrm xmlns:a="http://schemas.openxmlformats.org/drawingml/2006/main">
            <a:off x="857250" y="1714500"/>
            <a:ext cx="2667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2E7C57"/>
            </a:solidFill>
            <a:prstDash val="solid"/>
          </a:ln>
        </p:spPr>
      </p:sp>
      <p:sp>
        <p:nvSpPr>
          <p:cNvPr id="14" name="">
            <a:extLst xmlns:a="http://schemas.openxmlformats.org/drawingml/2006/main">
              <a:ext uri="{FF2B5EF4-FFF2-40B4-BE49-F238E27FC236}">
                <a16:creationId xmlns:a16="http://schemas.microsoft.com/office/drawing/2014/main" id="{3B8F3742-2F13-4599-810F-610935FAAA71}"/>
              </a:ext>
            </a:extLst>
          </p:cNvPr>
          <p:cNvSpPr>
            <a:spLocks xmlns:a="http://schemas.openxmlformats.org/drawingml/2006/main" noGrp="1"/>
          </p:cNvSpPr>
          <p:nvPr/>
        </p:nvSpPr>
        <p:spPr>
          <a:xfrm xmlns:a="http://schemas.openxmlformats.org/drawingml/2006/main">
            <a:off x="971550" y="1790700"/>
            <a:ext cx="243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44"/>
          </a:bodyPr>
          <a:lstStyle xmlns:a="http://schemas.openxmlformats.org/drawingml/2006/main"/>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Recharge path</a:t>
            </a:r>
          </a:p>
          <a:p xmlns:a="http://schemas.openxmlformats.org/drawingml/2006/main">
            <a:pPr algn="ctr">
              <a:defRPr sz="1500" b="1">
                <a:solidFill>
                  <a:srgbClr val="17212B"/>
                </a:solidFill>
                <a:latin typeface="Arial"/>
                <a:ea typeface="Arial"/>
                <a:cs typeface="Arial"/>
              </a:defRPr>
            </a:pPr>
            <a:r>
              <a:rPr sz="1500" b="1">
                <a:solidFill>
                  <a:srgbClr val="17212B"/>
                </a:solidFill>
                <a:latin typeface="Arial"/>
                <a:ea typeface="Arial"/>
                <a:cs typeface="Arial"/>
              </a:rPr>
              <a:t>motor, battery and lap ledger</a:t>
            </a:r>
          </a:p>
        </p:txBody>
      </p:sp>
      <p:cxnSp>
        <p:nvCxnSpPr>
          <p:cNvPr id="39" name=""/>
          <p:cNvCxnSpPr>
            <a:stCxn xmlns:a="http://schemas.openxmlformats.org/drawingml/2006/main" id="5" idx="3"/>
            <a:endCxn xmlns:a="http://schemas.openxmlformats.org/drawingml/2006/main" id="7" idx="1"/>
          </p:cNvCxnSpPr>
          <p:nvPr/>
        </p:nvCxnSpPr>
        <p:spPr>
          <a:xfrm xmlns:a="http://schemas.openxmlformats.org/drawingml/2006/main" flipV="1">
            <a:off x="7429500" y="2143125"/>
            <a:ext cx="762000" cy="928688"/>
          </a:xfrm>
          <a:prstGeom xmlns:a="http://schemas.openxmlformats.org/drawingml/2006/main" prst="bentConnector3">
            <a:avLst>
              <a:gd name="adj1" fmla="val 50000"/>
            </a:avLst>
          </a:prstGeom>
          <a:ln xmlns:a="http://schemas.openxmlformats.org/drawingml/2006/main" w="19050">
            <a:solidFill>
              <a:srgbClr val="1768C4"/>
            </a:solidFill>
            <a:prstDash val="solid"/>
            <a:tailEnd type="arrow" w="sm" len="sm"/>
          </a:ln>
        </p:spPr>
      </p:cxnSp>
      <p:cxnSp>
        <p:nvCxnSpPr>
          <p:cNvPr id="40" name=""/>
          <p:cNvCxnSpPr>
            <a:stCxn xmlns:a="http://schemas.openxmlformats.org/drawingml/2006/main" id="7" idx="2"/>
            <a:endCxn xmlns:a="http://schemas.openxmlformats.org/drawingml/2006/main" id="9" idx="0"/>
          </p:cNvCxnSpPr>
          <p:nvPr/>
        </p:nvCxnSpPr>
        <p:spPr>
          <a:xfrm xmlns:a="http://schemas.openxmlformats.org/drawingml/2006/main">
            <a:off x="9525000" y="2571750"/>
            <a:ext cx="0" cy="123825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41" name=""/>
          <p:cNvCxnSpPr>
            <a:stCxn xmlns:a="http://schemas.openxmlformats.org/drawingml/2006/main" id="9" idx="1"/>
            <a:endCxn xmlns:a="http://schemas.openxmlformats.org/drawingml/2006/main" id="11" idx="3"/>
          </p:cNvCxnSpPr>
          <p:nvPr/>
        </p:nvCxnSpPr>
        <p:spPr>
          <a:xfrm xmlns:a="http://schemas.openxmlformats.org/drawingml/2006/main" flipH="1">
            <a:off x="3524250" y="4238625"/>
            <a:ext cx="4667250" cy="0"/>
          </a:xfrm>
          <a:prstGeom xmlns:a="http://schemas.openxmlformats.org/drawingml/2006/main" prst="straightConnector1">
            <a:avLst/>
          </a:prstGeom>
          <a:ln xmlns:a="http://schemas.openxmlformats.org/drawingml/2006/main" w="19050">
            <a:solidFill>
              <a:srgbClr val="5D6872"/>
            </a:solidFill>
            <a:prstDash val="solid"/>
            <a:tailEnd type="arrow" w="sm" len="sm"/>
          </a:ln>
        </p:spPr>
      </p:cxnSp>
      <p:cxnSp>
        <p:nvCxnSpPr>
          <p:cNvPr id="42" name=""/>
          <p:cNvCxnSpPr>
            <a:stCxn xmlns:a="http://schemas.openxmlformats.org/drawingml/2006/main" id="11" idx="0"/>
            <a:endCxn xmlns:a="http://schemas.openxmlformats.org/drawingml/2006/main" id="13" idx="2"/>
          </p:cNvCxnSpPr>
          <p:nvPr/>
        </p:nvCxnSpPr>
        <p:spPr>
          <a:xfrm xmlns:a="http://schemas.openxmlformats.org/drawingml/2006/main" flipV="1">
            <a:off x="2190750" y="2571750"/>
            <a:ext cx="0" cy="1238250"/>
          </a:xfrm>
          <a:prstGeom xmlns:a="http://schemas.openxmlformats.org/drawingml/2006/main" prst="straightConnector1">
            <a:avLst/>
          </a:prstGeom>
          <a:ln xmlns:a="http://schemas.openxmlformats.org/drawingml/2006/main" w="19050">
            <a:solidFill>
              <a:srgbClr val="2E7C57"/>
            </a:solidFill>
            <a:prstDash val="solid"/>
            <a:tailEnd type="arrow" w="sm" len="sm"/>
          </a:ln>
        </p:spPr>
      </p:cxnSp>
      <p:cxnSp>
        <p:nvCxnSpPr>
          <p:cNvPr id="43" name=""/>
          <p:cNvCxnSpPr>
            <a:stCxn xmlns:a="http://schemas.openxmlformats.org/drawingml/2006/main" id="13" idx="3"/>
            <a:endCxn xmlns:a="http://schemas.openxmlformats.org/drawingml/2006/main" id="5" idx="1"/>
          </p:cNvCxnSpPr>
          <p:nvPr/>
        </p:nvCxnSpPr>
        <p:spPr>
          <a:xfrm xmlns:a="http://schemas.openxmlformats.org/drawingml/2006/main">
            <a:off x="3524250" y="2143125"/>
            <a:ext cx="1238250" cy="928688"/>
          </a:xfrm>
          <a:prstGeom xmlns:a="http://schemas.openxmlformats.org/drawingml/2006/main" prst="bentConnector3">
            <a:avLst>
              <a:gd name="adj1" fmla="val 50000"/>
            </a:avLst>
          </a:prstGeom>
          <a:ln xmlns:a="http://schemas.openxmlformats.org/drawingml/2006/main" w="19050">
            <a:solidFill>
              <a:srgbClr val="2E7C57"/>
            </a:solidFill>
            <a:prstDash val="solid"/>
            <a:tailEnd type="arrow" w="sm" len="sm"/>
          </a:ln>
        </p:spPr>
      </p:cxnSp>
      <p:sp>
        <p:nvSpPr>
          <p:cNvPr id="20" name="">
            <a:extLst xmlns:a="http://schemas.openxmlformats.org/drawingml/2006/main">
              <a:ext uri="{FF2B5EF4-FFF2-40B4-BE49-F238E27FC236}">
                <a16:creationId xmlns:a16="http://schemas.microsoft.com/office/drawing/2014/main" id="{20C0F374-6570-4E31-9E07-36BCC0E51639}"/>
              </a:ext>
            </a:extLst>
          </p:cNvPr>
          <p:cNvSpPr>
            <a:spLocks xmlns:a="http://schemas.openxmlformats.org/drawingml/2006/main" noGrp="1"/>
          </p:cNvSpPr>
          <p:nvPr/>
        </p:nvSpPr>
        <p:spPr>
          <a:xfrm xmlns:a="http://schemas.openxmlformats.org/drawingml/2006/main">
            <a:off x="2428875" y="5095875"/>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146"/>
          </a:bodyPr>
          <a:lstStyle xmlns:a="http://schemas.openxmlformats.org/drawingml/2006/main"/>
          <a:p xmlns:a="http://schemas.openxmlformats.org/drawingml/2006/main">
            <a:pPr algn="ctr">
              <a:defRPr sz="2025" b="1">
                <a:solidFill>
                  <a:srgbClr val="17212B"/>
                </a:solidFill>
                <a:latin typeface="Arial"/>
                <a:ea typeface="Arial"/>
                <a:cs typeface="Arial"/>
              </a:defRPr>
            </a:pPr>
            <a:r>
              <a:rPr sz="2025" b="1">
                <a:solidFill>
                  <a:srgbClr val="17212B"/>
                </a:solidFill>
                <a:latin typeface="Arial"/>
                <a:ea typeface="Arial"/>
                <a:cs typeface="Arial"/>
              </a:rPr>
              <a:t>dE/dt = −Pdrive / ηdischarge + ηcharge × Precharge − Paux</a:t>
            </a:r>
          </a:p>
        </p:txBody>
      </p:sp>
      <p:sp>
        <p:nvSpPr>
          <p:cNvPr id="21" name="">
            <a:extLst xmlns:a="http://schemas.openxmlformats.org/drawingml/2006/main">
              <a:ext uri="{FF2B5EF4-FFF2-40B4-BE49-F238E27FC236}">
                <a16:creationId xmlns:a16="http://schemas.microsoft.com/office/drawing/2014/main" id="{7E51F366-D0AA-4FC7-A534-1148570E19E0}"/>
              </a:ext>
            </a:extLst>
          </p:cNvPr>
          <p:cNvSpPr>
            <a:spLocks xmlns:a="http://schemas.openxmlformats.org/drawingml/2006/main" noGrp="1"/>
          </p:cNvSpPr>
          <p:nvPr/>
        </p:nvSpPr>
        <p:spPr>
          <a:xfrm xmlns:a="http://schemas.openxmlformats.org/drawingml/2006/main">
            <a:off x="1762125" y="5695950"/>
            <a:ext cx="866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B63B42"/>
                </a:solidFill>
                <a:latin typeface="Arial"/>
                <a:ea typeface="Arial"/>
                <a:cs typeface="Arial"/>
              </a:defRPr>
            </a:pPr>
            <a:r>
              <a:rPr sz="1425" b="1">
                <a:solidFill>
                  <a:srgbClr val="B63B42"/>
                </a:solidFill>
                <a:latin typeface="Arial"/>
                <a:ea typeface="Arial"/>
                <a:cs typeface="Arial"/>
              </a:rPr>
              <a:t>Absolute ERS-K DC power ceiling: 350 kW. Event curves and recharge limits still apply.</a:t>
            </a:r>
          </a:p>
        </p:txBody>
      </p:sp>
      <p:sp>
        <p:nvSpPr>
          <p:cNvPr id="22" name="">
            <a:extLst xmlns:a="http://schemas.openxmlformats.org/drawingml/2006/main">
              <a:ext uri="{FF2B5EF4-FFF2-40B4-BE49-F238E27FC236}">
                <a16:creationId xmlns:a16="http://schemas.microsoft.com/office/drawing/2014/main" id="{F2D156F3-6C35-49AE-A461-73DCA83465DE}"/>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3" name="">
            <a:extLst xmlns:a="http://schemas.openxmlformats.org/drawingml/2006/main">
              <a:ext uri="{FF2B5EF4-FFF2-40B4-BE49-F238E27FC236}">
                <a16:creationId xmlns:a16="http://schemas.microsoft.com/office/drawing/2014/main" id="{6F3A52D4-89D1-471D-A1D8-2732A70C6509}"/>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FIA 2026 Technical Regulations and event Power Unit Information</a:t>
            </a:r>
          </a:p>
        </p:txBody>
      </p:sp>
      <p:sp>
        <p:nvSpPr>
          <p:cNvPr id="24" name="">
            <a:extLst xmlns:a="http://schemas.openxmlformats.org/drawingml/2006/main">
              <a:ext uri="{FF2B5EF4-FFF2-40B4-BE49-F238E27FC236}">
                <a16:creationId xmlns:a16="http://schemas.microsoft.com/office/drawing/2014/main" id="{D37D167B-51AF-44D8-91CF-30992437D4ED}"/>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8</a:t>
            </a:r>
          </a:p>
        </p:txBody>
      </p:sp>
    </p:spTree>
    <p:extLst>
      <p:ext uri="{BB962C8B-B14F-4D97-AF65-F5344CB8AC3E}">
        <p14:creationId xmlns:p14="http://schemas.microsoft.com/office/powerpoint/2010/main" val="1367745304"/>
      </p:ext>
    </p:extLst>
  </p:cSld>
</p:sld>
</file>

<file path=ppt/slides/slide9.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CEE87D2-EACA-4475-96F5-F726D0657F9D}"/>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9330271D-96A3-4252-8024-FE8C9506027B}"/>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Overtake state and partial observation</a:t>
            </a:r>
          </a:p>
        </p:txBody>
      </p:sp>
      <p:sp>
        <p:nvSpPr>
          <p:cNvPr id="3" name="">
            <a:extLst xmlns:a="http://schemas.openxmlformats.org/drawingml/2006/main">
              <a:ext uri="{FF2B5EF4-FFF2-40B4-BE49-F238E27FC236}">
                <a16:creationId xmlns:a16="http://schemas.microsoft.com/office/drawing/2014/main" id="{E83EA70F-5C97-4C47-AA71-708AE4903EBE}"/>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A battle progresses through stages and remains uncertain</a:t>
            </a:r>
          </a:p>
        </p:txBody>
      </p:sp>
      <p:sp>
        <p:nvSpPr>
          <p:cNvPr id="4" name="">
            <a:extLst xmlns:a="http://schemas.openxmlformats.org/drawingml/2006/main">
              <a:ext uri="{FF2B5EF4-FFF2-40B4-BE49-F238E27FC236}">
                <a16:creationId xmlns:a16="http://schemas.microsoft.com/office/drawing/2014/main" id="{D621137C-232D-48D8-8B76-3627BB34AB18}"/>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910D95CD-21A4-45CC-AD92-816269DE9B2A}"/>
              </a:ext>
            </a:extLst>
          </p:cNvPr>
          <p:cNvSpPr>
            <a:spLocks xmlns:a="http://schemas.openxmlformats.org/drawingml/2006/main" noGrp="1"/>
          </p:cNvSpPr>
          <p:nvPr/>
        </p:nvSpPr>
        <p:spPr>
          <a:xfrm xmlns:a="http://schemas.openxmlformats.org/drawingml/2006/main">
            <a:off x="685800" y="1666875"/>
            <a:ext cx="21907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6" name="">
            <a:extLst xmlns:a="http://schemas.openxmlformats.org/drawingml/2006/main">
              <a:ext uri="{FF2B5EF4-FFF2-40B4-BE49-F238E27FC236}">
                <a16:creationId xmlns:a16="http://schemas.microsoft.com/office/drawing/2014/main" id="{D5F85E2B-EA24-45A3-BEB3-8E0D9BD8D4BA}"/>
              </a:ext>
            </a:extLst>
          </p:cNvPr>
          <p:cNvSpPr>
            <a:spLocks xmlns:a="http://schemas.openxmlformats.org/drawingml/2006/main" noGrp="1"/>
          </p:cNvSpPr>
          <p:nvPr/>
        </p:nvSpPr>
        <p:spPr>
          <a:xfrm xmlns:a="http://schemas.openxmlformats.org/drawingml/2006/main">
            <a:off x="800100" y="1743075"/>
            <a:ext cx="1962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Close</a:t>
            </a:r>
          </a:p>
        </p:txBody>
      </p:sp>
      <p:sp>
        <p:nvSpPr>
          <p:cNvPr id="7" name="">
            <a:extLst xmlns:a="http://schemas.openxmlformats.org/drawingml/2006/main">
              <a:ext uri="{FF2B5EF4-FFF2-40B4-BE49-F238E27FC236}">
                <a16:creationId xmlns:a16="http://schemas.microsoft.com/office/drawing/2014/main" id="{E2282EAA-B053-4EF5-A2F0-E294C854F658}"/>
              </a:ext>
            </a:extLst>
          </p:cNvPr>
          <p:cNvSpPr>
            <a:spLocks xmlns:a="http://schemas.openxmlformats.org/drawingml/2006/main" noGrp="1"/>
          </p:cNvSpPr>
          <p:nvPr/>
        </p:nvSpPr>
        <p:spPr>
          <a:xfrm xmlns:a="http://schemas.openxmlformats.org/drawingml/2006/main">
            <a:off x="3448050" y="1666875"/>
            <a:ext cx="21907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8" name="">
            <a:extLst xmlns:a="http://schemas.openxmlformats.org/drawingml/2006/main">
              <a:ext uri="{FF2B5EF4-FFF2-40B4-BE49-F238E27FC236}">
                <a16:creationId xmlns:a16="http://schemas.microsoft.com/office/drawing/2014/main" id="{19AE8E9E-7B1A-434A-B39E-2518CFD0B7FE}"/>
              </a:ext>
            </a:extLst>
          </p:cNvPr>
          <p:cNvSpPr>
            <a:spLocks xmlns:a="http://schemas.openxmlformats.org/drawingml/2006/main" noGrp="1"/>
          </p:cNvSpPr>
          <p:nvPr/>
        </p:nvSpPr>
        <p:spPr>
          <a:xfrm xmlns:a="http://schemas.openxmlformats.org/drawingml/2006/main">
            <a:off x="3562350" y="1743075"/>
            <a:ext cx="1962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Overlap</a:t>
            </a:r>
          </a:p>
        </p:txBody>
      </p:sp>
      <p:cxnSp>
        <p:nvCxnSpPr>
          <p:cNvPr id="33" name=""/>
          <p:cNvCxnSpPr>
            <a:stCxn xmlns:a="http://schemas.openxmlformats.org/drawingml/2006/main" id="5" idx="3"/>
            <a:endCxn xmlns:a="http://schemas.openxmlformats.org/drawingml/2006/main" id="7" idx="1"/>
          </p:cNvCxnSpPr>
          <p:nvPr/>
        </p:nvCxnSpPr>
        <p:spPr>
          <a:xfrm xmlns:a="http://schemas.openxmlformats.org/drawingml/2006/main">
            <a:off x="2876550" y="2028825"/>
            <a:ext cx="5715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0" name="">
            <a:extLst xmlns:a="http://schemas.openxmlformats.org/drawingml/2006/main">
              <a:ext uri="{FF2B5EF4-FFF2-40B4-BE49-F238E27FC236}">
                <a16:creationId xmlns:a16="http://schemas.microsoft.com/office/drawing/2014/main" id="{6AEB3294-F630-451E-BA79-1ECDEE9E5625}"/>
              </a:ext>
            </a:extLst>
          </p:cNvPr>
          <p:cNvSpPr>
            <a:spLocks xmlns:a="http://schemas.openxmlformats.org/drawingml/2006/main" noGrp="1"/>
          </p:cNvSpPr>
          <p:nvPr/>
        </p:nvSpPr>
        <p:spPr>
          <a:xfrm xmlns:a="http://schemas.openxmlformats.org/drawingml/2006/main">
            <a:off x="6210300" y="1666875"/>
            <a:ext cx="2190750" cy="723900"/>
          </a:xfrm>
          <a:prstGeom xmlns:a="http://schemas.openxmlformats.org/drawingml/2006/main" prst="rect">
            <a:avLst/>
          </a:prstGeom>
          <a:solidFill xmlns:a="http://schemas.openxmlformats.org/drawingml/2006/main">
            <a:srgbClr val="E7EEF7"/>
          </a:solidFill>
          <a:ln xmlns:a="http://schemas.openxmlformats.org/drawingml/2006/main" w="9525">
            <a:solidFill>
              <a:srgbClr val="1768C4"/>
            </a:solidFill>
            <a:prstDash val="solid"/>
          </a:ln>
        </p:spPr>
      </p:sp>
      <p:sp>
        <p:nvSpPr>
          <p:cNvPr id="11" name="">
            <a:extLst xmlns:a="http://schemas.openxmlformats.org/drawingml/2006/main">
              <a:ext uri="{FF2B5EF4-FFF2-40B4-BE49-F238E27FC236}">
                <a16:creationId xmlns:a16="http://schemas.microsoft.com/office/drawing/2014/main" id="{8A086BBE-43D6-418F-80D5-C82FDF91E5F7}"/>
              </a:ext>
            </a:extLst>
          </p:cNvPr>
          <p:cNvSpPr>
            <a:spLocks xmlns:a="http://schemas.openxmlformats.org/drawingml/2006/main" noGrp="1"/>
          </p:cNvSpPr>
          <p:nvPr/>
        </p:nvSpPr>
        <p:spPr>
          <a:xfrm xmlns:a="http://schemas.openxmlformats.org/drawingml/2006/main">
            <a:off x="6324600" y="1743075"/>
            <a:ext cx="1962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Complete pass</a:t>
            </a:r>
          </a:p>
        </p:txBody>
      </p:sp>
      <p:cxnSp>
        <p:nvCxnSpPr>
          <p:cNvPr id="36" name=""/>
          <p:cNvCxnSpPr>
            <a:stCxn xmlns:a="http://schemas.openxmlformats.org/drawingml/2006/main" id="7" idx="3"/>
            <a:endCxn xmlns:a="http://schemas.openxmlformats.org/drawingml/2006/main" id="10" idx="1"/>
          </p:cNvCxnSpPr>
          <p:nvPr/>
        </p:nvCxnSpPr>
        <p:spPr>
          <a:xfrm xmlns:a="http://schemas.openxmlformats.org/drawingml/2006/main">
            <a:off x="5638800" y="2028825"/>
            <a:ext cx="5715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3" name="">
            <a:extLst xmlns:a="http://schemas.openxmlformats.org/drawingml/2006/main">
              <a:ext uri="{FF2B5EF4-FFF2-40B4-BE49-F238E27FC236}">
                <a16:creationId xmlns:a16="http://schemas.microsoft.com/office/drawing/2014/main" id="{E4E73301-860F-4FEE-9C03-33F9D3516B9B}"/>
              </a:ext>
            </a:extLst>
          </p:cNvPr>
          <p:cNvSpPr>
            <a:spLocks xmlns:a="http://schemas.openxmlformats.org/drawingml/2006/main" noGrp="1"/>
          </p:cNvSpPr>
          <p:nvPr/>
        </p:nvSpPr>
        <p:spPr>
          <a:xfrm xmlns:a="http://schemas.openxmlformats.org/drawingml/2006/main">
            <a:off x="8972550" y="1666875"/>
            <a:ext cx="21907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4" name="">
            <a:extLst xmlns:a="http://schemas.openxmlformats.org/drawingml/2006/main">
              <a:ext uri="{FF2B5EF4-FFF2-40B4-BE49-F238E27FC236}">
                <a16:creationId xmlns:a16="http://schemas.microsoft.com/office/drawing/2014/main" id="{C7C46563-BC2D-4B5F-8CF8-5817BB6DA212}"/>
              </a:ext>
            </a:extLst>
          </p:cNvPr>
          <p:cNvSpPr>
            <a:spLocks xmlns:a="http://schemas.openxmlformats.org/drawingml/2006/main" noGrp="1"/>
          </p:cNvSpPr>
          <p:nvPr/>
        </p:nvSpPr>
        <p:spPr>
          <a:xfrm xmlns:a="http://schemas.openxmlformats.org/drawingml/2006/main">
            <a:off x="9086850" y="1743075"/>
            <a:ext cx="1962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Retain at checkpoint</a:t>
            </a:r>
          </a:p>
        </p:txBody>
      </p: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01050" y="2028825"/>
            <a:ext cx="5715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6" name="">
            <a:extLst xmlns:a="http://schemas.openxmlformats.org/drawingml/2006/main">
              <a:ext uri="{FF2B5EF4-FFF2-40B4-BE49-F238E27FC236}">
                <a16:creationId xmlns:a16="http://schemas.microsoft.com/office/drawing/2014/main" id="{703FDEA4-98C7-4EC8-B313-F4A4AFC239AB}"/>
              </a:ext>
            </a:extLst>
          </p:cNvPr>
          <p:cNvSpPr>
            <a:spLocks xmlns:a="http://schemas.openxmlformats.org/drawingml/2006/main" noGrp="1"/>
          </p:cNvSpPr>
          <p:nvPr/>
        </p:nvSpPr>
        <p:spPr>
          <a:xfrm xmlns:a="http://schemas.openxmlformats.org/drawingml/2006/main">
            <a:off x="723900" y="31432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E7C57"/>
                </a:solidFill>
                <a:latin typeface="Arial"/>
                <a:ea typeface="Arial"/>
                <a:cs typeface="Arial"/>
              </a:defRPr>
            </a:pPr>
            <a:r>
              <a:rPr sz="975" b="1">
                <a:solidFill>
                  <a:srgbClr val="2E7C57"/>
                </a:solidFill>
                <a:latin typeface="Arial"/>
                <a:ea typeface="Arial"/>
                <a:cs typeface="Arial"/>
              </a:rPr>
              <a:t>AVAILABLE TO THE CONTROLLER</a:t>
            </a:r>
          </a:p>
        </p:txBody>
      </p:sp>
      <p:sp>
        <p:nvSpPr>
          <p:cNvPr id="17" name="">
            <a:extLst xmlns:a="http://schemas.openxmlformats.org/drawingml/2006/main">
              <a:ext uri="{FF2B5EF4-FFF2-40B4-BE49-F238E27FC236}">
                <a16:creationId xmlns:a16="http://schemas.microsoft.com/office/drawing/2014/main" id="{F3E87E4A-3BFF-47C4-B75D-179BDA2DBA3C}"/>
              </a:ext>
            </a:extLst>
          </p:cNvPr>
          <p:cNvSpPr>
            <a:spLocks xmlns:a="http://schemas.openxmlformats.org/drawingml/2006/main" noGrp="1"/>
          </p:cNvSpPr>
          <p:nvPr/>
        </p:nvSpPr>
        <p:spPr>
          <a:xfrm xmlns:a="http://schemas.openxmlformats.org/drawingml/2006/main">
            <a:off x="723900" y="3476625"/>
            <a:ext cx="4667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Gap and relative speed</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Track corridor and lookahead</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Own energy estimate and execution state</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Current eligibility, flags and observation age</a:t>
            </a:r>
          </a:p>
        </p:txBody>
      </p:sp>
      <p:sp>
        <p:nvSpPr>
          <p:cNvPr id="18" name="">
            <a:extLst xmlns:a="http://schemas.openxmlformats.org/drawingml/2006/main">
              <a:ext uri="{FF2B5EF4-FFF2-40B4-BE49-F238E27FC236}">
                <a16:creationId xmlns:a16="http://schemas.microsoft.com/office/drawing/2014/main" id="{6057B22C-6A28-4E90-8DCF-079804E5684E}"/>
              </a:ext>
            </a:extLst>
          </p:cNvPr>
          <p:cNvSpPr>
            <a:spLocks xmlns:a="http://schemas.openxmlformats.org/drawingml/2006/main" noGrp="1"/>
          </p:cNvSpPr>
          <p:nvPr/>
        </p:nvSpPr>
        <p:spPr>
          <a:xfrm xmlns:a="http://schemas.openxmlformats.org/drawingml/2006/main">
            <a:off x="6572250" y="31432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B63B42"/>
                </a:solidFill>
                <a:latin typeface="Arial"/>
                <a:ea typeface="Arial"/>
                <a:cs typeface="Arial"/>
              </a:defRPr>
            </a:pPr>
            <a:r>
              <a:rPr sz="975" b="1">
                <a:solidFill>
                  <a:srgbClr val="B63B42"/>
                </a:solidFill>
                <a:latin typeface="Arial"/>
                <a:ea typeface="Arial"/>
                <a:cs typeface="Arial"/>
              </a:rPr>
              <a:t>HIDDEN OR UNCERTAIN</a:t>
            </a:r>
          </a:p>
        </p:txBody>
      </p:sp>
      <p:sp>
        <p:nvSpPr>
          <p:cNvPr id="19" name="">
            <a:extLst xmlns:a="http://schemas.openxmlformats.org/drawingml/2006/main">
              <a:ext uri="{FF2B5EF4-FFF2-40B4-BE49-F238E27FC236}">
                <a16:creationId xmlns:a16="http://schemas.microsoft.com/office/drawing/2014/main" id="{91BDB440-7809-4478-AF1D-1093DB7CE376}"/>
              </a:ext>
            </a:extLst>
          </p:cNvPr>
          <p:cNvSpPr>
            <a:spLocks xmlns:a="http://schemas.openxmlformats.org/drawingml/2006/main" noGrp="1"/>
          </p:cNvSpPr>
          <p:nvPr/>
        </p:nvSpPr>
        <p:spPr>
          <a:xfrm xmlns:a="http://schemas.openxmlformats.org/drawingml/2006/main">
            <a:off x="6572250" y="3476625"/>
            <a:ext cx="4667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Rival battery and future action</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Future weather and race-control events</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Unmeasured lateral position</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Tyre temperature and vehicle differences</a:t>
            </a:r>
          </a:p>
        </p:txBody>
      </p:sp>
      <p:sp>
        <p:nvSpPr>
          <p:cNvPr id="20" name="">
            <a:extLst xmlns:a="http://schemas.openxmlformats.org/drawingml/2006/main">
              <a:ext uri="{FF2B5EF4-FFF2-40B4-BE49-F238E27FC236}">
                <a16:creationId xmlns:a16="http://schemas.microsoft.com/office/drawing/2014/main" id="{7D8DFF3E-6F3E-4A31-A14B-AF58B9F192DC}"/>
              </a:ext>
            </a:extLst>
          </p:cNvPr>
          <p:cNvSpPr>
            <a:spLocks xmlns:a="http://schemas.openxmlformats.org/drawingml/2006/main" noGrp="1"/>
          </p:cNvSpPr>
          <p:nvPr/>
        </p:nvSpPr>
        <p:spPr>
          <a:xfrm xmlns:a="http://schemas.openxmlformats.org/drawingml/2006/main">
            <a:off x="5953125" y="3067050"/>
            <a:ext cx="19050" cy="2476500"/>
          </a:xfrm>
          <a:prstGeom xmlns:a="http://schemas.openxmlformats.org/drawingml/2006/main" prst="rect">
            <a:avLst/>
          </a:prstGeom>
          <a:solidFill xmlns:a="http://schemas.openxmlformats.org/drawingml/2006/main">
            <a:srgbClr val="C9CF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D5D1712-00FF-425F-BCE0-DC6AFCB343CF}"/>
              </a:ext>
            </a:extLst>
          </p:cNvPr>
          <p:cNvSpPr>
            <a:spLocks xmlns:a="http://schemas.openxmlformats.org/drawingml/2006/main" noGrp="1"/>
          </p:cNvSpPr>
          <p:nvPr/>
        </p:nvSpPr>
        <p:spPr>
          <a:xfrm xmlns:a="http://schemas.openxmlformats.org/drawingml/2006/main">
            <a:off x="2095500" y="5715000"/>
            <a:ext cx="800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ctr">
              <a:defRPr sz="1575" b="1">
                <a:solidFill>
                  <a:srgbClr val="1768C4"/>
                </a:solidFill>
                <a:latin typeface="Arial"/>
                <a:ea typeface="Arial"/>
                <a:cs typeface="Arial"/>
              </a:defRPr>
            </a:pPr>
            <a:r>
              <a:rPr sz="1575" b="1">
                <a:solidFill>
                  <a:srgbClr val="1768C4"/>
                </a:solidFill>
                <a:latin typeface="Arial"/>
                <a:ea typeface="Arial"/>
                <a:cs typeface="Arial"/>
              </a:rPr>
              <a:t>The policy acts on beliefs. Evaluation may inspect simulator truth after the run.</a:t>
            </a:r>
          </a:p>
        </p:txBody>
      </p:sp>
      <p:sp>
        <p:nvSpPr>
          <p:cNvPr id="22" name="">
            <a:extLst xmlns:a="http://schemas.openxmlformats.org/drawingml/2006/main">
              <a:ext uri="{FF2B5EF4-FFF2-40B4-BE49-F238E27FC236}">
                <a16:creationId xmlns:a16="http://schemas.microsoft.com/office/drawing/2014/main" id="{B5B6B3EF-533A-44E5-BA71-BCB35612E95A}"/>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3" name="">
            <a:extLst xmlns:a="http://schemas.openxmlformats.org/drawingml/2006/main">
              <a:ext uri="{FF2B5EF4-FFF2-40B4-BE49-F238E27FC236}">
                <a16:creationId xmlns:a16="http://schemas.microsoft.com/office/drawing/2014/main" id="{2FE80A04-36C9-4FBA-927E-0B593D4D7E4E}"/>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24" name="">
            <a:extLst xmlns:a="http://schemas.openxmlformats.org/drawingml/2006/main">
              <a:ext uri="{FF2B5EF4-FFF2-40B4-BE49-F238E27FC236}">
                <a16:creationId xmlns:a16="http://schemas.microsoft.com/office/drawing/2014/main" id="{B4F31BDD-E9C7-439A-9388-C7509FE219D8}"/>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9</a:t>
            </a:r>
          </a:p>
        </p:txBody>
      </p:sp>
    </p:spTree>
    <p:extLst>
      <p:ext uri="{BB962C8B-B14F-4D97-AF65-F5344CB8AC3E}">
        <p14:creationId xmlns:p14="http://schemas.microsoft.com/office/powerpoint/2010/main" val="1910219083"/>
      </p:ext>
    </p:extLst>
  </p:cSld>
</p:sld>
</file>

<file path=ppt/slides/slide10.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69EBF7C-504F-4620-BA75-7DADCD0D3504}"/>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505EB716-E84D-4D22-A424-B638B772E008}"/>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The reinforcement-learning interaction</a:t>
            </a:r>
          </a:p>
        </p:txBody>
      </p:sp>
      <p:sp>
        <p:nvSpPr>
          <p:cNvPr id="3" name="">
            <a:extLst xmlns:a="http://schemas.openxmlformats.org/drawingml/2006/main">
              <a:ext uri="{FF2B5EF4-FFF2-40B4-BE49-F238E27FC236}">
                <a16:creationId xmlns:a16="http://schemas.microsoft.com/office/drawing/2014/main" id="{52EF0153-7B1C-4779-BD32-AD532FCB1FB1}"/>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SAC proposes strategy at one-second intervals</a:t>
            </a:r>
          </a:p>
        </p:txBody>
      </p:sp>
      <p:sp>
        <p:nvSpPr>
          <p:cNvPr id="4" name="">
            <a:extLst xmlns:a="http://schemas.openxmlformats.org/drawingml/2006/main">
              <a:ext uri="{FF2B5EF4-FFF2-40B4-BE49-F238E27FC236}">
                <a16:creationId xmlns:a16="http://schemas.microsoft.com/office/drawing/2014/main" id="{FC3411BF-F5C0-4327-81F1-6359346EDAA6}"/>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0067CABA-D74A-4979-BBAF-5B8EBA179159}"/>
              </a:ext>
            </a:extLst>
          </p:cNvPr>
          <p:cNvSpPr>
            <a:spLocks xmlns:a="http://schemas.openxmlformats.org/drawingml/2006/main" noGrp="1"/>
          </p:cNvSpPr>
          <p:nvPr/>
        </p:nvSpPr>
        <p:spPr>
          <a:xfrm xmlns:a="http://schemas.openxmlformats.org/drawingml/2006/main">
            <a:off x="762000" y="2095500"/>
            <a:ext cx="21907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6" name="">
            <a:extLst xmlns:a="http://schemas.openxmlformats.org/drawingml/2006/main">
              <a:ext uri="{FF2B5EF4-FFF2-40B4-BE49-F238E27FC236}">
                <a16:creationId xmlns:a16="http://schemas.microsoft.com/office/drawing/2014/main" id="{8CE64432-4C8E-4BEA-9AB7-8DB8C03B17ED}"/>
              </a:ext>
            </a:extLst>
          </p:cNvPr>
          <p:cNvSpPr>
            <a:spLocks xmlns:a="http://schemas.openxmlformats.org/drawingml/2006/main" noGrp="1"/>
          </p:cNvSpPr>
          <p:nvPr/>
        </p:nvSpPr>
        <p:spPr>
          <a:xfrm xmlns:a="http://schemas.openxmlformats.org/drawingml/2006/main">
            <a:off x="876300" y="2171700"/>
            <a:ext cx="1962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192-value masked</a:t>
            </a:r>
          </a:p>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state estimate</a:t>
            </a:r>
          </a:p>
        </p:txBody>
      </p:sp>
      <p:sp>
        <p:nvSpPr>
          <p:cNvPr id="7" name="">
            <a:extLst xmlns:a="http://schemas.openxmlformats.org/drawingml/2006/main">
              <a:ext uri="{FF2B5EF4-FFF2-40B4-BE49-F238E27FC236}">
                <a16:creationId xmlns:a16="http://schemas.microsoft.com/office/drawing/2014/main" id="{6AC854F3-97AB-483B-8D10-31C5EA6C610C}"/>
              </a:ext>
            </a:extLst>
          </p:cNvPr>
          <p:cNvSpPr>
            <a:spLocks xmlns:a="http://schemas.openxmlformats.org/drawingml/2006/main" noGrp="1"/>
          </p:cNvSpPr>
          <p:nvPr/>
        </p:nvSpPr>
        <p:spPr>
          <a:xfrm xmlns:a="http://schemas.openxmlformats.org/drawingml/2006/main">
            <a:off x="3714750" y="2095500"/>
            <a:ext cx="2190750" cy="904875"/>
          </a:xfrm>
          <a:prstGeom xmlns:a="http://schemas.openxmlformats.org/drawingml/2006/main" prst="rect">
            <a:avLst/>
          </a:prstGeom>
          <a:solidFill xmlns:a="http://schemas.openxmlformats.org/drawingml/2006/main">
            <a:srgbClr val="E7EEF7"/>
          </a:solidFill>
          <a:ln xmlns:a="http://schemas.openxmlformats.org/drawingml/2006/main" w="9525">
            <a:solidFill>
              <a:srgbClr val="1768C4"/>
            </a:solidFill>
            <a:prstDash val="solid"/>
          </a:ln>
        </p:spPr>
      </p:sp>
      <p:sp>
        <p:nvSpPr>
          <p:cNvPr id="8" name="">
            <a:extLst xmlns:a="http://schemas.openxmlformats.org/drawingml/2006/main">
              <a:ext uri="{FF2B5EF4-FFF2-40B4-BE49-F238E27FC236}">
                <a16:creationId xmlns:a16="http://schemas.microsoft.com/office/drawing/2014/main" id="{17D9DC32-B04D-4FB2-8EE1-19D7A553CF29}"/>
              </a:ext>
            </a:extLst>
          </p:cNvPr>
          <p:cNvSpPr>
            <a:spLocks xmlns:a="http://schemas.openxmlformats.org/drawingml/2006/main" noGrp="1"/>
          </p:cNvSpPr>
          <p:nvPr/>
        </p:nvSpPr>
        <p:spPr>
          <a:xfrm xmlns:a="http://schemas.openxmlformats.org/drawingml/2006/main">
            <a:off x="3829050" y="2171700"/>
            <a:ext cx="1962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799"/>
          </a:bodyPr>
          <a:lstStyle xmlns:a="http://schemas.openxmlformats.org/drawingml/2006/main"/>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SAC actor</a:t>
            </a:r>
          </a:p>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2 continuous outputs</a:t>
            </a:r>
          </a:p>
        </p:txBody>
      </p:sp>
      <p:sp>
        <p:nvSpPr>
          <p:cNvPr id="9" name="">
            <a:extLst xmlns:a="http://schemas.openxmlformats.org/drawingml/2006/main">
              <a:ext uri="{FF2B5EF4-FFF2-40B4-BE49-F238E27FC236}">
                <a16:creationId xmlns:a16="http://schemas.microsoft.com/office/drawing/2014/main" id="{4AAA4B0C-0822-41E5-8C04-FC2F6B585542}"/>
              </a:ext>
            </a:extLst>
          </p:cNvPr>
          <p:cNvSpPr>
            <a:spLocks xmlns:a="http://schemas.openxmlformats.org/drawingml/2006/main" noGrp="1"/>
          </p:cNvSpPr>
          <p:nvPr/>
        </p:nvSpPr>
        <p:spPr>
          <a:xfrm xmlns:a="http://schemas.openxmlformats.org/drawingml/2006/main">
            <a:off x="6667500" y="2095500"/>
            <a:ext cx="21907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0" name="">
            <a:extLst xmlns:a="http://schemas.openxmlformats.org/drawingml/2006/main">
              <a:ext uri="{FF2B5EF4-FFF2-40B4-BE49-F238E27FC236}">
                <a16:creationId xmlns:a16="http://schemas.microsoft.com/office/drawing/2014/main" id="{C7081393-9509-4CF7-B3DE-69C0E01ACCDC}"/>
              </a:ext>
            </a:extLst>
          </p:cNvPr>
          <p:cNvSpPr>
            <a:spLocks xmlns:a="http://schemas.openxmlformats.org/drawingml/2006/main" noGrp="1"/>
          </p:cNvSpPr>
          <p:nvPr/>
        </p:nvSpPr>
        <p:spPr>
          <a:xfrm xmlns:a="http://schemas.openxmlformats.org/drawingml/2006/main">
            <a:off x="6781800" y="2171700"/>
            <a:ext cx="1962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799"/>
          </a:bodyPr>
          <a:lstStyle xmlns:a="http://schemas.openxmlformats.org/drawingml/2006/main"/>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Constrained planner</a:t>
            </a:r>
          </a:p>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feasible trajectory</a:t>
            </a:r>
          </a:p>
        </p:txBody>
      </p:sp>
      <p:sp>
        <p:nvSpPr>
          <p:cNvPr id="11" name="">
            <a:extLst xmlns:a="http://schemas.openxmlformats.org/drawingml/2006/main">
              <a:ext uri="{FF2B5EF4-FFF2-40B4-BE49-F238E27FC236}">
                <a16:creationId xmlns:a16="http://schemas.microsoft.com/office/drawing/2014/main" id="{3B4E335C-91FB-4FF2-8096-5FADC2D40A09}"/>
              </a:ext>
            </a:extLst>
          </p:cNvPr>
          <p:cNvSpPr>
            <a:spLocks xmlns:a="http://schemas.openxmlformats.org/drawingml/2006/main" noGrp="1"/>
          </p:cNvSpPr>
          <p:nvPr/>
        </p:nvSpPr>
        <p:spPr>
          <a:xfrm xmlns:a="http://schemas.openxmlformats.org/drawingml/2006/main">
            <a:off x="9620250" y="2095500"/>
            <a:ext cx="1905000" cy="904875"/>
          </a:xfrm>
          <a:prstGeom xmlns:a="http://schemas.openxmlformats.org/drawingml/2006/main" prst="rect">
            <a:avLst/>
          </a:prstGeom>
          <a:solidFill xmlns:a="http://schemas.openxmlformats.org/drawingml/2006/main">
            <a:srgbClr val="E5F0EA"/>
          </a:solidFill>
          <a:ln xmlns:a="http://schemas.openxmlformats.org/drawingml/2006/main" w="9525">
            <a:solidFill>
              <a:srgbClr val="2E7C57"/>
            </a:solidFill>
            <a:prstDash val="solid"/>
          </a:ln>
        </p:spPr>
      </p:sp>
      <p:sp>
        <p:nvSpPr>
          <p:cNvPr id="12" name="">
            <a:extLst xmlns:a="http://schemas.openxmlformats.org/drawingml/2006/main">
              <a:ext uri="{FF2B5EF4-FFF2-40B4-BE49-F238E27FC236}">
                <a16:creationId xmlns:a16="http://schemas.microsoft.com/office/drawing/2014/main" id="{F55A5773-EE01-497F-9666-F587A311F6FD}"/>
              </a:ext>
            </a:extLst>
          </p:cNvPr>
          <p:cNvSpPr>
            <a:spLocks xmlns:a="http://schemas.openxmlformats.org/drawingml/2006/main" noGrp="1"/>
          </p:cNvSpPr>
          <p:nvPr/>
        </p:nvSpPr>
        <p:spPr>
          <a:xfrm xmlns:a="http://schemas.openxmlformats.org/drawingml/2006/main">
            <a:off x="9734550" y="2171700"/>
            <a:ext cx="1676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799"/>
          </a:bodyPr>
          <a:lstStyle xmlns:a="http://schemas.openxmlformats.org/drawingml/2006/main"/>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Simulator</a:t>
            </a:r>
          </a:p>
          <a:p xmlns:a="http://schemas.openxmlformats.org/drawingml/2006/main">
            <a:pPr algn="ctr">
              <a:defRPr sz="1575" b="1">
                <a:solidFill>
                  <a:srgbClr val="17212B"/>
                </a:solidFill>
                <a:latin typeface="Arial"/>
                <a:ea typeface="Arial"/>
                <a:cs typeface="Arial"/>
              </a:defRPr>
            </a:pPr>
            <a:r>
              <a:rPr sz="1575" b="1">
                <a:solidFill>
                  <a:srgbClr val="17212B"/>
                </a:solidFill>
                <a:latin typeface="Arial"/>
                <a:ea typeface="Arial"/>
                <a:cs typeface="Arial"/>
              </a:rPr>
              <a:t>next observed state</a:t>
            </a:r>
          </a:p>
        </p:txBody>
      </p:sp>
      <p:cxnSp>
        <p:nvCxnSpPr>
          <p:cNvPr id="40" name=""/>
          <p:cNvCxnSpPr>
            <a:stCxn xmlns:a="http://schemas.openxmlformats.org/drawingml/2006/main" id="5" idx="3"/>
            <a:endCxn xmlns:a="http://schemas.openxmlformats.org/drawingml/2006/main" id="7" idx="1"/>
          </p:cNvCxnSpPr>
          <p:nvPr/>
        </p:nvCxnSpPr>
        <p:spPr>
          <a:xfrm xmlns:a="http://schemas.openxmlformats.org/drawingml/2006/main">
            <a:off x="2952750" y="2547938"/>
            <a:ext cx="7620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41" name=""/>
          <p:cNvCxnSpPr>
            <a:stCxn xmlns:a="http://schemas.openxmlformats.org/drawingml/2006/main" id="7" idx="3"/>
            <a:endCxn xmlns:a="http://schemas.openxmlformats.org/drawingml/2006/main" id="9" idx="1"/>
          </p:cNvCxnSpPr>
          <p:nvPr/>
        </p:nvCxnSpPr>
        <p:spPr>
          <a:xfrm xmlns:a="http://schemas.openxmlformats.org/drawingml/2006/main">
            <a:off x="5905500" y="2547938"/>
            <a:ext cx="7620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42" name=""/>
          <p:cNvCxnSpPr>
            <a:stCxn xmlns:a="http://schemas.openxmlformats.org/drawingml/2006/main" id="9" idx="3"/>
            <a:endCxn xmlns:a="http://schemas.openxmlformats.org/drawingml/2006/main" id="11" idx="1"/>
          </p:cNvCxnSpPr>
          <p:nvPr/>
        </p:nvCxnSpPr>
        <p:spPr>
          <a:xfrm xmlns:a="http://schemas.openxmlformats.org/drawingml/2006/main">
            <a:off x="8858250" y="2547938"/>
            <a:ext cx="76200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43" name=""/>
          <p:cNvCxnSpPr>
            <a:stCxn xmlns:a="http://schemas.openxmlformats.org/drawingml/2006/main" id="11" idx="2"/>
            <a:endCxn xmlns:a="http://schemas.openxmlformats.org/drawingml/2006/main" id="5" idx="2"/>
          </p:cNvCxnSpPr>
          <p:nvPr/>
        </p:nvCxnSpPr>
        <p:spPr>
          <a:xfrm xmlns:a="http://schemas.openxmlformats.org/drawingml/2006/main" flipH="1">
            <a:off x="1857375" y="3000375"/>
            <a:ext cx="8715375" cy="228600"/>
          </a:xfrm>
          <a:prstGeom xmlns:a="http://schemas.openxmlformats.org/drawingml/2006/main" prst="bentConnector4">
            <a:avLst/>
          </a:prstGeom>
          <a:ln xmlns:a="http://schemas.openxmlformats.org/drawingml/2006/main" w="19050">
            <a:solidFill>
              <a:srgbClr val="2E7C57"/>
            </a:solidFill>
            <a:prstDash val="solid"/>
            <a:headEnd type="arrow" w="sm" len="sm"/>
          </a:ln>
        </p:spPr>
      </p:cxnSp>
      <p:sp>
        <p:nvSpPr>
          <p:cNvPr id="17" name="">
            <a:extLst xmlns:a="http://schemas.openxmlformats.org/drawingml/2006/main">
              <a:ext uri="{FF2B5EF4-FFF2-40B4-BE49-F238E27FC236}">
                <a16:creationId xmlns:a16="http://schemas.microsoft.com/office/drawing/2014/main" id="{AAED6855-C4E5-4594-8C5A-98CB8D5AF86B}"/>
              </a:ext>
            </a:extLst>
          </p:cNvPr>
          <p:cNvSpPr>
            <a:spLocks xmlns:a="http://schemas.openxmlformats.org/drawingml/2006/main" noGrp="1"/>
          </p:cNvSpPr>
          <p:nvPr/>
        </p:nvSpPr>
        <p:spPr>
          <a:xfrm xmlns:a="http://schemas.openxmlformats.org/drawingml/2006/main">
            <a:off x="3752850" y="35718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768C4"/>
                </a:solidFill>
                <a:latin typeface="Arial"/>
                <a:ea typeface="Arial"/>
                <a:cs typeface="Arial"/>
              </a:defRPr>
            </a:pPr>
            <a:r>
              <a:rPr sz="1200" b="1">
                <a:solidFill>
                  <a:srgbClr val="1768C4"/>
                </a:solidFill>
                <a:latin typeface="Arial"/>
                <a:ea typeface="Arial"/>
                <a:cs typeface="Arial"/>
              </a:rPr>
              <a:t>Action 1</a:t>
            </a:r>
          </a:p>
        </p:txBody>
      </p:sp>
      <p:sp>
        <p:nvSpPr>
          <p:cNvPr id="18" name="">
            <a:extLst xmlns:a="http://schemas.openxmlformats.org/drawingml/2006/main">
              <a:ext uri="{FF2B5EF4-FFF2-40B4-BE49-F238E27FC236}">
                <a16:creationId xmlns:a16="http://schemas.microsoft.com/office/drawing/2014/main" id="{CE702334-B949-4752-8087-32BB263F6DAA}"/>
              </a:ext>
            </a:extLst>
          </p:cNvPr>
          <p:cNvSpPr>
            <a:spLocks xmlns:a="http://schemas.openxmlformats.org/drawingml/2006/main" noGrp="1"/>
          </p:cNvSpPr>
          <p:nvPr/>
        </p:nvSpPr>
        <p:spPr>
          <a:xfrm xmlns:a="http://schemas.openxmlformats.org/drawingml/2006/main">
            <a:off x="3752850" y="38481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003"/>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Energy budget for the next 10 seconds</a:t>
            </a:r>
          </a:p>
        </p:txBody>
      </p:sp>
      <p:sp>
        <p:nvSpPr>
          <p:cNvPr id="19" name="">
            <a:extLst xmlns:a="http://schemas.openxmlformats.org/drawingml/2006/main">
              <a:ext uri="{FF2B5EF4-FFF2-40B4-BE49-F238E27FC236}">
                <a16:creationId xmlns:a16="http://schemas.microsoft.com/office/drawing/2014/main" id="{66389E41-0E93-429E-AB45-8263D0B0B534}"/>
              </a:ext>
            </a:extLst>
          </p:cNvPr>
          <p:cNvSpPr>
            <a:spLocks xmlns:a="http://schemas.openxmlformats.org/drawingml/2006/main" noGrp="1"/>
          </p:cNvSpPr>
          <p:nvPr/>
        </p:nvSpPr>
        <p:spPr>
          <a:xfrm xmlns:a="http://schemas.openxmlformats.org/drawingml/2006/main">
            <a:off x="7096125" y="35718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768C4"/>
                </a:solidFill>
                <a:latin typeface="Arial"/>
                <a:ea typeface="Arial"/>
                <a:cs typeface="Arial"/>
              </a:defRPr>
            </a:pPr>
            <a:r>
              <a:rPr sz="1200" b="1">
                <a:solidFill>
                  <a:srgbClr val="1768C4"/>
                </a:solidFill>
                <a:latin typeface="Arial"/>
                <a:ea typeface="Arial"/>
                <a:cs typeface="Arial"/>
              </a:rPr>
              <a:t>Action 2</a:t>
            </a:r>
          </a:p>
        </p:txBody>
      </p:sp>
      <p:sp>
        <p:nvSpPr>
          <p:cNvPr id="20" name="">
            <a:extLst xmlns:a="http://schemas.openxmlformats.org/drawingml/2006/main">
              <a:ext uri="{FF2B5EF4-FFF2-40B4-BE49-F238E27FC236}">
                <a16:creationId xmlns:a16="http://schemas.microsoft.com/office/drawing/2014/main" id="{160CC375-7E59-4DCF-871D-11B1BE4A0A2C}"/>
              </a:ext>
            </a:extLst>
          </p:cNvPr>
          <p:cNvSpPr>
            <a:spLocks xmlns:a="http://schemas.openxmlformats.org/drawingml/2006/main" noGrp="1"/>
          </p:cNvSpPr>
          <p:nvPr/>
        </p:nvSpPr>
        <p:spPr>
          <a:xfrm xmlns:a="http://schemas.openxmlformats.org/drawingml/2006/main">
            <a:off x="7096125" y="38481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218"/>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Energy target at the next checkpoint</a:t>
            </a:r>
          </a:p>
        </p:txBody>
      </p:sp>
      <p:sp>
        <p:nvSpPr>
          <p:cNvPr id="21" name="">
            <a:extLst xmlns:a="http://schemas.openxmlformats.org/drawingml/2006/main">
              <a:ext uri="{FF2B5EF4-FFF2-40B4-BE49-F238E27FC236}">
                <a16:creationId xmlns:a16="http://schemas.microsoft.com/office/drawing/2014/main" id="{43679C71-71C1-4E10-A20F-7258CA7D4BC9}"/>
              </a:ext>
            </a:extLst>
          </p:cNvPr>
          <p:cNvSpPr>
            <a:spLocks xmlns:a="http://schemas.openxmlformats.org/drawingml/2006/main" noGrp="1"/>
          </p:cNvSpPr>
          <p:nvPr/>
        </p:nvSpPr>
        <p:spPr>
          <a:xfrm xmlns:a="http://schemas.openxmlformats.org/drawingml/2006/main">
            <a:off x="781050" y="46291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5A637"/>
                </a:solidFill>
                <a:latin typeface="Arial"/>
                <a:ea typeface="Arial"/>
                <a:cs typeface="Arial"/>
              </a:defRPr>
            </a:pPr>
            <a:r>
              <a:rPr sz="1200" b="1">
                <a:solidFill>
                  <a:srgbClr val="E5A637"/>
                </a:solidFill>
                <a:latin typeface="Arial"/>
                <a:ea typeface="Arial"/>
                <a:cs typeface="Arial"/>
              </a:rPr>
              <a:t>Reward</a:t>
            </a:r>
          </a:p>
        </p:txBody>
      </p:sp>
      <p:sp>
        <p:nvSpPr>
          <p:cNvPr id="22" name="">
            <a:extLst xmlns:a="http://schemas.openxmlformats.org/drawingml/2006/main">
              <a:ext uri="{FF2B5EF4-FFF2-40B4-BE49-F238E27FC236}">
                <a16:creationId xmlns:a16="http://schemas.microsoft.com/office/drawing/2014/main" id="{8CDA8708-00D6-413B-98B7-8DF345E00504}"/>
              </a:ext>
            </a:extLst>
          </p:cNvPr>
          <p:cNvSpPr>
            <a:spLocks xmlns:a="http://schemas.openxmlformats.org/drawingml/2006/main" noGrp="1"/>
          </p:cNvSpPr>
          <p:nvPr/>
        </p:nvSpPr>
        <p:spPr>
          <a:xfrm xmlns:a="http://schemas.openxmlformats.org/drawingml/2006/main">
            <a:off x="781050" y="4914900"/>
            <a:ext cx="542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Elapsed time, finishing position and instruction changes under objective-v1</a:t>
            </a:r>
          </a:p>
        </p:txBody>
      </p:sp>
      <p:sp>
        <p:nvSpPr>
          <p:cNvPr id="23" name="">
            <a:extLst xmlns:a="http://schemas.openxmlformats.org/drawingml/2006/main">
              <a:ext uri="{FF2B5EF4-FFF2-40B4-BE49-F238E27FC236}">
                <a16:creationId xmlns:a16="http://schemas.microsoft.com/office/drawing/2014/main" id="{62AF2A6D-4023-4646-9C6C-E3169D2555C8}"/>
              </a:ext>
            </a:extLst>
          </p:cNvPr>
          <p:cNvSpPr>
            <a:spLocks xmlns:a="http://schemas.openxmlformats.org/drawingml/2006/main" noGrp="1"/>
          </p:cNvSpPr>
          <p:nvPr/>
        </p:nvSpPr>
        <p:spPr>
          <a:xfrm xmlns:a="http://schemas.openxmlformats.org/drawingml/2006/main">
            <a:off x="7239000" y="4905375"/>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lgn="r">
              <a:defRPr sz="1725" b="1">
                <a:solidFill>
                  <a:srgbClr val="B63B42"/>
                </a:solidFill>
                <a:latin typeface="Arial"/>
                <a:ea typeface="Arial"/>
                <a:cs typeface="Arial"/>
              </a:defRPr>
            </a:pPr>
            <a:r>
              <a:rPr sz="1725" b="1">
                <a:solidFill>
                  <a:srgbClr val="B63B42"/>
                </a:solidFill>
                <a:latin typeface="Arial"/>
                <a:ea typeface="Arial"/>
                <a:cs typeface="Arial"/>
              </a:rPr>
              <a:t>Rules remain hard constraints</a:t>
            </a:r>
          </a:p>
        </p:txBody>
      </p:sp>
      <p:sp>
        <p:nvSpPr>
          <p:cNvPr id="24" name="">
            <a:extLst xmlns:a="http://schemas.openxmlformats.org/drawingml/2006/main">
              <a:ext uri="{FF2B5EF4-FFF2-40B4-BE49-F238E27FC236}">
                <a16:creationId xmlns:a16="http://schemas.microsoft.com/office/drawing/2014/main" id="{EC6D2D22-BB0C-437D-AC7B-1D66C2BC8707}"/>
              </a:ext>
            </a:extLst>
          </p:cNvPr>
          <p:cNvSpPr>
            <a:spLocks xmlns:a="http://schemas.openxmlformats.org/drawingml/2006/main" noGrp="1"/>
          </p:cNvSpPr>
          <p:nvPr/>
        </p:nvSpPr>
        <p:spPr>
          <a:xfrm xmlns:a="http://schemas.openxmlformats.org/drawingml/2006/main">
            <a:off x="6477000" y="531495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0">
                <a:solidFill>
                  <a:srgbClr val="5D6872"/>
                </a:solidFill>
                <a:latin typeface="Arial"/>
                <a:ea typeface="Arial"/>
                <a:cs typeface="Arial"/>
              </a:defRPr>
            </a:pPr>
            <a:r>
              <a:rPr sz="1350" b="0">
                <a:solidFill>
                  <a:srgbClr val="5D6872"/>
                </a:solidFill>
                <a:latin typeface="Arial"/>
                <a:ea typeface="Arial"/>
                <a:cs typeface="Arial"/>
              </a:rPr>
              <a:t>No steering, torque command or online exploration</a:t>
            </a:r>
          </a:p>
        </p:txBody>
      </p:sp>
      <p:sp>
        <p:nvSpPr>
          <p:cNvPr id="25" name="">
            <a:extLst xmlns:a="http://schemas.openxmlformats.org/drawingml/2006/main">
              <a:ext uri="{FF2B5EF4-FFF2-40B4-BE49-F238E27FC236}">
                <a16:creationId xmlns:a16="http://schemas.microsoft.com/office/drawing/2014/main" id="{C092E0C4-F7A0-49B7-9389-A9D1F1990DE6}"/>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6" name="">
            <a:extLst xmlns:a="http://schemas.openxmlformats.org/drawingml/2006/main">
              <a:ext uri="{FF2B5EF4-FFF2-40B4-BE49-F238E27FC236}">
                <a16:creationId xmlns:a16="http://schemas.microsoft.com/office/drawing/2014/main" id="{3C7247D2-9223-4798-8F98-9EE175546CDE}"/>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27" name="">
            <a:extLst xmlns:a="http://schemas.openxmlformats.org/drawingml/2006/main">
              <a:ext uri="{FF2B5EF4-FFF2-40B4-BE49-F238E27FC236}">
                <a16:creationId xmlns:a16="http://schemas.microsoft.com/office/drawing/2014/main" id="{5440281B-0E3F-43FC-982E-7EF73CF85931}"/>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10</a:t>
            </a:r>
          </a:p>
        </p:txBody>
      </p:sp>
    </p:spTree>
    <p:extLst>
      <p:ext uri="{BB962C8B-B14F-4D97-AF65-F5344CB8AC3E}">
        <p14:creationId xmlns:p14="http://schemas.microsoft.com/office/powerpoint/2010/main" val="1795888277"/>
      </p:ext>
    </p:extLst>
  </p:cSld>
</p:sld>
</file>

<file path=ppt/slides/slide11.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161950F-28E2-4CEF-9F54-E5D61E24461F}"/>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EE60E531-F6A4-4E3F-9EE0-7DA6B595A422}"/>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Three different meanings of weight</a:t>
            </a:r>
          </a:p>
        </p:txBody>
      </p:sp>
      <p:sp>
        <p:nvSpPr>
          <p:cNvPr id="3" name="">
            <a:extLst xmlns:a="http://schemas.openxmlformats.org/drawingml/2006/main">
              <a:ext uri="{FF2B5EF4-FFF2-40B4-BE49-F238E27FC236}">
                <a16:creationId xmlns:a16="http://schemas.microsoft.com/office/drawing/2014/main" id="{CC63EDAC-894C-4182-A908-CA91E4BC0225}"/>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Conflating them produces unsafe explanations</a:t>
            </a:r>
          </a:p>
        </p:txBody>
      </p:sp>
      <p:sp>
        <p:nvSpPr>
          <p:cNvPr id="4" name="">
            <a:extLst xmlns:a="http://schemas.openxmlformats.org/drawingml/2006/main">
              <a:ext uri="{FF2B5EF4-FFF2-40B4-BE49-F238E27FC236}">
                <a16:creationId xmlns:a16="http://schemas.microsoft.com/office/drawing/2014/main" id="{EE60D2CB-6649-4396-BDA4-4C8DFE9ECC1A}"/>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D15A9F05-523A-406F-BDD9-91190C1B8A35}"/>
              </a:ext>
            </a:extLst>
          </p:cNvPr>
          <p:cNvSpPr>
            <a:spLocks xmlns:a="http://schemas.openxmlformats.org/drawingml/2006/main" noGrp="1"/>
          </p:cNvSpPr>
          <p:nvPr/>
        </p:nvSpPr>
        <p:spPr>
          <a:xfrm xmlns:a="http://schemas.openxmlformats.org/drawingml/2006/main">
            <a:off x="723900" y="16668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1768C4"/>
                </a:solidFill>
                <a:latin typeface="Arial"/>
                <a:ea typeface="Arial"/>
                <a:cs typeface="Arial"/>
              </a:defRPr>
            </a:pPr>
            <a:r>
              <a:rPr sz="1875" b="1">
                <a:solidFill>
                  <a:srgbClr val="1768C4"/>
                </a:solidFill>
                <a:latin typeface="Arial"/>
                <a:ea typeface="Arial"/>
                <a:cs typeface="Arial"/>
              </a:rPr>
              <a:t>Physics parameters</a:t>
            </a:r>
          </a:p>
        </p:txBody>
      </p:sp>
      <p:sp>
        <p:nvSpPr>
          <p:cNvPr id="6" name="">
            <a:extLst xmlns:a="http://schemas.openxmlformats.org/drawingml/2006/main">
              <a:ext uri="{FF2B5EF4-FFF2-40B4-BE49-F238E27FC236}">
                <a16:creationId xmlns:a16="http://schemas.microsoft.com/office/drawing/2014/main" id="{3B478D6D-BD0A-42CB-8CA4-D51697FF8FB2}"/>
              </a:ext>
            </a:extLst>
          </p:cNvPr>
          <p:cNvSpPr>
            <a:spLocks xmlns:a="http://schemas.openxmlformats.org/drawingml/2006/main" noGrp="1"/>
          </p:cNvSpPr>
          <p:nvPr/>
        </p:nvSpPr>
        <p:spPr>
          <a:xfrm xmlns:a="http://schemas.openxmlformats.org/drawingml/2006/main">
            <a:off x="3667125" y="166687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Units and causal state transitions</a:t>
            </a:r>
          </a:p>
        </p:txBody>
      </p:sp>
      <p:sp>
        <p:nvSpPr>
          <p:cNvPr id="7" name="">
            <a:extLst xmlns:a="http://schemas.openxmlformats.org/drawingml/2006/main">
              <a:ext uri="{FF2B5EF4-FFF2-40B4-BE49-F238E27FC236}">
                <a16:creationId xmlns:a16="http://schemas.microsoft.com/office/drawing/2014/main" id="{EED2C5A9-7DE5-4172-814E-DE40E658B3E2}"/>
              </a:ext>
            </a:extLst>
          </p:cNvPr>
          <p:cNvSpPr>
            <a:spLocks xmlns:a="http://schemas.openxmlformats.org/drawingml/2006/main" noGrp="1"/>
          </p:cNvSpPr>
          <p:nvPr/>
        </p:nvSpPr>
        <p:spPr>
          <a:xfrm xmlns:a="http://schemas.openxmlformats.org/drawingml/2006/main">
            <a:off x="7858125" y="1666875"/>
            <a:ext cx="347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Calibrate drag, grip and efficiency</a:t>
            </a:r>
          </a:p>
        </p:txBody>
      </p:sp>
      <p:sp>
        <p:nvSpPr>
          <p:cNvPr id="8" name="">
            <a:extLst xmlns:a="http://schemas.openxmlformats.org/drawingml/2006/main">
              <a:ext uri="{FF2B5EF4-FFF2-40B4-BE49-F238E27FC236}">
                <a16:creationId xmlns:a16="http://schemas.microsoft.com/office/drawing/2014/main" id="{91BEED0A-5D69-452F-BAF7-96E85A18895C}"/>
              </a:ext>
            </a:extLst>
          </p:cNvPr>
          <p:cNvSpPr>
            <a:spLocks xmlns:a="http://schemas.openxmlformats.org/drawingml/2006/main" noGrp="1"/>
          </p:cNvSpPr>
          <p:nvPr/>
        </p:nvSpPr>
        <p:spPr>
          <a:xfrm xmlns:a="http://schemas.openxmlformats.org/drawingml/2006/main">
            <a:off x="723900" y="2466975"/>
            <a:ext cx="1061085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9" name="">
            <a:extLst xmlns:a="http://schemas.openxmlformats.org/drawingml/2006/main">
              <a:ext uri="{FF2B5EF4-FFF2-40B4-BE49-F238E27FC236}">
                <a16:creationId xmlns:a16="http://schemas.microsoft.com/office/drawing/2014/main" id="{8D8A746B-3F3D-4937-8587-C8DC0D6D45F4}"/>
              </a:ext>
            </a:extLst>
          </p:cNvPr>
          <p:cNvSpPr>
            <a:spLocks xmlns:a="http://schemas.openxmlformats.org/drawingml/2006/main" noGrp="1"/>
          </p:cNvSpPr>
          <p:nvPr/>
        </p:nvSpPr>
        <p:spPr>
          <a:xfrm xmlns:a="http://schemas.openxmlformats.org/drawingml/2006/main">
            <a:off x="723900" y="2857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E5A637"/>
                </a:solidFill>
                <a:latin typeface="Arial"/>
                <a:ea typeface="Arial"/>
                <a:cs typeface="Arial"/>
              </a:defRPr>
            </a:pPr>
            <a:r>
              <a:rPr sz="1875" b="1">
                <a:solidFill>
                  <a:srgbClr val="E5A637"/>
                </a:solidFill>
                <a:latin typeface="Arial"/>
                <a:ea typeface="Arial"/>
                <a:cs typeface="Arial"/>
              </a:rPr>
              <a:t>Reward coefficients</a:t>
            </a:r>
          </a:p>
        </p:txBody>
      </p:sp>
      <p:sp>
        <p:nvSpPr>
          <p:cNvPr id="10" name="">
            <a:extLst xmlns:a="http://schemas.openxmlformats.org/drawingml/2006/main">
              <a:ext uri="{FF2B5EF4-FFF2-40B4-BE49-F238E27FC236}">
                <a16:creationId xmlns:a16="http://schemas.microsoft.com/office/drawing/2014/main" id="{BA122D42-CA86-44A5-8B3D-BA0AC28F54D0}"/>
              </a:ext>
            </a:extLst>
          </p:cNvPr>
          <p:cNvSpPr>
            <a:spLocks xmlns:a="http://schemas.openxmlformats.org/drawingml/2006/main" noGrp="1"/>
          </p:cNvSpPr>
          <p:nvPr/>
        </p:nvSpPr>
        <p:spPr>
          <a:xfrm xmlns:a="http://schemas.openxmlformats.org/drawingml/2006/main">
            <a:off x="3667125" y="28575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Human priorities in objective-v1</a:t>
            </a:r>
          </a:p>
        </p:txBody>
      </p:sp>
      <p:sp>
        <p:nvSpPr>
          <p:cNvPr id="11" name="">
            <a:extLst xmlns:a="http://schemas.openxmlformats.org/drawingml/2006/main">
              <a:ext uri="{FF2B5EF4-FFF2-40B4-BE49-F238E27FC236}">
                <a16:creationId xmlns:a16="http://schemas.microsoft.com/office/drawing/2014/main" id="{3F520FE9-F557-44CA-BBDA-1BCB2A5FFEA5}"/>
              </a:ext>
            </a:extLst>
          </p:cNvPr>
          <p:cNvSpPr>
            <a:spLocks xmlns:a="http://schemas.openxmlformats.org/drawingml/2006/main" noGrp="1"/>
          </p:cNvSpPr>
          <p:nvPr/>
        </p:nvSpPr>
        <p:spPr>
          <a:xfrm xmlns:a="http://schemas.openxmlformats.org/drawingml/2006/main">
            <a:off x="7858125" y="2857500"/>
            <a:ext cx="347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Freeze before final evaluation</a:t>
            </a:r>
          </a:p>
        </p:txBody>
      </p:sp>
      <p:sp>
        <p:nvSpPr>
          <p:cNvPr id="12" name="">
            <a:extLst xmlns:a="http://schemas.openxmlformats.org/drawingml/2006/main">
              <a:ext uri="{FF2B5EF4-FFF2-40B4-BE49-F238E27FC236}">
                <a16:creationId xmlns:a16="http://schemas.microsoft.com/office/drawing/2014/main" id="{5E87BB42-4E59-48D7-8972-952AA22D9D65}"/>
              </a:ext>
            </a:extLst>
          </p:cNvPr>
          <p:cNvSpPr>
            <a:spLocks xmlns:a="http://schemas.openxmlformats.org/drawingml/2006/main" noGrp="1"/>
          </p:cNvSpPr>
          <p:nvPr/>
        </p:nvSpPr>
        <p:spPr>
          <a:xfrm xmlns:a="http://schemas.openxmlformats.org/drawingml/2006/main">
            <a:off x="723900" y="3657600"/>
            <a:ext cx="1061085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13" name="">
            <a:extLst xmlns:a="http://schemas.openxmlformats.org/drawingml/2006/main">
              <a:ext uri="{FF2B5EF4-FFF2-40B4-BE49-F238E27FC236}">
                <a16:creationId xmlns:a16="http://schemas.microsoft.com/office/drawing/2014/main" id="{0D6047AA-A3B4-46EC-9065-96EE97D6FB3D}"/>
              </a:ext>
            </a:extLst>
          </p:cNvPr>
          <p:cNvSpPr>
            <a:spLocks xmlns:a="http://schemas.openxmlformats.org/drawingml/2006/main" noGrp="1"/>
          </p:cNvSpPr>
          <p:nvPr/>
        </p:nvSpPr>
        <p:spPr>
          <a:xfrm xmlns:a="http://schemas.openxmlformats.org/drawingml/2006/main">
            <a:off x="723900" y="40481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7B5A9A"/>
                </a:solidFill>
                <a:latin typeface="Arial"/>
                <a:ea typeface="Arial"/>
                <a:cs typeface="Arial"/>
              </a:defRPr>
            </a:pPr>
            <a:r>
              <a:rPr sz="1875" b="1">
                <a:solidFill>
                  <a:srgbClr val="7B5A9A"/>
                </a:solidFill>
                <a:latin typeface="Arial"/>
                <a:ea typeface="Arial"/>
                <a:cs typeface="Arial"/>
              </a:rPr>
              <a:t>Policy influence</a:t>
            </a:r>
          </a:p>
        </p:txBody>
      </p:sp>
      <p:sp>
        <p:nvSpPr>
          <p:cNvPr id="14" name="">
            <a:extLst xmlns:a="http://schemas.openxmlformats.org/drawingml/2006/main">
              <a:ext uri="{FF2B5EF4-FFF2-40B4-BE49-F238E27FC236}">
                <a16:creationId xmlns:a16="http://schemas.microsoft.com/office/drawing/2014/main" id="{326BE6DC-034B-43A5-8BE1-27ACFCDAA6EE}"/>
              </a:ext>
            </a:extLst>
          </p:cNvPr>
          <p:cNvSpPr>
            <a:spLocks xmlns:a="http://schemas.openxmlformats.org/drawingml/2006/main" noGrp="1"/>
          </p:cNvSpPr>
          <p:nvPr/>
        </p:nvSpPr>
        <p:spPr>
          <a:xfrm xmlns:a="http://schemas.openxmlformats.org/drawingml/2006/main">
            <a:off x="3667125" y="404812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Nonlinear dependence on state</a:t>
            </a:r>
          </a:p>
        </p:txBody>
      </p:sp>
      <p:sp>
        <p:nvSpPr>
          <p:cNvPr id="15" name="">
            <a:extLst xmlns:a="http://schemas.openxmlformats.org/drawingml/2006/main">
              <a:ext uri="{FF2B5EF4-FFF2-40B4-BE49-F238E27FC236}">
                <a16:creationId xmlns:a16="http://schemas.microsoft.com/office/drawing/2014/main" id="{7A5630FD-57BC-4540-A21B-5AA7C7FD10B9}"/>
              </a:ext>
            </a:extLst>
          </p:cNvPr>
          <p:cNvSpPr>
            <a:spLocks xmlns:a="http://schemas.openxmlformats.org/drawingml/2006/main" noGrp="1"/>
          </p:cNvSpPr>
          <p:nvPr/>
        </p:nvSpPr>
        <p:spPr>
          <a:xfrm xmlns:a="http://schemas.openxmlformats.org/drawingml/2006/main">
            <a:off x="7858125" y="4048125"/>
            <a:ext cx="347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87"/>
          </a:bodyPr>
          <a:lstStyle xmlns:a="http://schemas.openxmlformats.org/drawingml/2006/main"/>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Measure with interventions and ablations</a:t>
            </a:r>
          </a:p>
        </p:txBody>
      </p:sp>
      <p:sp>
        <p:nvSpPr>
          <p:cNvPr id="16" name="">
            <a:extLst xmlns:a="http://schemas.openxmlformats.org/drawingml/2006/main">
              <a:ext uri="{FF2B5EF4-FFF2-40B4-BE49-F238E27FC236}">
                <a16:creationId xmlns:a16="http://schemas.microsoft.com/office/drawing/2014/main" id="{ACEF83C3-E786-4C46-BEC9-454C9D44263B}"/>
              </a:ext>
            </a:extLst>
          </p:cNvPr>
          <p:cNvSpPr>
            <a:spLocks xmlns:a="http://schemas.openxmlformats.org/drawingml/2006/main" noGrp="1"/>
          </p:cNvSpPr>
          <p:nvPr/>
        </p:nvSpPr>
        <p:spPr>
          <a:xfrm xmlns:a="http://schemas.openxmlformats.org/drawingml/2006/main">
            <a:off x="723900" y="4848225"/>
            <a:ext cx="1061085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17" name="">
            <a:extLst xmlns:a="http://schemas.openxmlformats.org/drawingml/2006/main">
              <a:ext uri="{FF2B5EF4-FFF2-40B4-BE49-F238E27FC236}">
                <a16:creationId xmlns:a16="http://schemas.microsoft.com/office/drawing/2014/main" id="{885EE0DF-845D-41DA-80BB-F5271493B79B}"/>
              </a:ext>
            </a:extLst>
          </p:cNvPr>
          <p:cNvSpPr>
            <a:spLocks xmlns:a="http://schemas.openxmlformats.org/drawingml/2006/main" noGrp="1"/>
          </p:cNvSpPr>
          <p:nvPr/>
        </p:nvSpPr>
        <p:spPr>
          <a:xfrm xmlns:a="http://schemas.openxmlformats.org/drawingml/2006/main">
            <a:off x="723900" y="54292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defRPr sz="1875" b="1">
                <a:solidFill>
                  <a:srgbClr val="17212B"/>
                </a:solidFill>
                <a:latin typeface="Arial"/>
                <a:ea typeface="Arial"/>
                <a:cs typeface="Arial"/>
              </a:defRPr>
            </a:pPr>
            <a:r>
              <a:rPr sz="1875" b="1">
                <a:solidFill>
                  <a:srgbClr val="17212B"/>
                </a:solidFill>
                <a:latin typeface="Arial"/>
                <a:ea typeface="Arial"/>
                <a:cs typeface="Arial"/>
              </a:rPr>
              <a:t>Explain one decision by replaying the same snapshot with a controlled change</a:t>
            </a:r>
          </a:p>
        </p:txBody>
      </p:sp>
      <p:sp>
        <p:nvSpPr>
          <p:cNvPr id="18" name="">
            <a:extLst xmlns:a="http://schemas.openxmlformats.org/drawingml/2006/main">
              <a:ext uri="{FF2B5EF4-FFF2-40B4-BE49-F238E27FC236}">
                <a16:creationId xmlns:a16="http://schemas.microsoft.com/office/drawing/2014/main" id="{A1CBACC3-89D0-49C1-968F-1C74AC862BE7}"/>
              </a:ext>
            </a:extLst>
          </p:cNvPr>
          <p:cNvSpPr>
            <a:spLocks xmlns:a="http://schemas.openxmlformats.org/drawingml/2006/main" noGrp="1"/>
          </p:cNvSpPr>
          <p:nvPr/>
        </p:nvSpPr>
        <p:spPr>
          <a:xfrm xmlns:a="http://schemas.openxmlformats.org/drawingml/2006/main">
            <a:off x="723900" y="5867400"/>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0">
                <a:solidFill>
                  <a:srgbClr val="1768C4"/>
                </a:solidFill>
                <a:latin typeface="Arial"/>
                <a:ea typeface="Arial"/>
                <a:cs typeface="Arial"/>
              </a:defRPr>
            </a:pPr>
            <a:r>
              <a:rPr sz="1350" b="0">
                <a:solidFill>
                  <a:srgbClr val="1768C4"/>
                </a:solidFill>
                <a:latin typeface="Arial"/>
                <a:ea typeface="Arial"/>
                <a:cs typeface="Arial"/>
              </a:rPr>
              <a:t>Track, state, action and baseline stay attached to every explanation</a:t>
            </a:r>
          </a:p>
        </p:txBody>
      </p:sp>
      <p:sp>
        <p:nvSpPr>
          <p:cNvPr id="19" name="">
            <a:extLst xmlns:a="http://schemas.openxmlformats.org/drawingml/2006/main">
              <a:ext uri="{FF2B5EF4-FFF2-40B4-BE49-F238E27FC236}">
                <a16:creationId xmlns:a16="http://schemas.microsoft.com/office/drawing/2014/main" id="{7AB1330E-0F7C-45BA-9F5C-4827379736BF}"/>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0" name="">
            <a:extLst xmlns:a="http://schemas.openxmlformats.org/drawingml/2006/main">
              <a:ext uri="{FF2B5EF4-FFF2-40B4-BE49-F238E27FC236}">
                <a16:creationId xmlns:a16="http://schemas.microsoft.com/office/drawing/2014/main" id="{AE94300E-33AC-4D24-9D34-5337F11D01AF}"/>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21" name="">
            <a:extLst xmlns:a="http://schemas.openxmlformats.org/drawingml/2006/main">
              <a:ext uri="{FF2B5EF4-FFF2-40B4-BE49-F238E27FC236}">
                <a16:creationId xmlns:a16="http://schemas.microsoft.com/office/drawing/2014/main" id="{703495B8-B2D7-4420-9D36-7A77B9AABC80}"/>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11</a:t>
            </a:r>
          </a:p>
        </p:txBody>
      </p:sp>
    </p:spTree>
    <p:extLst>
      <p:ext uri="{BB962C8B-B14F-4D97-AF65-F5344CB8AC3E}">
        <p14:creationId xmlns:p14="http://schemas.microsoft.com/office/powerpoint/2010/main" val="1208653733"/>
      </p:ext>
    </p:extLst>
  </p:cSld>
</p:sld>
</file>

<file path=ppt/slides/slide12.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E677799-BF31-48FD-8254-FA949E4F6D3A}"/>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4AF90D66-7C95-4D9E-A095-C080E6A145E3}"/>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7212B"/>
                </a:solidFill>
                <a:latin typeface="Arial"/>
                <a:ea typeface="Arial"/>
                <a:cs typeface="Arial"/>
              </a:defRPr>
            </a:pPr>
            <a:r>
              <a:rPr sz="3000" b="1">
                <a:solidFill>
                  <a:srgbClr val="17212B"/>
                </a:solidFill>
                <a:latin typeface="Arial"/>
                <a:ea typeface="Arial"/>
                <a:cs typeface="Arial"/>
              </a:rPr>
              <a:t>Training across real circuits</a:t>
            </a:r>
          </a:p>
        </p:txBody>
      </p:sp>
      <p:sp>
        <p:nvSpPr>
          <p:cNvPr id="3" name="">
            <a:extLst xmlns:a="http://schemas.openxmlformats.org/drawingml/2006/main">
              <a:ext uri="{FF2B5EF4-FFF2-40B4-BE49-F238E27FC236}">
                <a16:creationId xmlns:a16="http://schemas.microsoft.com/office/drawing/2014/main" id="{BBDFC2E7-61AB-4427-9358-A1ED01AEA46A}"/>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The policy sees geometry and conditions, not a track-name shortcut</a:t>
            </a:r>
          </a:p>
        </p:txBody>
      </p:sp>
      <p:sp>
        <p:nvSpPr>
          <p:cNvPr id="4" name="">
            <a:extLst xmlns:a="http://schemas.openxmlformats.org/drawingml/2006/main">
              <a:ext uri="{FF2B5EF4-FFF2-40B4-BE49-F238E27FC236}">
                <a16:creationId xmlns:a16="http://schemas.microsoft.com/office/drawing/2014/main" id="{2EB9C8D2-A313-4613-A4A4-44717653839B}"/>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93B6D2A8-C04A-4907-99D7-355BD47DB313}"/>
              </a:ext>
            </a:extLst>
          </p:cNvPr>
          <p:cNvSpPr>
            <a:spLocks xmlns:a="http://schemas.openxmlformats.org/drawingml/2006/main" noGrp="1"/>
          </p:cNvSpPr>
          <p:nvPr/>
        </p:nvSpPr>
        <p:spPr>
          <a:xfrm xmlns:a="http://schemas.openxmlformats.org/drawingml/2006/main">
            <a:off x="666750" y="1762125"/>
            <a:ext cx="2238375"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6" name="">
            <a:extLst xmlns:a="http://schemas.openxmlformats.org/drawingml/2006/main">
              <a:ext uri="{FF2B5EF4-FFF2-40B4-BE49-F238E27FC236}">
                <a16:creationId xmlns:a16="http://schemas.microsoft.com/office/drawing/2014/main" id="{C2FBD228-6241-4E0C-AF21-61DF391D967A}"/>
              </a:ext>
            </a:extLst>
          </p:cNvPr>
          <p:cNvSpPr>
            <a:spLocks xmlns:a="http://schemas.openxmlformats.org/drawingml/2006/main" noGrp="1"/>
          </p:cNvSpPr>
          <p:nvPr/>
        </p:nvSpPr>
        <p:spPr>
          <a:xfrm xmlns:a="http://schemas.openxmlformats.org/drawingml/2006/main">
            <a:off x="819150" y="19050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l">
              <a:defRPr sz="2100" b="1">
                <a:solidFill>
                  <a:srgbClr val="5D6872"/>
                </a:solidFill>
                <a:latin typeface="Arial"/>
                <a:ea typeface="Arial"/>
                <a:cs typeface="Arial"/>
              </a:defRPr>
            </a:pPr>
            <a:r>
              <a:rPr sz="2100" b="1">
                <a:solidFill>
                  <a:srgbClr val="5D6872"/>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49C33C5-F64D-4755-8211-CC818526FB1F}"/>
              </a:ext>
            </a:extLst>
          </p:cNvPr>
          <p:cNvSpPr>
            <a:spLocks xmlns:a="http://schemas.openxmlformats.org/drawingml/2006/main" noGrp="1"/>
          </p:cNvSpPr>
          <p:nvPr/>
        </p:nvSpPr>
        <p:spPr>
          <a:xfrm xmlns:a="http://schemas.openxmlformats.org/drawingml/2006/main">
            <a:off x="819150" y="23241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Energy primitives</a:t>
            </a:r>
          </a:p>
        </p:txBody>
      </p:sp>
      <p:sp>
        <p:nvSpPr>
          <p:cNvPr id="8" name="">
            <a:extLst xmlns:a="http://schemas.openxmlformats.org/drawingml/2006/main">
              <a:ext uri="{FF2B5EF4-FFF2-40B4-BE49-F238E27FC236}">
                <a16:creationId xmlns:a16="http://schemas.microsoft.com/office/drawing/2014/main" id="{4EA4D2DF-37B9-4791-BB46-656179B7B6B6}"/>
              </a:ext>
            </a:extLst>
          </p:cNvPr>
          <p:cNvSpPr>
            <a:spLocks xmlns:a="http://schemas.openxmlformats.org/drawingml/2006/main" noGrp="1"/>
          </p:cNvSpPr>
          <p:nvPr/>
        </p:nvSpPr>
        <p:spPr>
          <a:xfrm xmlns:a="http://schemas.openxmlformats.org/drawingml/2006/main">
            <a:off x="819150" y="26479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l">
              <a:defRPr sz="1200" b="0">
                <a:solidFill>
                  <a:srgbClr val="5D6872"/>
                </a:solidFill>
                <a:latin typeface="Arial"/>
                <a:ea typeface="Arial"/>
                <a:cs typeface="Arial"/>
              </a:defRPr>
            </a:pPr>
            <a:r>
              <a:rPr sz="1200" b="0">
                <a:solidFill>
                  <a:srgbClr val="5D6872"/>
                </a:solidFill>
                <a:latin typeface="Arial"/>
                <a:ea typeface="Arial"/>
                <a:cs typeface="Arial"/>
              </a:rPr>
              <a:t>Conservation and reward checks</a:t>
            </a:r>
          </a:p>
        </p:txBody>
      </p:sp>
      <p:sp>
        <p:nvSpPr>
          <p:cNvPr id="9" name="">
            <a:extLst xmlns:a="http://schemas.openxmlformats.org/drawingml/2006/main">
              <a:ext uri="{FF2B5EF4-FFF2-40B4-BE49-F238E27FC236}">
                <a16:creationId xmlns:a16="http://schemas.microsoft.com/office/drawing/2014/main" id="{DBD20A5A-5A02-4417-94D1-BB668F33FCE6}"/>
              </a:ext>
            </a:extLst>
          </p:cNvPr>
          <p:cNvSpPr>
            <a:spLocks xmlns:a="http://schemas.openxmlformats.org/drawingml/2006/main" noGrp="1"/>
          </p:cNvSpPr>
          <p:nvPr/>
        </p:nvSpPr>
        <p:spPr>
          <a:xfrm xmlns:a="http://schemas.openxmlformats.org/drawingml/2006/main">
            <a:off x="3381375" y="1762125"/>
            <a:ext cx="2238375"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0" name="">
            <a:extLst xmlns:a="http://schemas.openxmlformats.org/drawingml/2006/main">
              <a:ext uri="{FF2B5EF4-FFF2-40B4-BE49-F238E27FC236}">
                <a16:creationId xmlns:a16="http://schemas.microsoft.com/office/drawing/2014/main" id="{75912595-2C99-4480-B2A9-C1701FBE2ABF}"/>
              </a:ext>
            </a:extLst>
          </p:cNvPr>
          <p:cNvSpPr>
            <a:spLocks xmlns:a="http://schemas.openxmlformats.org/drawingml/2006/main" noGrp="1"/>
          </p:cNvSpPr>
          <p:nvPr/>
        </p:nvSpPr>
        <p:spPr>
          <a:xfrm xmlns:a="http://schemas.openxmlformats.org/drawingml/2006/main">
            <a:off x="3533775" y="19050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l">
              <a:defRPr sz="2100" b="1">
                <a:solidFill>
                  <a:srgbClr val="5D6872"/>
                </a:solidFill>
                <a:latin typeface="Arial"/>
                <a:ea typeface="Arial"/>
                <a:cs typeface="Arial"/>
              </a:defRPr>
            </a:pPr>
            <a:r>
              <a:rPr sz="2100" b="1">
                <a:solidFill>
                  <a:srgbClr val="5D6872"/>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6298E9FC-8E83-4987-8E72-B36A151BDA02}"/>
              </a:ext>
            </a:extLst>
          </p:cNvPr>
          <p:cNvSpPr>
            <a:spLocks xmlns:a="http://schemas.openxmlformats.org/drawingml/2006/main" noGrp="1"/>
          </p:cNvSpPr>
          <p:nvPr/>
        </p:nvSpPr>
        <p:spPr>
          <a:xfrm xmlns:a="http://schemas.openxmlformats.org/drawingml/2006/main">
            <a:off x="3533775" y="23241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Complete circuit</a:t>
            </a:r>
          </a:p>
        </p:txBody>
      </p:sp>
      <p:sp>
        <p:nvSpPr>
          <p:cNvPr id="12" name="">
            <a:extLst xmlns:a="http://schemas.openxmlformats.org/drawingml/2006/main">
              <a:ext uri="{FF2B5EF4-FFF2-40B4-BE49-F238E27FC236}">
                <a16:creationId xmlns:a16="http://schemas.microsoft.com/office/drawing/2014/main" id="{CAF433EF-8F0C-4ED0-B9C7-AFFC4DDA774B}"/>
              </a:ext>
            </a:extLst>
          </p:cNvPr>
          <p:cNvSpPr>
            <a:spLocks xmlns:a="http://schemas.openxmlformats.org/drawingml/2006/main" noGrp="1"/>
          </p:cNvSpPr>
          <p:nvPr/>
        </p:nvSpPr>
        <p:spPr>
          <a:xfrm xmlns:a="http://schemas.openxmlformats.org/drawingml/2006/main">
            <a:off x="3533775" y="26479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009"/>
          </a:bodyPr>
          <a:lstStyle xmlns:a="http://schemas.openxmlformats.org/drawingml/2006/main"/>
          <a:p xmlns:a="http://schemas.openxmlformats.org/drawingml/2006/main">
            <a:pPr algn="l">
              <a:defRPr sz="1200" b="0">
                <a:solidFill>
                  <a:srgbClr val="5D6872"/>
                </a:solidFill>
                <a:latin typeface="Arial"/>
                <a:ea typeface="Arial"/>
                <a:cs typeface="Arial"/>
              </a:defRPr>
            </a:pPr>
            <a:r>
              <a:rPr sz="1200" b="0">
                <a:solidFill>
                  <a:srgbClr val="5D6872"/>
                </a:solidFill>
                <a:latin typeface="Arial"/>
                <a:ea typeface="Arial"/>
                <a:cs typeface="Arial"/>
              </a:rPr>
              <a:t>Single-car pace and recovery</a:t>
            </a:r>
          </a:p>
        </p:txBody>
      </p:sp>
      <p:cxnSp>
        <p:nvCxnSpPr>
          <p:cNvPr id="48" name=""/>
          <p:cNvCxnSpPr>
            <a:stCxn xmlns:a="http://schemas.openxmlformats.org/drawingml/2006/main" id="5" idx="3"/>
            <a:endCxn xmlns:a="http://schemas.openxmlformats.org/drawingml/2006/main" id="9" idx="1"/>
          </p:cNvCxnSpPr>
          <p:nvPr/>
        </p:nvCxnSpPr>
        <p:spPr>
          <a:xfrm xmlns:a="http://schemas.openxmlformats.org/drawingml/2006/main">
            <a:off x="2905125" y="2452688"/>
            <a:ext cx="4762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4" name="">
            <a:extLst xmlns:a="http://schemas.openxmlformats.org/drawingml/2006/main">
              <a:ext uri="{FF2B5EF4-FFF2-40B4-BE49-F238E27FC236}">
                <a16:creationId xmlns:a16="http://schemas.microsoft.com/office/drawing/2014/main" id="{DEC0B3AD-65D6-411B-BAB7-214B1D3C5FB5}"/>
              </a:ext>
            </a:extLst>
          </p:cNvPr>
          <p:cNvSpPr>
            <a:spLocks xmlns:a="http://schemas.openxmlformats.org/drawingml/2006/main" noGrp="1"/>
          </p:cNvSpPr>
          <p:nvPr/>
        </p:nvSpPr>
        <p:spPr>
          <a:xfrm xmlns:a="http://schemas.openxmlformats.org/drawingml/2006/main">
            <a:off x="6096000" y="1762125"/>
            <a:ext cx="2238375"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5" name="">
            <a:extLst xmlns:a="http://schemas.openxmlformats.org/drawingml/2006/main">
              <a:ext uri="{FF2B5EF4-FFF2-40B4-BE49-F238E27FC236}">
                <a16:creationId xmlns:a16="http://schemas.microsoft.com/office/drawing/2014/main" id="{92441023-66AC-4894-8FD1-98077EBFAE8A}"/>
              </a:ext>
            </a:extLst>
          </p:cNvPr>
          <p:cNvSpPr>
            <a:spLocks xmlns:a="http://schemas.openxmlformats.org/drawingml/2006/main" noGrp="1"/>
          </p:cNvSpPr>
          <p:nvPr/>
        </p:nvSpPr>
        <p:spPr>
          <a:xfrm xmlns:a="http://schemas.openxmlformats.org/drawingml/2006/main">
            <a:off x="6248400" y="19050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l">
              <a:defRPr sz="2100" b="1">
                <a:solidFill>
                  <a:srgbClr val="5D6872"/>
                </a:solidFill>
                <a:latin typeface="Arial"/>
                <a:ea typeface="Arial"/>
                <a:cs typeface="Arial"/>
              </a:defRPr>
            </a:pPr>
            <a:r>
              <a:rPr sz="2100" b="1">
                <a:solidFill>
                  <a:srgbClr val="5D6872"/>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56A5064A-08BA-4EBC-A614-67DEE35AE437}"/>
              </a:ext>
            </a:extLst>
          </p:cNvPr>
          <p:cNvSpPr>
            <a:spLocks xmlns:a="http://schemas.openxmlformats.org/drawingml/2006/main" noGrp="1"/>
          </p:cNvSpPr>
          <p:nvPr/>
        </p:nvSpPr>
        <p:spPr>
          <a:xfrm xmlns:a="http://schemas.openxmlformats.org/drawingml/2006/main">
            <a:off x="6248400" y="23241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Battle zones</a:t>
            </a:r>
          </a:p>
        </p:txBody>
      </p:sp>
      <p:sp>
        <p:nvSpPr>
          <p:cNvPr id="17" name="">
            <a:extLst xmlns:a="http://schemas.openxmlformats.org/drawingml/2006/main">
              <a:ext uri="{FF2B5EF4-FFF2-40B4-BE49-F238E27FC236}">
                <a16:creationId xmlns:a16="http://schemas.microsoft.com/office/drawing/2014/main" id="{56719187-0F81-4D45-8818-1EA80DD7116E}"/>
              </a:ext>
            </a:extLst>
          </p:cNvPr>
          <p:cNvSpPr>
            <a:spLocks xmlns:a="http://schemas.openxmlformats.org/drawingml/2006/main" noGrp="1"/>
          </p:cNvSpPr>
          <p:nvPr/>
        </p:nvSpPr>
        <p:spPr>
          <a:xfrm xmlns:a="http://schemas.openxmlformats.org/drawingml/2006/main">
            <a:off x="6248400" y="26479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l">
              <a:defRPr sz="1200" b="0">
                <a:solidFill>
                  <a:srgbClr val="5D6872"/>
                </a:solidFill>
                <a:latin typeface="Arial"/>
                <a:ea typeface="Arial"/>
                <a:cs typeface="Arial"/>
              </a:defRPr>
            </a:pPr>
            <a:r>
              <a:rPr sz="1200" b="0">
                <a:solidFill>
                  <a:srgbClr val="5D6872"/>
                </a:solidFill>
                <a:latin typeface="Arial"/>
                <a:ea typeface="Arial"/>
                <a:cs typeface="Arial"/>
              </a:rPr>
              <a:t>Reactive rival and driver delay</a:t>
            </a:r>
          </a:p>
        </p:txBody>
      </p:sp>
      <p:cxnSp>
        <p:nvCxnSpPr>
          <p:cNvPr id="53" name=""/>
          <p:cNvCxnSpPr>
            <a:stCxn xmlns:a="http://schemas.openxmlformats.org/drawingml/2006/main" id="9" idx="3"/>
            <a:endCxn xmlns:a="http://schemas.openxmlformats.org/drawingml/2006/main" id="14" idx="1"/>
          </p:cNvCxnSpPr>
          <p:nvPr/>
        </p:nvCxnSpPr>
        <p:spPr>
          <a:xfrm xmlns:a="http://schemas.openxmlformats.org/drawingml/2006/main">
            <a:off x="5619750" y="2452688"/>
            <a:ext cx="4762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9" name="">
            <a:extLst xmlns:a="http://schemas.openxmlformats.org/drawingml/2006/main">
              <a:ext uri="{FF2B5EF4-FFF2-40B4-BE49-F238E27FC236}">
                <a16:creationId xmlns:a16="http://schemas.microsoft.com/office/drawing/2014/main" id="{D6AC1F75-3696-4C49-85F9-DD7488486F01}"/>
              </a:ext>
            </a:extLst>
          </p:cNvPr>
          <p:cNvSpPr>
            <a:spLocks xmlns:a="http://schemas.openxmlformats.org/drawingml/2006/main" noGrp="1"/>
          </p:cNvSpPr>
          <p:nvPr/>
        </p:nvSpPr>
        <p:spPr>
          <a:xfrm xmlns:a="http://schemas.openxmlformats.org/drawingml/2006/main">
            <a:off x="8810625" y="1762125"/>
            <a:ext cx="2238375"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1768C4"/>
            </a:solidFill>
            <a:prstDash val="solid"/>
          </a:ln>
        </p:spPr>
      </p:sp>
      <p:sp>
        <p:nvSpPr>
          <p:cNvPr id="20" name="">
            <a:extLst xmlns:a="http://schemas.openxmlformats.org/drawingml/2006/main">
              <a:ext uri="{FF2B5EF4-FFF2-40B4-BE49-F238E27FC236}">
                <a16:creationId xmlns:a16="http://schemas.microsoft.com/office/drawing/2014/main" id="{CBA0DF8E-C30C-40CB-BBF8-CBC3B3D26B07}"/>
              </a:ext>
            </a:extLst>
          </p:cNvPr>
          <p:cNvSpPr>
            <a:spLocks xmlns:a="http://schemas.openxmlformats.org/drawingml/2006/main" noGrp="1"/>
          </p:cNvSpPr>
          <p:nvPr/>
        </p:nvSpPr>
        <p:spPr>
          <a:xfrm xmlns:a="http://schemas.openxmlformats.org/drawingml/2006/main">
            <a:off x="8963025" y="19050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l">
              <a:defRPr sz="2100" b="1">
                <a:solidFill>
                  <a:srgbClr val="1768C4"/>
                </a:solidFill>
                <a:latin typeface="Arial"/>
                <a:ea typeface="Arial"/>
                <a:cs typeface="Arial"/>
              </a:defRPr>
            </a:pPr>
            <a:r>
              <a:rPr sz="2100" b="1">
                <a:solidFill>
                  <a:srgbClr val="1768C4"/>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DC502932-B5DA-4C87-9246-697DF736C42B}"/>
              </a:ext>
            </a:extLst>
          </p:cNvPr>
          <p:cNvSpPr>
            <a:spLocks xmlns:a="http://schemas.openxmlformats.org/drawingml/2006/main" noGrp="1"/>
          </p:cNvSpPr>
          <p:nvPr/>
        </p:nvSpPr>
        <p:spPr>
          <a:xfrm xmlns:a="http://schemas.openxmlformats.org/drawingml/2006/main">
            <a:off x="8963025" y="23241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7212B"/>
                </a:solidFill>
                <a:latin typeface="Arial"/>
                <a:ea typeface="Arial"/>
                <a:cs typeface="Arial"/>
              </a:defRPr>
            </a:pPr>
            <a:r>
              <a:rPr sz="1500" b="1">
                <a:solidFill>
                  <a:srgbClr val="17212B"/>
                </a:solidFill>
                <a:latin typeface="Arial"/>
                <a:ea typeface="Arial"/>
                <a:cs typeface="Arial"/>
              </a:rPr>
              <a:t>Race segments</a:t>
            </a:r>
          </a:p>
        </p:txBody>
      </p:sp>
      <p:sp>
        <p:nvSpPr>
          <p:cNvPr id="22" name="">
            <a:extLst xmlns:a="http://schemas.openxmlformats.org/drawingml/2006/main">
              <a:ext uri="{FF2B5EF4-FFF2-40B4-BE49-F238E27FC236}">
                <a16:creationId xmlns:a16="http://schemas.microsoft.com/office/drawing/2014/main" id="{1142883E-1F91-4457-9AB4-1162B74BF8E1}"/>
              </a:ext>
            </a:extLst>
          </p:cNvPr>
          <p:cNvSpPr>
            <a:spLocks xmlns:a="http://schemas.openxmlformats.org/drawingml/2006/main" noGrp="1"/>
          </p:cNvSpPr>
          <p:nvPr/>
        </p:nvSpPr>
        <p:spPr>
          <a:xfrm xmlns:a="http://schemas.openxmlformats.org/drawingml/2006/main">
            <a:off x="8963025" y="26479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375"/>
          </a:bodyPr>
          <a:lstStyle xmlns:a="http://schemas.openxmlformats.org/drawingml/2006/main"/>
          <a:p xmlns:a="http://schemas.openxmlformats.org/drawingml/2006/main">
            <a:pPr algn="l">
              <a:defRPr sz="1200" b="0">
                <a:solidFill>
                  <a:srgbClr val="5D6872"/>
                </a:solidFill>
                <a:latin typeface="Arial"/>
                <a:ea typeface="Arial"/>
                <a:cs typeface="Arial"/>
              </a:defRPr>
            </a:pPr>
            <a:r>
              <a:rPr sz="1200" b="0">
                <a:solidFill>
                  <a:srgbClr val="5D6872"/>
                </a:solidFill>
                <a:latin typeface="Arial"/>
                <a:ea typeface="Arial"/>
                <a:cs typeface="Arial"/>
              </a:rPr>
              <a:t>Weather, tyres, traffic and flags</a:t>
            </a:r>
          </a:p>
        </p:txBody>
      </p:sp>
      <p:cxnSp>
        <p:nvCxnSpPr>
          <p:cNvPr id="58" name=""/>
          <p:cNvCxnSpPr>
            <a:stCxn xmlns:a="http://schemas.openxmlformats.org/drawingml/2006/main" id="14" idx="3"/>
            <a:endCxn xmlns:a="http://schemas.openxmlformats.org/drawingml/2006/main" id="19" idx="1"/>
          </p:cNvCxnSpPr>
          <p:nvPr/>
        </p:nvCxnSpPr>
        <p:spPr>
          <a:xfrm xmlns:a="http://schemas.openxmlformats.org/drawingml/2006/main">
            <a:off x="8334375" y="2452688"/>
            <a:ext cx="4762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24" name="">
            <a:extLst xmlns:a="http://schemas.openxmlformats.org/drawingml/2006/main">
              <a:ext uri="{FF2B5EF4-FFF2-40B4-BE49-F238E27FC236}">
                <a16:creationId xmlns:a16="http://schemas.microsoft.com/office/drawing/2014/main" id="{A6231BCF-B201-4093-8E72-12CC0E72B838}"/>
              </a:ext>
            </a:extLst>
          </p:cNvPr>
          <p:cNvSpPr>
            <a:spLocks xmlns:a="http://schemas.openxmlformats.org/drawingml/2006/main" noGrp="1"/>
          </p:cNvSpPr>
          <p:nvPr/>
        </p:nvSpPr>
        <p:spPr>
          <a:xfrm xmlns:a="http://schemas.openxmlformats.org/drawingml/2006/main">
            <a:off x="666750" y="3762375"/>
            <a:ext cx="10572750" cy="1428750"/>
          </a:xfrm>
          <a:prstGeom xmlns:a="http://schemas.openxmlformats.org/drawingml/2006/main" prst="rect">
            <a:avLst/>
          </a:prstGeom>
          <a:solidFill xmlns:a="http://schemas.openxmlformats.org/drawingml/2006/main">
            <a:srgbClr val="17212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9721022-7D98-4C8F-A43E-D1AF2F603B64}"/>
              </a:ext>
            </a:extLst>
          </p:cNvPr>
          <p:cNvSpPr>
            <a:spLocks xmlns:a="http://schemas.openxmlformats.org/drawingml/2006/main" noGrp="1"/>
          </p:cNvSpPr>
          <p:nvPr/>
        </p:nvSpPr>
        <p:spPr>
          <a:xfrm xmlns:a="http://schemas.openxmlformats.org/drawingml/2006/main">
            <a:off x="914400" y="39624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75B7ED"/>
                </a:solidFill>
                <a:latin typeface="Arial"/>
                <a:ea typeface="Arial"/>
                <a:cs typeface="Arial"/>
              </a:defRPr>
            </a:pPr>
            <a:r>
              <a:rPr sz="975" b="1">
                <a:solidFill>
                  <a:srgbClr val="75B7ED"/>
                </a:solidFill>
                <a:latin typeface="Arial"/>
                <a:ea typeface="Arial"/>
                <a:cs typeface="Arial"/>
              </a:rPr>
              <a:t>FINAL TEST REMAINS SEALED</a:t>
            </a:r>
          </a:p>
        </p:txBody>
      </p:sp>
      <p:sp>
        <p:nvSpPr>
          <p:cNvPr id="26" name="">
            <a:extLst xmlns:a="http://schemas.openxmlformats.org/drawingml/2006/main">
              <a:ext uri="{FF2B5EF4-FFF2-40B4-BE49-F238E27FC236}">
                <a16:creationId xmlns:a16="http://schemas.microsoft.com/office/drawing/2014/main" id="{7CA01B8D-B591-47D6-8207-93614A43392D}"/>
              </a:ext>
            </a:extLst>
          </p:cNvPr>
          <p:cNvSpPr>
            <a:spLocks xmlns:a="http://schemas.openxmlformats.org/drawingml/2006/main" noGrp="1"/>
          </p:cNvSpPr>
          <p:nvPr/>
        </p:nvSpPr>
        <p:spPr>
          <a:xfrm xmlns:a="http://schemas.openxmlformats.org/drawingml/2006/main">
            <a:off x="914400" y="433387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697"/>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Withhold complete circuits</a:t>
            </a:r>
          </a:p>
        </p:txBody>
      </p:sp>
      <p:sp>
        <p:nvSpPr>
          <p:cNvPr id="27" name="">
            <a:extLst xmlns:a="http://schemas.openxmlformats.org/drawingml/2006/main">
              <a:ext uri="{FF2B5EF4-FFF2-40B4-BE49-F238E27FC236}">
                <a16:creationId xmlns:a16="http://schemas.microsoft.com/office/drawing/2014/main" id="{BF1358D8-0BEB-4B67-A5D6-856A549A437B}"/>
              </a:ext>
            </a:extLst>
          </p:cNvPr>
          <p:cNvSpPr>
            <a:spLocks xmlns:a="http://schemas.openxmlformats.org/drawingml/2006/main" noGrp="1"/>
          </p:cNvSpPr>
          <p:nvPr/>
        </p:nvSpPr>
        <p:spPr>
          <a:xfrm xmlns:a="http://schemas.openxmlformats.org/drawingml/2006/main">
            <a:off x="914400" y="46672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12"/>
          </a:bodyPr>
          <a:lstStyle xmlns:a="http://schemas.openxmlformats.org/drawingml/2006/main"/>
          <a:p xmlns:a="http://schemas.openxmlformats.org/drawingml/2006/main">
            <a:pPr algn="l">
              <a:defRPr sz="1275" b="0">
                <a:solidFill>
                  <a:srgbClr val="CBD5DC"/>
                </a:solidFill>
                <a:latin typeface="Arial"/>
                <a:ea typeface="Arial"/>
                <a:cs typeface="Arial"/>
              </a:defRPr>
            </a:pPr>
            <a:r>
              <a:rPr sz="1275" b="0">
                <a:solidFill>
                  <a:srgbClr val="CBD5DC"/>
                </a:solidFill>
                <a:latin typeface="Arial"/>
                <a:ea typeface="Arial"/>
                <a:cs typeface="Arial"/>
              </a:rPr>
              <a:t>Hold out one high-speed, one street and one elevation/weather circuit.</a:t>
            </a:r>
          </a:p>
        </p:txBody>
      </p:sp>
      <p:sp>
        <p:nvSpPr>
          <p:cNvPr id="28" name="">
            <a:extLst xmlns:a="http://schemas.openxmlformats.org/drawingml/2006/main">
              <a:ext uri="{FF2B5EF4-FFF2-40B4-BE49-F238E27FC236}">
                <a16:creationId xmlns:a16="http://schemas.microsoft.com/office/drawing/2014/main" id="{142D51BE-78E6-409F-92D1-33BD698EB565}"/>
              </a:ext>
            </a:extLst>
          </p:cNvPr>
          <p:cNvSpPr>
            <a:spLocks xmlns:a="http://schemas.openxmlformats.org/drawingml/2006/main" noGrp="1"/>
          </p:cNvSpPr>
          <p:nvPr/>
        </p:nvSpPr>
        <p:spPr>
          <a:xfrm xmlns:a="http://schemas.openxmlformats.org/drawingml/2006/main">
            <a:off x="4857750" y="43338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697"/>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Withhold combined conditions</a:t>
            </a:r>
          </a:p>
        </p:txBody>
      </p:sp>
      <p:sp>
        <p:nvSpPr>
          <p:cNvPr id="29" name="">
            <a:extLst xmlns:a="http://schemas.openxmlformats.org/drawingml/2006/main">
              <a:ext uri="{FF2B5EF4-FFF2-40B4-BE49-F238E27FC236}">
                <a16:creationId xmlns:a16="http://schemas.microsoft.com/office/drawing/2014/main" id="{1B2FBA0C-1E12-4F6F-9877-1C8766BC3468}"/>
              </a:ext>
            </a:extLst>
          </p:cNvPr>
          <p:cNvSpPr>
            <a:spLocks xmlns:a="http://schemas.openxmlformats.org/drawingml/2006/main" noGrp="1"/>
          </p:cNvSpPr>
          <p:nvPr/>
        </p:nvSpPr>
        <p:spPr>
          <a:xfrm xmlns:a="http://schemas.openxmlformats.org/drawingml/2006/main">
            <a:off x="4857750" y="46672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12"/>
          </a:bodyPr>
          <a:lstStyle xmlns:a="http://schemas.openxmlformats.org/drawingml/2006/main"/>
          <a:p xmlns:a="http://schemas.openxmlformats.org/drawingml/2006/main">
            <a:pPr algn="l">
              <a:defRPr sz="1275" b="0">
                <a:solidFill>
                  <a:srgbClr val="CBD5DC"/>
                </a:solidFill>
                <a:latin typeface="Arial"/>
                <a:ea typeface="Arial"/>
                <a:cs typeface="Arial"/>
              </a:defRPr>
            </a:pPr>
            <a:r>
              <a:rPr sz="1275" b="0">
                <a:solidFill>
                  <a:srgbClr val="CBD5DC"/>
                </a:solidFill>
                <a:latin typeface="Arial"/>
                <a:ea typeface="Arial"/>
                <a:cs typeface="Arial"/>
              </a:rPr>
              <a:t>Wet plus traffic plus low initial energy exposes interaction failures.</a:t>
            </a:r>
          </a:p>
        </p:txBody>
      </p:sp>
      <p:sp>
        <p:nvSpPr>
          <p:cNvPr id="30" name="">
            <a:extLst xmlns:a="http://schemas.openxmlformats.org/drawingml/2006/main">
              <a:ext uri="{FF2B5EF4-FFF2-40B4-BE49-F238E27FC236}">
                <a16:creationId xmlns:a16="http://schemas.microsoft.com/office/drawing/2014/main" id="{305D1190-D889-4DAF-BB0D-1B0772F72782}"/>
              </a:ext>
            </a:extLst>
          </p:cNvPr>
          <p:cNvSpPr>
            <a:spLocks xmlns:a="http://schemas.openxmlformats.org/drawingml/2006/main" noGrp="1"/>
          </p:cNvSpPr>
          <p:nvPr/>
        </p:nvSpPr>
        <p:spPr>
          <a:xfrm xmlns:a="http://schemas.openxmlformats.org/drawingml/2006/main">
            <a:off x="8715375" y="43338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697"/>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Evaluate by subgroup</a:t>
            </a:r>
          </a:p>
        </p:txBody>
      </p:sp>
      <p:sp>
        <p:nvSpPr>
          <p:cNvPr id="31" name="">
            <a:extLst xmlns:a="http://schemas.openxmlformats.org/drawingml/2006/main">
              <a:ext uri="{FF2B5EF4-FFF2-40B4-BE49-F238E27FC236}">
                <a16:creationId xmlns:a16="http://schemas.microsoft.com/office/drawing/2014/main" id="{E0EC584A-8E42-4819-BFF2-1ED679584E56}"/>
              </a:ext>
            </a:extLst>
          </p:cNvPr>
          <p:cNvSpPr>
            <a:spLocks xmlns:a="http://schemas.openxmlformats.org/drawingml/2006/main" noGrp="1"/>
          </p:cNvSpPr>
          <p:nvPr/>
        </p:nvSpPr>
        <p:spPr>
          <a:xfrm xmlns:a="http://schemas.openxmlformats.org/drawingml/2006/main">
            <a:off x="8715375" y="466725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12"/>
          </a:bodyPr>
          <a:lstStyle xmlns:a="http://schemas.openxmlformats.org/drawingml/2006/main"/>
          <a:p xmlns:a="http://schemas.openxmlformats.org/drawingml/2006/main">
            <a:pPr algn="l">
              <a:defRPr sz="1275" b="0">
                <a:solidFill>
                  <a:srgbClr val="CBD5DC"/>
                </a:solidFill>
                <a:latin typeface="Arial"/>
                <a:ea typeface="Arial"/>
                <a:cs typeface="Arial"/>
              </a:defRPr>
            </a:pPr>
            <a:r>
              <a:rPr sz="1275" b="0">
                <a:solidFill>
                  <a:srgbClr val="CBD5DC"/>
                </a:solidFill>
                <a:latin typeface="Arial"/>
                <a:ea typeface="Arial"/>
                <a:cs typeface="Arial"/>
              </a:rPr>
              <a:t>Average gains cannot hide a failing street-circuit regime.</a:t>
            </a:r>
          </a:p>
        </p:txBody>
      </p:sp>
      <p:sp>
        <p:nvSpPr>
          <p:cNvPr id="32" name="">
            <a:extLst xmlns:a="http://schemas.openxmlformats.org/drawingml/2006/main">
              <a:ext uri="{FF2B5EF4-FFF2-40B4-BE49-F238E27FC236}">
                <a16:creationId xmlns:a16="http://schemas.microsoft.com/office/drawing/2014/main" id="{0826CAF8-F686-478A-9617-227C9539A26C}"/>
              </a:ext>
            </a:extLst>
          </p:cNvPr>
          <p:cNvSpPr>
            <a:spLocks xmlns:a="http://schemas.openxmlformats.org/drawingml/2006/main" noGrp="1"/>
          </p:cNvSpPr>
          <p:nvPr/>
        </p:nvSpPr>
        <p:spPr>
          <a:xfrm xmlns:a="http://schemas.openxmlformats.org/drawingml/2006/main">
            <a:off x="1619250" y="5667375"/>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1768C4"/>
                </a:solidFill>
                <a:latin typeface="Arial"/>
                <a:ea typeface="Arial"/>
                <a:cs typeface="Arial"/>
              </a:defRPr>
            </a:pPr>
            <a:r>
              <a:rPr sz="1650" b="1">
                <a:solidFill>
                  <a:srgbClr val="1768C4"/>
                </a:solidFill>
                <a:latin typeface="Arial"/>
                <a:ea typeface="Arial"/>
                <a:cs typeface="Arial"/>
              </a:rPr>
              <a:t>Real historical context + synthetic or authorised energy, with provenance</a:t>
            </a:r>
          </a:p>
        </p:txBody>
      </p:sp>
      <p:sp>
        <p:nvSpPr>
          <p:cNvPr id="33" name="">
            <a:extLst xmlns:a="http://schemas.openxmlformats.org/drawingml/2006/main">
              <a:ext uri="{FF2B5EF4-FFF2-40B4-BE49-F238E27FC236}">
                <a16:creationId xmlns:a16="http://schemas.microsoft.com/office/drawing/2014/main" id="{8824D5FF-8D7C-4ADB-8EFE-186A7F67900C}"/>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34" name="">
            <a:extLst xmlns:a="http://schemas.openxmlformats.org/drawingml/2006/main">
              <a:ext uri="{FF2B5EF4-FFF2-40B4-BE49-F238E27FC236}">
                <a16:creationId xmlns:a16="http://schemas.microsoft.com/office/drawing/2014/main" id="{4BB7660C-0DDE-466C-BDFA-D70F13D9FFF3}"/>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35" name="">
            <a:extLst xmlns:a="http://schemas.openxmlformats.org/drawingml/2006/main">
              <a:ext uri="{FF2B5EF4-FFF2-40B4-BE49-F238E27FC236}">
                <a16:creationId xmlns:a16="http://schemas.microsoft.com/office/drawing/2014/main" id="{2F652955-95F6-4ABB-BBD5-1515E7C34141}"/>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12</a:t>
            </a:r>
          </a:p>
        </p:txBody>
      </p:sp>
    </p:spTree>
    <p:extLst>
      <p:ext uri="{BB962C8B-B14F-4D97-AF65-F5344CB8AC3E}">
        <p14:creationId xmlns:p14="http://schemas.microsoft.com/office/powerpoint/2010/main" val="1302479324"/>
      </p:ext>
    </p:extLst>
  </p:cSld>
</p:sld>
</file>

<file path=ppt/slides/slide13.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E45D039-CA56-4E3A-A5D1-D4C80DEB7A15}"/>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C6E57F20-5960-4030-9717-7E0BC356D5B9}"/>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7212B"/>
                </a:solidFill>
                <a:latin typeface="Arial"/>
                <a:ea typeface="Arial"/>
                <a:cs typeface="Arial"/>
              </a:defRPr>
            </a:pPr>
            <a:r>
              <a:rPr sz="3000" b="1">
                <a:solidFill>
                  <a:srgbClr val="17212B"/>
                </a:solidFill>
                <a:latin typeface="Arial"/>
                <a:ea typeface="Arial"/>
                <a:cs typeface="Arial"/>
              </a:rPr>
              <a:t>Hybrid decision architecture</a:t>
            </a:r>
          </a:p>
        </p:txBody>
      </p:sp>
      <p:sp>
        <p:nvSpPr>
          <p:cNvPr id="3" name="">
            <a:extLst xmlns:a="http://schemas.openxmlformats.org/drawingml/2006/main">
              <a:ext uri="{FF2B5EF4-FFF2-40B4-BE49-F238E27FC236}">
                <a16:creationId xmlns:a16="http://schemas.microsoft.com/office/drawing/2014/main" id="{6D6D78F2-D450-4805-B91F-6809AB313624}"/>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Learning contributes strategy while physics and rules retain authority</a:t>
            </a:r>
          </a:p>
        </p:txBody>
      </p:sp>
      <p:sp>
        <p:nvSpPr>
          <p:cNvPr id="4" name="">
            <a:extLst xmlns:a="http://schemas.openxmlformats.org/drawingml/2006/main">
              <a:ext uri="{FF2B5EF4-FFF2-40B4-BE49-F238E27FC236}">
                <a16:creationId xmlns:a16="http://schemas.microsoft.com/office/drawing/2014/main" id="{55E2C14B-CF81-4FB6-9D21-299CA9249A4F}"/>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8D4B341A-CBF1-4B70-9C7C-3FE497181578}"/>
              </a:ext>
            </a:extLst>
          </p:cNvPr>
          <p:cNvSpPr>
            <a:spLocks xmlns:a="http://schemas.openxmlformats.org/drawingml/2006/main" noGrp="1"/>
          </p:cNvSpPr>
          <p:nvPr/>
        </p:nvSpPr>
        <p:spPr>
          <a:xfrm xmlns:a="http://schemas.openxmlformats.org/drawingml/2006/main">
            <a:off x="523875" y="2095500"/>
            <a:ext cx="195262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6" name="">
            <a:extLst xmlns:a="http://schemas.openxmlformats.org/drawingml/2006/main">
              <a:ext uri="{FF2B5EF4-FFF2-40B4-BE49-F238E27FC236}">
                <a16:creationId xmlns:a16="http://schemas.microsoft.com/office/drawing/2014/main" id="{CA72245E-F4B3-4F46-90A6-2CB892053E96}"/>
              </a:ext>
            </a:extLst>
          </p:cNvPr>
          <p:cNvSpPr>
            <a:spLocks xmlns:a="http://schemas.openxmlformats.org/drawingml/2006/main" noGrp="1"/>
          </p:cNvSpPr>
          <p:nvPr/>
        </p:nvSpPr>
        <p:spPr>
          <a:xfrm xmlns:a="http://schemas.openxmlformats.org/drawingml/2006/main">
            <a:off x="638175" y="2171700"/>
            <a:ext cx="1724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83"/>
          </a:bodyPr>
          <a:lstStyle xmlns:a="http://schemas.openxmlformats.org/drawingml/2006/main"/>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Track, telemetry</a:t>
            </a:r>
          </a:p>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and event packages</a:t>
            </a:r>
          </a:p>
        </p:txBody>
      </p:sp>
      <p:sp>
        <p:nvSpPr>
          <p:cNvPr id="7" name="">
            <a:extLst xmlns:a="http://schemas.openxmlformats.org/drawingml/2006/main">
              <a:ext uri="{FF2B5EF4-FFF2-40B4-BE49-F238E27FC236}">
                <a16:creationId xmlns:a16="http://schemas.microsoft.com/office/drawing/2014/main" id="{EDBA34B2-4F53-4229-B04B-C2B196CC4F30}"/>
              </a:ext>
            </a:extLst>
          </p:cNvPr>
          <p:cNvSpPr>
            <a:spLocks xmlns:a="http://schemas.openxmlformats.org/drawingml/2006/main" noGrp="1"/>
          </p:cNvSpPr>
          <p:nvPr/>
        </p:nvSpPr>
        <p:spPr>
          <a:xfrm xmlns:a="http://schemas.openxmlformats.org/drawingml/2006/main">
            <a:off x="3000375" y="2095500"/>
            <a:ext cx="1809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8" name="">
            <a:extLst xmlns:a="http://schemas.openxmlformats.org/drawingml/2006/main">
              <a:ext uri="{FF2B5EF4-FFF2-40B4-BE49-F238E27FC236}">
                <a16:creationId xmlns:a16="http://schemas.microsoft.com/office/drawing/2014/main" id="{0E18A5BD-AD5A-4737-B413-466F06B24851}"/>
              </a:ext>
            </a:extLst>
          </p:cNvPr>
          <p:cNvSpPr>
            <a:spLocks xmlns:a="http://schemas.openxmlformats.org/drawingml/2006/main" noGrp="1"/>
          </p:cNvSpPr>
          <p:nvPr/>
        </p:nvSpPr>
        <p:spPr>
          <a:xfrm xmlns:a="http://schemas.openxmlformats.org/drawingml/2006/main">
            <a:off x="3114675" y="2171700"/>
            <a:ext cx="1581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State and</a:t>
            </a:r>
          </a:p>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rival belief</a:t>
            </a:r>
          </a:p>
        </p:txBody>
      </p:sp>
      <p:sp>
        <p:nvSpPr>
          <p:cNvPr id="9" name="">
            <a:extLst xmlns:a="http://schemas.openxmlformats.org/drawingml/2006/main">
              <a:ext uri="{FF2B5EF4-FFF2-40B4-BE49-F238E27FC236}">
                <a16:creationId xmlns:a16="http://schemas.microsoft.com/office/drawing/2014/main" id="{7D7EC305-8A0D-416C-91B5-4204A337E5CB}"/>
              </a:ext>
            </a:extLst>
          </p:cNvPr>
          <p:cNvSpPr>
            <a:spLocks xmlns:a="http://schemas.openxmlformats.org/drawingml/2006/main" noGrp="1"/>
          </p:cNvSpPr>
          <p:nvPr/>
        </p:nvSpPr>
        <p:spPr>
          <a:xfrm xmlns:a="http://schemas.openxmlformats.org/drawingml/2006/main">
            <a:off x="5429250" y="2095500"/>
            <a:ext cx="2000250" cy="857250"/>
          </a:xfrm>
          <a:prstGeom xmlns:a="http://schemas.openxmlformats.org/drawingml/2006/main" prst="rect">
            <a:avLst/>
          </a:prstGeom>
          <a:solidFill xmlns:a="http://schemas.openxmlformats.org/drawingml/2006/main">
            <a:srgbClr val="E7EEF7"/>
          </a:solidFill>
          <a:ln xmlns:a="http://schemas.openxmlformats.org/drawingml/2006/main" w="9525">
            <a:solidFill>
              <a:srgbClr val="1768C4"/>
            </a:solidFill>
            <a:prstDash val="solid"/>
          </a:ln>
        </p:spPr>
      </p:sp>
      <p:sp>
        <p:nvSpPr>
          <p:cNvPr id="10" name="">
            <a:extLst xmlns:a="http://schemas.openxmlformats.org/drawingml/2006/main">
              <a:ext uri="{FF2B5EF4-FFF2-40B4-BE49-F238E27FC236}">
                <a16:creationId xmlns:a16="http://schemas.microsoft.com/office/drawing/2014/main" id="{4324A6AE-69A8-4968-BA2E-C03A4C4C1AD8}"/>
              </a:ext>
            </a:extLst>
          </p:cNvPr>
          <p:cNvSpPr>
            <a:spLocks xmlns:a="http://schemas.openxmlformats.org/drawingml/2006/main" noGrp="1"/>
          </p:cNvSpPr>
          <p:nvPr/>
        </p:nvSpPr>
        <p:spPr>
          <a:xfrm xmlns:a="http://schemas.openxmlformats.org/drawingml/2006/main">
            <a:off x="5543550" y="2171700"/>
            <a:ext cx="1771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Scenario MPC</a:t>
            </a:r>
          </a:p>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and candidate set</a:t>
            </a:r>
          </a:p>
        </p:txBody>
      </p:sp>
      <p:sp>
        <p:nvSpPr>
          <p:cNvPr id="11" name="">
            <a:extLst xmlns:a="http://schemas.openxmlformats.org/drawingml/2006/main">
              <a:ext uri="{FF2B5EF4-FFF2-40B4-BE49-F238E27FC236}">
                <a16:creationId xmlns:a16="http://schemas.microsoft.com/office/drawing/2014/main" id="{3F0B585A-7B30-4D64-8309-C5AD65B9B619}"/>
              </a:ext>
            </a:extLst>
          </p:cNvPr>
          <p:cNvSpPr>
            <a:spLocks xmlns:a="http://schemas.openxmlformats.org/drawingml/2006/main" noGrp="1"/>
          </p:cNvSpPr>
          <p:nvPr/>
        </p:nvSpPr>
        <p:spPr>
          <a:xfrm xmlns:a="http://schemas.openxmlformats.org/drawingml/2006/main">
            <a:off x="8048625" y="2095500"/>
            <a:ext cx="1762125" cy="857250"/>
          </a:xfrm>
          <a:prstGeom xmlns:a="http://schemas.openxmlformats.org/drawingml/2006/main" prst="rect">
            <a:avLst/>
          </a:prstGeom>
          <a:solidFill xmlns:a="http://schemas.openxmlformats.org/drawingml/2006/main">
            <a:srgbClr val="FBE8E9"/>
          </a:solidFill>
          <a:ln xmlns:a="http://schemas.openxmlformats.org/drawingml/2006/main" w="9525">
            <a:solidFill>
              <a:srgbClr val="B63B42"/>
            </a:solidFill>
            <a:prstDash val="solid"/>
          </a:ln>
        </p:spPr>
      </p:sp>
      <p:sp>
        <p:nvSpPr>
          <p:cNvPr id="12" name="">
            <a:extLst xmlns:a="http://schemas.openxmlformats.org/drawingml/2006/main">
              <a:ext uri="{FF2B5EF4-FFF2-40B4-BE49-F238E27FC236}">
                <a16:creationId xmlns:a16="http://schemas.microsoft.com/office/drawing/2014/main" id="{5591873E-0856-4854-B089-B70E96FB5A26}"/>
              </a:ext>
            </a:extLst>
          </p:cNvPr>
          <p:cNvSpPr>
            <a:spLocks xmlns:a="http://schemas.openxmlformats.org/drawingml/2006/main" noGrp="1"/>
          </p:cNvSpPr>
          <p:nvPr/>
        </p:nvSpPr>
        <p:spPr>
          <a:xfrm xmlns:a="http://schemas.openxmlformats.org/drawingml/2006/main">
            <a:off x="8162925" y="2171700"/>
            <a:ext cx="15335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Independent</a:t>
            </a:r>
          </a:p>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rules checker</a:t>
            </a:r>
          </a:p>
        </p:txBody>
      </p:sp>
      <p:sp>
        <p:nvSpPr>
          <p:cNvPr id="13" name="">
            <a:extLst xmlns:a="http://schemas.openxmlformats.org/drawingml/2006/main">
              <a:ext uri="{FF2B5EF4-FFF2-40B4-BE49-F238E27FC236}">
                <a16:creationId xmlns:a16="http://schemas.microsoft.com/office/drawing/2014/main" id="{E81B25EB-234E-43E8-99A4-4ED6573F3033}"/>
              </a:ext>
            </a:extLst>
          </p:cNvPr>
          <p:cNvSpPr>
            <a:spLocks xmlns:a="http://schemas.openxmlformats.org/drawingml/2006/main" noGrp="1"/>
          </p:cNvSpPr>
          <p:nvPr/>
        </p:nvSpPr>
        <p:spPr>
          <a:xfrm xmlns:a="http://schemas.openxmlformats.org/drawingml/2006/main">
            <a:off x="10287000" y="2095500"/>
            <a:ext cx="1428750" cy="857250"/>
          </a:xfrm>
          <a:prstGeom xmlns:a="http://schemas.openxmlformats.org/drawingml/2006/main" prst="rect">
            <a:avLst/>
          </a:prstGeom>
          <a:solidFill xmlns:a="http://schemas.openxmlformats.org/drawingml/2006/main">
            <a:srgbClr val="E5F0EA"/>
          </a:solidFill>
          <a:ln xmlns:a="http://schemas.openxmlformats.org/drawingml/2006/main" w="9525">
            <a:solidFill>
              <a:srgbClr val="2E7C57"/>
            </a:solidFill>
            <a:prstDash val="solid"/>
          </a:ln>
        </p:spPr>
      </p:sp>
      <p:sp>
        <p:nvSpPr>
          <p:cNvPr id="14" name="">
            <a:extLst xmlns:a="http://schemas.openxmlformats.org/drawingml/2006/main">
              <a:ext uri="{FF2B5EF4-FFF2-40B4-BE49-F238E27FC236}">
                <a16:creationId xmlns:a16="http://schemas.microsoft.com/office/drawing/2014/main" id="{56E0DDDD-591E-43C7-9EAB-098110FC4F4C}"/>
              </a:ext>
            </a:extLst>
          </p:cNvPr>
          <p:cNvSpPr>
            <a:spLocks xmlns:a="http://schemas.openxmlformats.org/drawingml/2006/main" noGrp="1"/>
          </p:cNvSpPr>
          <p:nvPr/>
        </p:nvSpPr>
        <p:spPr>
          <a:xfrm xmlns:a="http://schemas.openxmlformats.org/drawingml/2006/main">
            <a:off x="10401300" y="2171700"/>
            <a:ext cx="1200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Engineer</a:t>
            </a:r>
          </a:p>
          <a:p xmlns:a="http://schemas.openxmlformats.org/drawingml/2006/main">
            <a:pPr algn="ctr">
              <a:defRPr sz="1425" b="1">
                <a:solidFill>
                  <a:srgbClr val="17212B"/>
                </a:solidFill>
                <a:latin typeface="Arial"/>
                <a:ea typeface="Arial"/>
                <a:cs typeface="Arial"/>
              </a:defRPr>
            </a:pPr>
            <a:r>
              <a:rPr sz="1425" b="1">
                <a:solidFill>
                  <a:srgbClr val="17212B"/>
                </a:solidFill>
                <a:latin typeface="Arial"/>
                <a:ea typeface="Arial"/>
                <a:cs typeface="Arial"/>
              </a:rPr>
              <a:t>selection</a:t>
            </a:r>
          </a:p>
        </p:txBody>
      </p:sp>
      <p:cxnSp>
        <p:nvCxnSpPr>
          <p:cNvPr id="50" name=""/>
          <p:cNvCxnSpPr>
            <a:stCxn xmlns:a="http://schemas.openxmlformats.org/drawingml/2006/main" id="5" idx="3"/>
            <a:endCxn xmlns:a="http://schemas.openxmlformats.org/drawingml/2006/main" id="7" idx="1"/>
          </p:cNvCxnSpPr>
          <p:nvPr/>
        </p:nvCxnSpPr>
        <p:spPr>
          <a:xfrm xmlns:a="http://schemas.openxmlformats.org/drawingml/2006/main">
            <a:off x="2476500" y="2524125"/>
            <a:ext cx="523875"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51" name=""/>
          <p:cNvCxnSpPr>
            <a:stCxn xmlns:a="http://schemas.openxmlformats.org/drawingml/2006/main" id="7" idx="3"/>
            <a:endCxn xmlns:a="http://schemas.openxmlformats.org/drawingml/2006/main" id="9" idx="1"/>
          </p:cNvCxnSpPr>
          <p:nvPr/>
        </p:nvCxnSpPr>
        <p:spPr>
          <a:xfrm xmlns:a="http://schemas.openxmlformats.org/drawingml/2006/main">
            <a:off x="4810125" y="2524125"/>
            <a:ext cx="619125"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52" name=""/>
          <p:cNvCxnSpPr>
            <a:stCxn xmlns:a="http://schemas.openxmlformats.org/drawingml/2006/main" id="9" idx="3"/>
            <a:endCxn xmlns:a="http://schemas.openxmlformats.org/drawingml/2006/main" id="11" idx="1"/>
          </p:cNvCxnSpPr>
          <p:nvPr/>
        </p:nvCxnSpPr>
        <p:spPr>
          <a:xfrm xmlns:a="http://schemas.openxmlformats.org/drawingml/2006/main">
            <a:off x="7429500" y="2524125"/>
            <a:ext cx="619125"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53" name=""/>
          <p:cNvCxnSpPr>
            <a:stCxn xmlns:a="http://schemas.openxmlformats.org/drawingml/2006/main" id="11" idx="3"/>
            <a:endCxn xmlns:a="http://schemas.openxmlformats.org/drawingml/2006/main" id="13" idx="1"/>
          </p:cNvCxnSpPr>
          <p:nvPr/>
        </p:nvCxnSpPr>
        <p:spPr>
          <a:xfrm xmlns:a="http://schemas.openxmlformats.org/drawingml/2006/main">
            <a:off x="9810750" y="2524125"/>
            <a:ext cx="4762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9" name="">
            <a:extLst xmlns:a="http://schemas.openxmlformats.org/drawingml/2006/main">
              <a:ext uri="{FF2B5EF4-FFF2-40B4-BE49-F238E27FC236}">
                <a16:creationId xmlns:a16="http://schemas.microsoft.com/office/drawing/2014/main" id="{D3BC48E2-E5BE-471E-886E-9F54E952CCAA}"/>
              </a:ext>
            </a:extLst>
          </p:cNvPr>
          <p:cNvSpPr>
            <a:spLocks xmlns:a="http://schemas.openxmlformats.org/drawingml/2006/main" noGrp="1"/>
          </p:cNvSpPr>
          <p:nvPr/>
        </p:nvSpPr>
        <p:spPr>
          <a:xfrm xmlns:a="http://schemas.openxmlformats.org/drawingml/2006/main">
            <a:off x="5476875" y="3905250"/>
            <a:ext cx="1809750" cy="742950"/>
          </a:xfrm>
          <a:prstGeom xmlns:a="http://schemas.openxmlformats.org/drawingml/2006/main" prst="rect">
            <a:avLst/>
          </a:prstGeom>
          <a:solidFill xmlns:a="http://schemas.openxmlformats.org/drawingml/2006/main">
            <a:srgbClr val="EFE8F4"/>
          </a:solidFill>
          <a:ln xmlns:a="http://schemas.openxmlformats.org/drawingml/2006/main" w="9525">
            <a:solidFill>
              <a:srgbClr val="7B5A9A"/>
            </a:solidFill>
            <a:prstDash val="solid"/>
          </a:ln>
        </p:spPr>
      </p:sp>
      <p:sp>
        <p:nvSpPr>
          <p:cNvPr id="20" name="">
            <a:extLst xmlns:a="http://schemas.openxmlformats.org/drawingml/2006/main">
              <a:ext uri="{FF2B5EF4-FFF2-40B4-BE49-F238E27FC236}">
                <a16:creationId xmlns:a16="http://schemas.microsoft.com/office/drawing/2014/main" id="{10879E43-C66D-499E-84E8-B624B9D487BB}"/>
              </a:ext>
            </a:extLst>
          </p:cNvPr>
          <p:cNvSpPr>
            <a:spLocks xmlns:a="http://schemas.openxmlformats.org/drawingml/2006/main" noGrp="1"/>
          </p:cNvSpPr>
          <p:nvPr/>
        </p:nvSpPr>
        <p:spPr>
          <a:xfrm xmlns:a="http://schemas.openxmlformats.org/drawingml/2006/main">
            <a:off x="5591175" y="3981450"/>
            <a:ext cx="1581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SAC actor</a:t>
            </a:r>
          </a:p>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budget + reserve</a:t>
            </a:r>
          </a:p>
        </p:txBody>
      </p:sp>
      <p:sp>
        <p:nvSpPr>
          <p:cNvPr id="21" name="">
            <a:extLst xmlns:a="http://schemas.openxmlformats.org/drawingml/2006/main">
              <a:ext uri="{FF2B5EF4-FFF2-40B4-BE49-F238E27FC236}">
                <a16:creationId xmlns:a16="http://schemas.microsoft.com/office/drawing/2014/main" id="{2DB4B50D-0CA5-4FB5-9233-B5ECCF667F8E}"/>
              </a:ext>
            </a:extLst>
          </p:cNvPr>
          <p:cNvSpPr>
            <a:spLocks xmlns:a="http://schemas.openxmlformats.org/drawingml/2006/main" noGrp="1"/>
          </p:cNvSpPr>
          <p:nvPr/>
        </p:nvSpPr>
        <p:spPr>
          <a:xfrm xmlns:a="http://schemas.openxmlformats.org/drawingml/2006/main">
            <a:off x="7524750" y="3905250"/>
            <a:ext cx="1809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7B5A9A"/>
            </a:solidFill>
            <a:prstDash val="solid"/>
          </a:ln>
        </p:spPr>
      </p:sp>
      <p:sp>
        <p:nvSpPr>
          <p:cNvPr id="22" name="">
            <a:extLst xmlns:a="http://schemas.openxmlformats.org/drawingml/2006/main">
              <a:ext uri="{FF2B5EF4-FFF2-40B4-BE49-F238E27FC236}">
                <a16:creationId xmlns:a16="http://schemas.microsoft.com/office/drawing/2014/main" id="{16CA1A0B-5C72-4322-87D6-EDD5808FF729}"/>
              </a:ext>
            </a:extLst>
          </p:cNvPr>
          <p:cNvSpPr>
            <a:spLocks xmlns:a="http://schemas.openxmlformats.org/drawingml/2006/main" noGrp="1"/>
          </p:cNvSpPr>
          <p:nvPr/>
        </p:nvSpPr>
        <p:spPr>
          <a:xfrm xmlns:a="http://schemas.openxmlformats.org/drawingml/2006/main">
            <a:off x="7639050" y="3981450"/>
            <a:ext cx="1581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Return ensemble</a:t>
            </a:r>
          </a:p>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finalist scoring</a:t>
            </a:r>
          </a:p>
        </p:txBody>
      </p:sp>
      <p:cxnSp>
        <p:nvCxnSpPr>
          <p:cNvPr id="58" name=""/>
          <p:cNvCxnSpPr>
            <a:stCxn xmlns:a="http://schemas.openxmlformats.org/drawingml/2006/main" id="19" idx="0"/>
            <a:endCxn xmlns:a="http://schemas.openxmlformats.org/drawingml/2006/main" id="9" idx="2"/>
          </p:cNvCxnSpPr>
          <p:nvPr/>
        </p:nvCxnSpPr>
        <p:spPr>
          <a:xfrm xmlns:a="http://schemas.openxmlformats.org/drawingml/2006/main" flipV="1">
            <a:off x="6381750" y="2952750"/>
            <a:ext cx="47625" cy="952500"/>
          </a:xfrm>
          <a:prstGeom xmlns:a="http://schemas.openxmlformats.org/drawingml/2006/main" prst="bentConnector4">
            <a:avLst>
              <a:gd name="adj1" fmla="val 0"/>
              <a:gd name="adj2" fmla="val 50000"/>
            </a:avLst>
          </a:prstGeom>
          <a:ln xmlns:a="http://schemas.openxmlformats.org/drawingml/2006/main" w="19050">
            <a:solidFill>
              <a:srgbClr val="7B5A9A"/>
            </a:solidFill>
            <a:prstDash val="solid"/>
            <a:tailEnd type="arrow" w="sm" len="sm"/>
          </a:ln>
        </p:spPr>
      </p:cxnSp>
      <p:cxnSp>
        <p:nvCxnSpPr>
          <p:cNvPr id="59" name=""/>
          <p:cNvCxnSpPr>
            <a:stCxn xmlns:a="http://schemas.openxmlformats.org/drawingml/2006/main" id="21" idx="0"/>
            <a:endCxn xmlns:a="http://schemas.openxmlformats.org/drawingml/2006/main" id="11" idx="2"/>
          </p:cNvCxnSpPr>
          <p:nvPr/>
        </p:nvCxnSpPr>
        <p:spPr>
          <a:xfrm xmlns:a="http://schemas.openxmlformats.org/drawingml/2006/main" flipV="1">
            <a:off x="8429625" y="2952750"/>
            <a:ext cx="500063" cy="952500"/>
          </a:xfrm>
          <a:prstGeom xmlns:a="http://schemas.openxmlformats.org/drawingml/2006/main" prst="bentConnector4">
            <a:avLst>
              <a:gd name="adj1" fmla="val 0"/>
              <a:gd name="adj2" fmla="val 50000"/>
            </a:avLst>
          </a:prstGeom>
          <a:ln xmlns:a="http://schemas.openxmlformats.org/drawingml/2006/main" w="19050">
            <a:solidFill>
              <a:srgbClr val="7B5A9A"/>
            </a:solidFill>
            <a:prstDash val="solid"/>
            <a:tailEnd type="arrow" w="sm" len="sm"/>
          </a:ln>
        </p:spPr>
      </p:cxnSp>
      <p:sp>
        <p:nvSpPr>
          <p:cNvPr id="25" name="">
            <a:extLst xmlns:a="http://schemas.openxmlformats.org/drawingml/2006/main">
              <a:ext uri="{FF2B5EF4-FFF2-40B4-BE49-F238E27FC236}">
                <a16:creationId xmlns:a16="http://schemas.microsoft.com/office/drawing/2014/main" id="{9109EF04-5033-41AD-B741-D2D1F4A828FE}"/>
              </a:ext>
            </a:extLst>
          </p:cNvPr>
          <p:cNvSpPr>
            <a:spLocks xmlns:a="http://schemas.openxmlformats.org/drawingml/2006/main" noGrp="1"/>
          </p:cNvSpPr>
          <p:nvPr/>
        </p:nvSpPr>
        <p:spPr>
          <a:xfrm xmlns:a="http://schemas.openxmlformats.org/drawingml/2006/main">
            <a:off x="9810750" y="4143375"/>
            <a:ext cx="19050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26" name="">
            <a:extLst xmlns:a="http://schemas.openxmlformats.org/drawingml/2006/main">
              <a:ext uri="{FF2B5EF4-FFF2-40B4-BE49-F238E27FC236}">
                <a16:creationId xmlns:a16="http://schemas.microsoft.com/office/drawing/2014/main" id="{1EA8E596-DDB9-4992-A98F-2209A3E42E29}"/>
              </a:ext>
            </a:extLst>
          </p:cNvPr>
          <p:cNvSpPr>
            <a:spLocks xmlns:a="http://schemas.openxmlformats.org/drawingml/2006/main" noGrp="1"/>
          </p:cNvSpPr>
          <p:nvPr/>
        </p:nvSpPr>
        <p:spPr>
          <a:xfrm xmlns:a="http://schemas.openxmlformats.org/drawingml/2006/main">
            <a:off x="9925050" y="4219575"/>
            <a:ext cx="1676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Simulator driver</a:t>
            </a:r>
          </a:p>
          <a:p xmlns:a="http://schemas.openxmlformats.org/drawingml/2006/main">
            <a:pPr algn="ctr">
              <a:defRPr sz="1350" b="1">
                <a:solidFill>
                  <a:srgbClr val="17212B"/>
                </a:solidFill>
                <a:latin typeface="Arial"/>
                <a:ea typeface="Arial"/>
                <a:cs typeface="Arial"/>
              </a:defRPr>
            </a:pPr>
            <a:r>
              <a:rPr sz="1350" b="1">
                <a:solidFill>
                  <a:srgbClr val="17212B"/>
                </a:solidFill>
                <a:latin typeface="Arial"/>
                <a:ea typeface="Arial"/>
                <a:cs typeface="Arial"/>
              </a:rPr>
              <a:t>execution event</a:t>
            </a:r>
          </a:p>
        </p:txBody>
      </p:sp>
      <p:cxnSp>
        <p:nvCxnSpPr>
          <p:cNvPr id="62" name=""/>
          <p:cNvCxnSpPr>
            <a:stCxn xmlns:a="http://schemas.openxmlformats.org/drawingml/2006/main" id="13" idx="2"/>
            <a:endCxn xmlns:a="http://schemas.openxmlformats.org/drawingml/2006/main" id="25" idx="0"/>
          </p:cNvCxnSpPr>
          <p:nvPr/>
        </p:nvCxnSpPr>
        <p:spPr>
          <a:xfrm xmlns:a="http://schemas.openxmlformats.org/drawingml/2006/main" flipH="1">
            <a:off x="10763250" y="2952750"/>
            <a:ext cx="238125" cy="1190625"/>
          </a:xfrm>
          <a:prstGeom xmlns:a="http://schemas.openxmlformats.org/drawingml/2006/main" prst="bentConnector4">
            <a:avLst>
              <a:gd name="adj1" fmla="val 0"/>
              <a:gd name="adj2" fmla="val 50000"/>
            </a:avLst>
          </a:prstGeom>
          <a:ln xmlns:a="http://schemas.openxmlformats.org/drawingml/2006/main" w="19050">
            <a:solidFill>
              <a:srgbClr val="2E7C57"/>
            </a:solidFill>
            <a:prstDash val="solid"/>
            <a:tailEnd type="arrow" w="sm" len="sm"/>
          </a:ln>
        </p:spPr>
      </p:cxnSp>
      <p:sp>
        <p:nvSpPr>
          <p:cNvPr id="28" name="">
            <a:extLst xmlns:a="http://schemas.openxmlformats.org/drawingml/2006/main">
              <a:ext uri="{FF2B5EF4-FFF2-40B4-BE49-F238E27FC236}">
                <a16:creationId xmlns:a16="http://schemas.microsoft.com/office/drawing/2014/main" id="{5AC3C1E3-7ECB-4DD4-96CE-6033CDA684DE}"/>
              </a:ext>
            </a:extLst>
          </p:cNvPr>
          <p:cNvSpPr>
            <a:spLocks xmlns:a="http://schemas.openxmlformats.org/drawingml/2006/main" noGrp="1"/>
          </p:cNvSpPr>
          <p:nvPr/>
        </p:nvSpPr>
        <p:spPr>
          <a:xfrm xmlns:a="http://schemas.openxmlformats.org/drawingml/2006/main">
            <a:off x="10763250" y="4886325"/>
            <a:ext cx="0" cy="228600"/>
          </a:xfrm>
          <a:prstGeom xmlns:a="http://schemas.openxmlformats.org/drawingml/2006/main" prst="line">
            <a:avLst/>
          </a:prstGeom>
          <a:noFill xmlns:a="http://schemas.openxmlformats.org/drawingml/2006/main"/>
          <a:ln xmlns:a="http://schemas.openxmlformats.org/drawingml/2006/main" w="19050">
            <a:solidFill>
              <a:srgbClr val="2E7C57"/>
            </a:solidFill>
            <a:prstDash val="solid"/>
          </a:ln>
        </p:spPr>
      </p:sp>
      <p:sp>
        <p:nvSpPr>
          <p:cNvPr id="29" name="">
            <a:extLst xmlns:a="http://schemas.openxmlformats.org/drawingml/2006/main">
              <a:ext uri="{FF2B5EF4-FFF2-40B4-BE49-F238E27FC236}">
                <a16:creationId xmlns:a16="http://schemas.microsoft.com/office/drawing/2014/main" id="{5344805B-6169-47A1-A1D1-4384B3B7A6C0}"/>
              </a:ext>
            </a:extLst>
          </p:cNvPr>
          <p:cNvSpPr>
            <a:spLocks xmlns:a="http://schemas.openxmlformats.org/drawingml/2006/main" noGrp="1"/>
          </p:cNvSpPr>
          <p:nvPr/>
        </p:nvSpPr>
        <p:spPr>
          <a:xfrm xmlns:a="http://schemas.openxmlformats.org/drawingml/2006/main">
            <a:off x="1504950" y="5114925"/>
            <a:ext cx="9258300" cy="0"/>
          </a:xfrm>
          <a:prstGeom xmlns:a="http://schemas.openxmlformats.org/drawingml/2006/main" prst="line">
            <a:avLst/>
          </a:prstGeom>
          <a:noFill xmlns:a="http://schemas.openxmlformats.org/drawingml/2006/main"/>
          <a:ln xmlns:a="http://schemas.openxmlformats.org/drawingml/2006/main" w="19050">
            <a:solidFill>
              <a:srgbClr val="2E7C57"/>
            </a:solidFill>
            <a:prstDash val="solid"/>
          </a:ln>
        </p:spPr>
      </p:sp>
      <p:sp>
        <p:nvSpPr>
          <p:cNvPr id="30" name="">
            <a:extLst xmlns:a="http://schemas.openxmlformats.org/drawingml/2006/main">
              <a:ext uri="{FF2B5EF4-FFF2-40B4-BE49-F238E27FC236}">
                <a16:creationId xmlns:a16="http://schemas.microsoft.com/office/drawing/2014/main" id="{6A71C23F-D699-45CC-8E66-407EA3653D88}"/>
              </a:ext>
            </a:extLst>
          </p:cNvPr>
          <p:cNvSpPr>
            <a:spLocks xmlns:a="http://schemas.openxmlformats.org/drawingml/2006/main" noGrp="1"/>
          </p:cNvSpPr>
          <p:nvPr/>
        </p:nvSpPr>
        <p:spPr>
          <a:xfrm xmlns:a="http://schemas.openxmlformats.org/drawingml/2006/main">
            <a:off x="1504950" y="2952750"/>
            <a:ext cx="0" cy="2162175"/>
          </a:xfrm>
          <a:prstGeom xmlns:a="http://schemas.openxmlformats.org/drawingml/2006/main" prst="line">
            <a:avLst/>
          </a:prstGeom>
          <a:noFill xmlns:a="http://schemas.openxmlformats.org/drawingml/2006/main"/>
          <a:ln xmlns:a="http://schemas.openxmlformats.org/drawingml/2006/main" w="19050">
            <a:solidFill>
              <a:srgbClr val="2E7C57"/>
            </a:solidFill>
            <a:prstDash val="solid"/>
          </a:ln>
        </p:spPr>
      </p:sp>
      <p:sp>
        <p:nvSpPr>
          <p:cNvPr id="31" name="">
            <a:extLst xmlns:a="http://schemas.openxmlformats.org/drawingml/2006/main">
              <a:ext uri="{FF2B5EF4-FFF2-40B4-BE49-F238E27FC236}">
                <a16:creationId xmlns:a16="http://schemas.microsoft.com/office/drawing/2014/main" id="{0B24E192-8B96-45C0-A049-5FDF897C3C1B}"/>
              </a:ext>
            </a:extLst>
          </p:cNvPr>
          <p:cNvSpPr>
            <a:spLocks xmlns:a="http://schemas.openxmlformats.org/drawingml/2006/main" noGrp="1"/>
          </p:cNvSpPr>
          <p:nvPr/>
        </p:nvSpPr>
        <p:spPr>
          <a:xfrm xmlns:a="http://schemas.openxmlformats.org/drawingml/2006/main">
            <a:off x="1666875" y="51625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2E7C57"/>
                </a:solidFill>
                <a:latin typeface="Arial"/>
                <a:ea typeface="Arial"/>
                <a:cs typeface="Arial"/>
              </a:defRPr>
            </a:pPr>
            <a:r>
              <a:rPr sz="900" b="1">
                <a:solidFill>
                  <a:srgbClr val="2E7C57"/>
                </a:solidFill>
                <a:latin typeface="Arial"/>
                <a:ea typeface="Arial"/>
                <a:cs typeface="Arial"/>
              </a:rPr>
              <a:t>execution feedback</a:t>
            </a:r>
          </a:p>
        </p:txBody>
      </p:sp>
      <p:sp>
        <p:nvSpPr>
          <p:cNvPr id="32" name="">
            <a:extLst xmlns:a="http://schemas.openxmlformats.org/drawingml/2006/main">
              <a:ext uri="{FF2B5EF4-FFF2-40B4-BE49-F238E27FC236}">
                <a16:creationId xmlns:a16="http://schemas.microsoft.com/office/drawing/2014/main" id="{21A9B4F9-078B-4F11-A7D8-AB16C25EEDB3}"/>
              </a:ext>
            </a:extLst>
          </p:cNvPr>
          <p:cNvSpPr>
            <a:spLocks xmlns:a="http://schemas.openxmlformats.org/drawingml/2006/main" noGrp="1"/>
          </p:cNvSpPr>
          <p:nvPr/>
        </p:nvSpPr>
        <p:spPr>
          <a:xfrm xmlns:a="http://schemas.openxmlformats.org/drawingml/2006/main">
            <a:off x="1571625" y="5619750"/>
            <a:ext cx="904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ctr">
              <a:defRPr sz="1575" b="1">
                <a:solidFill>
                  <a:srgbClr val="B63B42"/>
                </a:solidFill>
                <a:latin typeface="Arial"/>
                <a:ea typeface="Arial"/>
                <a:cs typeface="Arial"/>
              </a:defRPr>
            </a:pPr>
            <a:r>
              <a:rPr sz="1575" b="1">
                <a:solidFill>
                  <a:srgbClr val="B63B42"/>
                </a:solidFill>
                <a:latin typeface="Arial"/>
                <a:ea typeface="Arial"/>
                <a:cs typeface="Arial"/>
              </a:rPr>
              <a:t>Late results, stale observations and unsupported models cannot restore invalidated advice</a:t>
            </a:r>
          </a:p>
        </p:txBody>
      </p:sp>
      <p:sp>
        <p:nvSpPr>
          <p:cNvPr id="33" name="">
            <a:extLst xmlns:a="http://schemas.openxmlformats.org/drawingml/2006/main">
              <a:ext uri="{FF2B5EF4-FFF2-40B4-BE49-F238E27FC236}">
                <a16:creationId xmlns:a16="http://schemas.microsoft.com/office/drawing/2014/main" id="{1FF7F978-50B9-42B3-8263-C092E130AE74}"/>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34" name="">
            <a:extLst xmlns:a="http://schemas.openxmlformats.org/drawingml/2006/main">
              <a:ext uri="{FF2B5EF4-FFF2-40B4-BE49-F238E27FC236}">
                <a16:creationId xmlns:a16="http://schemas.microsoft.com/office/drawing/2014/main" id="{EFD7ECCC-4C69-43FC-8224-5F92663E3BE5}"/>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35" name="">
            <a:extLst xmlns:a="http://schemas.openxmlformats.org/drawingml/2006/main">
              <a:ext uri="{FF2B5EF4-FFF2-40B4-BE49-F238E27FC236}">
                <a16:creationId xmlns:a16="http://schemas.microsoft.com/office/drawing/2014/main" id="{C3F75101-F3B7-4102-8449-C8CC5ED04FB4}"/>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13</a:t>
            </a:r>
          </a:p>
        </p:txBody>
      </p:sp>
    </p:spTree>
    <p:extLst>
      <p:ext uri="{BB962C8B-B14F-4D97-AF65-F5344CB8AC3E}">
        <p14:creationId xmlns:p14="http://schemas.microsoft.com/office/powerpoint/2010/main" val="17600265"/>
      </p:ext>
    </p:extLst>
  </p:cSld>
</p:sld>
</file>

<file path=ppt/slides/slide14.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22AAF2A-9D2D-4412-B165-F93183F4B063}"/>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BD360F82-4F11-4BF8-A0D8-569D449806B0}"/>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l">
              <a:defRPr sz="3000" b="1">
                <a:solidFill>
                  <a:srgbClr val="17212B"/>
                </a:solidFill>
                <a:latin typeface="Arial"/>
                <a:ea typeface="Arial"/>
                <a:cs typeface="Arial"/>
              </a:defRPr>
            </a:pPr>
            <a:r>
              <a:rPr sz="3000" b="1">
                <a:solidFill>
                  <a:srgbClr val="17212B"/>
                </a:solidFill>
                <a:latin typeface="Arial"/>
                <a:ea typeface="Arial"/>
                <a:cs typeface="Arial"/>
              </a:rPr>
              <a:t>Evidence before model promotion</a:t>
            </a:r>
          </a:p>
        </p:txBody>
      </p:sp>
      <p:sp>
        <p:nvSpPr>
          <p:cNvPr id="3" name="">
            <a:extLst xmlns:a="http://schemas.openxmlformats.org/drawingml/2006/main">
              <a:ext uri="{FF2B5EF4-FFF2-40B4-BE49-F238E27FC236}">
                <a16:creationId xmlns:a16="http://schemas.microsoft.com/office/drawing/2014/main" id="{29FF321B-A992-4B18-A2CB-7555317E9792}"/>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Every controller receives the same observations and paired starting conditions</a:t>
            </a:r>
          </a:p>
        </p:txBody>
      </p:sp>
      <p:sp>
        <p:nvSpPr>
          <p:cNvPr id="4" name="">
            <a:extLst xmlns:a="http://schemas.openxmlformats.org/drawingml/2006/main">
              <a:ext uri="{FF2B5EF4-FFF2-40B4-BE49-F238E27FC236}">
                <a16:creationId xmlns:a16="http://schemas.microsoft.com/office/drawing/2014/main" id="{D74E8A25-616B-46AD-A4B7-A0DFD95209E3}"/>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912E9926-7973-49BC-86A6-45A10515F527}"/>
              </a:ext>
            </a:extLst>
          </p:cNvPr>
          <p:cNvSpPr>
            <a:spLocks xmlns:a="http://schemas.openxmlformats.org/drawingml/2006/main" noGrp="1"/>
          </p:cNvSpPr>
          <p:nvPr/>
        </p:nvSpPr>
        <p:spPr>
          <a:xfrm xmlns:a="http://schemas.openxmlformats.org/drawingml/2006/main">
            <a:off x="723900" y="1562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Legal fixed</a:t>
            </a:r>
          </a:p>
        </p:txBody>
      </p:sp>
      <p:sp>
        <p:nvSpPr>
          <p:cNvPr id="6" name="">
            <a:extLst xmlns:a="http://schemas.openxmlformats.org/drawingml/2006/main">
              <a:ext uri="{FF2B5EF4-FFF2-40B4-BE49-F238E27FC236}">
                <a16:creationId xmlns:a16="http://schemas.microsoft.com/office/drawing/2014/main" id="{167B1327-4B9F-42AF-B342-CC87D1978A84}"/>
              </a:ext>
            </a:extLst>
          </p:cNvPr>
          <p:cNvSpPr>
            <a:spLocks xmlns:a="http://schemas.openxmlformats.org/drawingml/2006/main" noGrp="1"/>
          </p:cNvSpPr>
          <p:nvPr/>
        </p:nvSpPr>
        <p:spPr>
          <a:xfrm xmlns:a="http://schemas.openxmlformats.org/drawingml/2006/main">
            <a:off x="3048000" y="1628775"/>
            <a:ext cx="4095750" cy="133350"/>
          </a:xfrm>
          <a:prstGeom xmlns:a="http://schemas.openxmlformats.org/drawingml/2006/main" prst="rect">
            <a:avLst/>
          </a:prstGeom>
          <a:solidFill xmlns:a="http://schemas.openxmlformats.org/drawingml/2006/main">
            <a:srgbClr val="C9CFD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99AC27-4AE5-4209-BC2E-EA4301F82903}"/>
              </a:ext>
            </a:extLst>
          </p:cNvPr>
          <p:cNvSpPr>
            <a:spLocks xmlns:a="http://schemas.openxmlformats.org/drawingml/2006/main" noGrp="1"/>
          </p:cNvSpPr>
          <p:nvPr/>
        </p:nvSpPr>
        <p:spPr>
          <a:xfrm xmlns:a="http://schemas.openxmlformats.org/drawingml/2006/main">
            <a:off x="7334250" y="15621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reference</a:t>
            </a:r>
          </a:p>
        </p:txBody>
      </p:sp>
      <p:sp>
        <p:nvSpPr>
          <p:cNvPr id="8" name="">
            <a:extLst xmlns:a="http://schemas.openxmlformats.org/drawingml/2006/main">
              <a:ext uri="{FF2B5EF4-FFF2-40B4-BE49-F238E27FC236}">
                <a16:creationId xmlns:a16="http://schemas.microsoft.com/office/drawing/2014/main" id="{4CFF01CD-3AC4-44C4-AB2C-D905102A97F3}"/>
              </a:ext>
            </a:extLst>
          </p:cNvPr>
          <p:cNvSpPr>
            <a:spLocks xmlns:a="http://schemas.openxmlformats.org/drawingml/2006/main" noGrp="1"/>
          </p:cNvSpPr>
          <p:nvPr/>
        </p:nvSpPr>
        <p:spPr>
          <a:xfrm xmlns:a="http://schemas.openxmlformats.org/drawingml/2006/main">
            <a:off x="723900" y="21336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12B"/>
                </a:solidFill>
                <a:latin typeface="Arial"/>
                <a:ea typeface="Arial"/>
                <a:cs typeface="Arial"/>
              </a:defRPr>
            </a:pPr>
            <a:r>
              <a:rPr sz="1425" b="0">
                <a:solidFill>
                  <a:srgbClr val="17212B"/>
                </a:solidFill>
                <a:latin typeface="Arial"/>
                <a:ea typeface="Arial"/>
                <a:cs typeface="Arial"/>
              </a:rPr>
              <a:t>Greedy attack</a:t>
            </a:r>
          </a:p>
        </p:txBody>
      </p:sp>
      <p:sp>
        <p:nvSpPr>
          <p:cNvPr id="9" name="">
            <a:extLst xmlns:a="http://schemas.openxmlformats.org/drawingml/2006/main">
              <a:ext uri="{FF2B5EF4-FFF2-40B4-BE49-F238E27FC236}">
                <a16:creationId xmlns:a16="http://schemas.microsoft.com/office/drawing/2014/main" id="{3765EA7D-6C64-4904-A20F-D3F884D5146D}"/>
              </a:ext>
            </a:extLst>
          </p:cNvPr>
          <p:cNvSpPr>
            <a:spLocks xmlns:a="http://schemas.openxmlformats.org/drawingml/2006/main" noGrp="1"/>
          </p:cNvSpPr>
          <p:nvPr/>
        </p:nvSpPr>
        <p:spPr>
          <a:xfrm xmlns:a="http://schemas.openxmlformats.org/drawingml/2006/main">
            <a:off x="3048000" y="2200275"/>
            <a:ext cx="4095750" cy="133350"/>
          </a:xfrm>
          <a:prstGeom xmlns:a="http://schemas.openxmlformats.org/drawingml/2006/main" prst="rect">
            <a:avLst/>
          </a:prstGeom>
          <a:solidFill xmlns:a="http://schemas.openxmlformats.org/drawingml/2006/main">
            <a:srgbClr val="C9CFD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C81DC25-576F-490D-BF96-5B0A901BB903}"/>
              </a:ext>
            </a:extLst>
          </p:cNvPr>
          <p:cNvSpPr>
            <a:spLocks xmlns:a="http://schemas.openxmlformats.org/drawingml/2006/main" noGrp="1"/>
          </p:cNvSpPr>
          <p:nvPr/>
        </p:nvSpPr>
        <p:spPr>
          <a:xfrm xmlns:a="http://schemas.openxmlformats.org/drawingml/2006/main">
            <a:off x="7334250" y="21336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reference</a:t>
            </a:r>
          </a:p>
        </p:txBody>
      </p:sp>
      <p:sp>
        <p:nvSpPr>
          <p:cNvPr id="11" name="">
            <a:extLst xmlns:a="http://schemas.openxmlformats.org/drawingml/2006/main">
              <a:ext uri="{FF2B5EF4-FFF2-40B4-BE49-F238E27FC236}">
                <a16:creationId xmlns:a16="http://schemas.microsoft.com/office/drawing/2014/main" id="{467FC19F-648D-4E2E-A0FE-A448474210F9}"/>
              </a:ext>
            </a:extLst>
          </p:cNvPr>
          <p:cNvSpPr>
            <a:spLocks xmlns:a="http://schemas.openxmlformats.org/drawingml/2006/main" noGrp="1"/>
          </p:cNvSpPr>
          <p:nvPr/>
        </p:nvSpPr>
        <p:spPr>
          <a:xfrm xmlns:a="http://schemas.openxmlformats.org/drawingml/2006/main">
            <a:off x="723900" y="2705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7212B"/>
                </a:solidFill>
                <a:latin typeface="Arial"/>
                <a:ea typeface="Arial"/>
                <a:cs typeface="Arial"/>
              </a:defRPr>
            </a:pPr>
            <a:r>
              <a:rPr sz="1425" b="1">
                <a:solidFill>
                  <a:srgbClr val="17212B"/>
                </a:solidFill>
                <a:latin typeface="Arial"/>
                <a:ea typeface="Arial"/>
                <a:cs typeface="Arial"/>
              </a:rPr>
              <a:t>MPC only</a:t>
            </a:r>
          </a:p>
        </p:txBody>
      </p:sp>
      <p:sp>
        <p:nvSpPr>
          <p:cNvPr id="12" name="">
            <a:extLst xmlns:a="http://schemas.openxmlformats.org/drawingml/2006/main">
              <a:ext uri="{FF2B5EF4-FFF2-40B4-BE49-F238E27FC236}">
                <a16:creationId xmlns:a16="http://schemas.microsoft.com/office/drawing/2014/main" id="{486B6C20-35ED-407C-B400-983440FB2E2B}"/>
              </a:ext>
            </a:extLst>
          </p:cNvPr>
          <p:cNvSpPr>
            <a:spLocks xmlns:a="http://schemas.openxmlformats.org/drawingml/2006/main" noGrp="1"/>
          </p:cNvSpPr>
          <p:nvPr/>
        </p:nvSpPr>
        <p:spPr>
          <a:xfrm xmlns:a="http://schemas.openxmlformats.org/drawingml/2006/main">
            <a:off x="3048000" y="2771775"/>
            <a:ext cx="4095750" cy="133350"/>
          </a:xfrm>
          <a:prstGeom xmlns:a="http://schemas.openxmlformats.org/drawingml/2006/main" prst="rect">
            <a:avLst/>
          </a:prstGeom>
          <a:solidFill xmlns:a="http://schemas.openxmlformats.org/drawingml/2006/main">
            <a:srgbClr val="1768C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CC28BD-EDD9-469F-9DD3-65229AF680BE}"/>
              </a:ext>
            </a:extLst>
          </p:cNvPr>
          <p:cNvSpPr>
            <a:spLocks xmlns:a="http://schemas.openxmlformats.org/drawingml/2006/main" noGrp="1"/>
          </p:cNvSpPr>
          <p:nvPr/>
        </p:nvSpPr>
        <p:spPr>
          <a:xfrm xmlns:a="http://schemas.openxmlformats.org/drawingml/2006/main">
            <a:off x="7334250" y="27051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baseline</a:t>
            </a:r>
          </a:p>
        </p:txBody>
      </p:sp>
      <p:sp>
        <p:nvSpPr>
          <p:cNvPr id="14" name="">
            <a:extLst xmlns:a="http://schemas.openxmlformats.org/drawingml/2006/main">
              <a:ext uri="{FF2B5EF4-FFF2-40B4-BE49-F238E27FC236}">
                <a16:creationId xmlns:a16="http://schemas.microsoft.com/office/drawing/2014/main" id="{E62FD0AB-B37F-40BA-9142-A24FCCF0894F}"/>
              </a:ext>
            </a:extLst>
          </p:cNvPr>
          <p:cNvSpPr>
            <a:spLocks xmlns:a="http://schemas.openxmlformats.org/drawingml/2006/main" noGrp="1"/>
          </p:cNvSpPr>
          <p:nvPr/>
        </p:nvSpPr>
        <p:spPr>
          <a:xfrm xmlns:a="http://schemas.openxmlformats.org/drawingml/2006/main">
            <a:off x="723900" y="32766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7212B"/>
                </a:solidFill>
                <a:latin typeface="Arial"/>
                <a:ea typeface="Arial"/>
                <a:cs typeface="Arial"/>
              </a:defRPr>
            </a:pPr>
            <a:r>
              <a:rPr sz="1425" b="1">
                <a:solidFill>
                  <a:srgbClr val="17212B"/>
                </a:solidFill>
                <a:latin typeface="Arial"/>
                <a:ea typeface="Arial"/>
                <a:cs typeface="Arial"/>
              </a:rPr>
              <a:t>MPC + actor</a:t>
            </a:r>
          </a:p>
        </p:txBody>
      </p:sp>
      <p:sp>
        <p:nvSpPr>
          <p:cNvPr id="15" name="">
            <a:extLst xmlns:a="http://schemas.openxmlformats.org/drawingml/2006/main">
              <a:ext uri="{FF2B5EF4-FFF2-40B4-BE49-F238E27FC236}">
                <a16:creationId xmlns:a16="http://schemas.microsoft.com/office/drawing/2014/main" id="{B03C5B99-0B4D-4028-BA9D-44ABA4BA7E5D}"/>
              </a:ext>
            </a:extLst>
          </p:cNvPr>
          <p:cNvSpPr>
            <a:spLocks xmlns:a="http://schemas.openxmlformats.org/drawingml/2006/main" noGrp="1"/>
          </p:cNvSpPr>
          <p:nvPr/>
        </p:nvSpPr>
        <p:spPr>
          <a:xfrm xmlns:a="http://schemas.openxmlformats.org/drawingml/2006/main">
            <a:off x="3048000" y="3343275"/>
            <a:ext cx="4095750" cy="133350"/>
          </a:xfrm>
          <a:prstGeom xmlns:a="http://schemas.openxmlformats.org/drawingml/2006/main" prst="rect">
            <a:avLst/>
          </a:prstGeom>
          <a:solidFill xmlns:a="http://schemas.openxmlformats.org/drawingml/2006/main">
            <a:srgbClr val="7B5A9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35FD826-FE9C-4FEE-8A9F-D5CA82FC098D}"/>
              </a:ext>
            </a:extLst>
          </p:cNvPr>
          <p:cNvSpPr>
            <a:spLocks xmlns:a="http://schemas.openxmlformats.org/drawingml/2006/main" noGrp="1"/>
          </p:cNvSpPr>
          <p:nvPr/>
        </p:nvSpPr>
        <p:spPr>
          <a:xfrm xmlns:a="http://schemas.openxmlformats.org/drawingml/2006/main">
            <a:off x="7334250" y="32766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ablation</a:t>
            </a:r>
          </a:p>
        </p:txBody>
      </p:sp>
      <p:sp>
        <p:nvSpPr>
          <p:cNvPr id="17" name="">
            <a:extLst xmlns:a="http://schemas.openxmlformats.org/drawingml/2006/main">
              <a:ext uri="{FF2B5EF4-FFF2-40B4-BE49-F238E27FC236}">
                <a16:creationId xmlns:a16="http://schemas.microsoft.com/office/drawing/2014/main" id="{848F8725-7EC2-42AA-B89B-0F95CC4DC996}"/>
              </a:ext>
            </a:extLst>
          </p:cNvPr>
          <p:cNvSpPr>
            <a:spLocks xmlns:a="http://schemas.openxmlformats.org/drawingml/2006/main" noGrp="1"/>
          </p:cNvSpPr>
          <p:nvPr/>
        </p:nvSpPr>
        <p:spPr>
          <a:xfrm xmlns:a="http://schemas.openxmlformats.org/drawingml/2006/main">
            <a:off x="723900" y="3848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7212B"/>
                </a:solidFill>
                <a:latin typeface="Arial"/>
                <a:ea typeface="Arial"/>
                <a:cs typeface="Arial"/>
              </a:defRPr>
            </a:pPr>
            <a:r>
              <a:rPr sz="1425" b="1">
                <a:solidFill>
                  <a:srgbClr val="17212B"/>
                </a:solidFill>
                <a:latin typeface="Arial"/>
                <a:ea typeface="Arial"/>
                <a:cs typeface="Arial"/>
              </a:rPr>
              <a:t>MPC + value</a:t>
            </a:r>
          </a:p>
        </p:txBody>
      </p:sp>
      <p:sp>
        <p:nvSpPr>
          <p:cNvPr id="18" name="">
            <a:extLst xmlns:a="http://schemas.openxmlformats.org/drawingml/2006/main">
              <a:ext uri="{FF2B5EF4-FFF2-40B4-BE49-F238E27FC236}">
                <a16:creationId xmlns:a16="http://schemas.microsoft.com/office/drawing/2014/main" id="{523A9974-9C7A-4DBF-89B6-8019B853F497}"/>
              </a:ext>
            </a:extLst>
          </p:cNvPr>
          <p:cNvSpPr>
            <a:spLocks xmlns:a="http://schemas.openxmlformats.org/drawingml/2006/main" noGrp="1"/>
          </p:cNvSpPr>
          <p:nvPr/>
        </p:nvSpPr>
        <p:spPr>
          <a:xfrm xmlns:a="http://schemas.openxmlformats.org/drawingml/2006/main">
            <a:off x="3048000" y="3914775"/>
            <a:ext cx="4095750" cy="133350"/>
          </a:xfrm>
          <a:prstGeom xmlns:a="http://schemas.openxmlformats.org/drawingml/2006/main" prst="rect">
            <a:avLst/>
          </a:prstGeom>
          <a:solidFill xmlns:a="http://schemas.openxmlformats.org/drawingml/2006/main">
            <a:srgbClr val="7B5A9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298D75-EA2C-499E-93EE-9A53465D64FA}"/>
              </a:ext>
            </a:extLst>
          </p:cNvPr>
          <p:cNvSpPr>
            <a:spLocks xmlns:a="http://schemas.openxmlformats.org/drawingml/2006/main" noGrp="1"/>
          </p:cNvSpPr>
          <p:nvPr/>
        </p:nvSpPr>
        <p:spPr>
          <a:xfrm xmlns:a="http://schemas.openxmlformats.org/drawingml/2006/main">
            <a:off x="7334250" y="38481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ablation</a:t>
            </a:r>
          </a:p>
        </p:txBody>
      </p:sp>
      <p:sp>
        <p:nvSpPr>
          <p:cNvPr id="20" name="">
            <a:extLst xmlns:a="http://schemas.openxmlformats.org/drawingml/2006/main">
              <a:ext uri="{FF2B5EF4-FFF2-40B4-BE49-F238E27FC236}">
                <a16:creationId xmlns:a16="http://schemas.microsoft.com/office/drawing/2014/main" id="{5DE676A7-494B-4343-AF14-2751CDD9B531}"/>
              </a:ext>
            </a:extLst>
          </p:cNvPr>
          <p:cNvSpPr>
            <a:spLocks xmlns:a="http://schemas.openxmlformats.org/drawingml/2006/main" noGrp="1"/>
          </p:cNvSpPr>
          <p:nvPr/>
        </p:nvSpPr>
        <p:spPr>
          <a:xfrm xmlns:a="http://schemas.openxmlformats.org/drawingml/2006/main">
            <a:off x="723900" y="44196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7212B"/>
                </a:solidFill>
                <a:latin typeface="Arial"/>
                <a:ea typeface="Arial"/>
                <a:cs typeface="Arial"/>
              </a:defRPr>
            </a:pPr>
            <a:r>
              <a:rPr sz="1425" b="1">
                <a:solidFill>
                  <a:srgbClr val="17212B"/>
                </a:solidFill>
                <a:latin typeface="Arial"/>
                <a:ea typeface="Arial"/>
                <a:cs typeface="Arial"/>
              </a:rPr>
              <a:t>Full system</a:t>
            </a:r>
          </a:p>
        </p:txBody>
      </p:sp>
      <p:sp>
        <p:nvSpPr>
          <p:cNvPr id="21" name="">
            <a:extLst xmlns:a="http://schemas.openxmlformats.org/drawingml/2006/main">
              <a:ext uri="{FF2B5EF4-FFF2-40B4-BE49-F238E27FC236}">
                <a16:creationId xmlns:a16="http://schemas.microsoft.com/office/drawing/2014/main" id="{97B1250E-D59B-488F-B94B-891E08AED6F2}"/>
              </a:ext>
            </a:extLst>
          </p:cNvPr>
          <p:cNvSpPr>
            <a:spLocks xmlns:a="http://schemas.openxmlformats.org/drawingml/2006/main" noGrp="1"/>
          </p:cNvSpPr>
          <p:nvPr/>
        </p:nvSpPr>
        <p:spPr>
          <a:xfrm xmlns:a="http://schemas.openxmlformats.org/drawingml/2006/main">
            <a:off x="3048000" y="4486275"/>
            <a:ext cx="4095750" cy="133350"/>
          </a:xfrm>
          <a:prstGeom xmlns:a="http://schemas.openxmlformats.org/drawingml/2006/main" prst="rect">
            <a:avLst/>
          </a:prstGeom>
          <a:solidFill xmlns:a="http://schemas.openxmlformats.org/drawingml/2006/main">
            <a:srgbClr val="7B5A9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934A87C-2A8F-4C3F-B3F7-E047B30A3D5C}"/>
              </a:ext>
            </a:extLst>
          </p:cNvPr>
          <p:cNvSpPr>
            <a:spLocks xmlns:a="http://schemas.openxmlformats.org/drawingml/2006/main" noGrp="1"/>
          </p:cNvSpPr>
          <p:nvPr/>
        </p:nvSpPr>
        <p:spPr>
          <a:xfrm xmlns:a="http://schemas.openxmlformats.org/drawingml/2006/main">
            <a:off x="7334250" y="44196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D6872"/>
                </a:solidFill>
                <a:latin typeface="Arial"/>
                <a:ea typeface="Arial"/>
                <a:cs typeface="Arial"/>
              </a:defRPr>
            </a:pPr>
            <a:r>
              <a:rPr sz="1125" b="0">
                <a:solidFill>
                  <a:srgbClr val="5D6872"/>
                </a:solidFill>
                <a:latin typeface="Arial"/>
                <a:ea typeface="Arial"/>
                <a:cs typeface="Arial"/>
              </a:rPr>
              <a:t>ablation</a:t>
            </a:r>
          </a:p>
        </p:txBody>
      </p:sp>
      <p:sp>
        <p:nvSpPr>
          <p:cNvPr id="23" name="">
            <a:extLst xmlns:a="http://schemas.openxmlformats.org/drawingml/2006/main">
              <a:ext uri="{FF2B5EF4-FFF2-40B4-BE49-F238E27FC236}">
                <a16:creationId xmlns:a16="http://schemas.microsoft.com/office/drawing/2014/main" id="{9E6BE3DA-BAC5-4C78-B09E-086469C9CCDB}"/>
              </a:ext>
            </a:extLst>
          </p:cNvPr>
          <p:cNvSpPr>
            <a:spLocks xmlns:a="http://schemas.openxmlformats.org/drawingml/2006/main" noGrp="1"/>
          </p:cNvSpPr>
          <p:nvPr/>
        </p:nvSpPr>
        <p:spPr>
          <a:xfrm xmlns:a="http://schemas.openxmlformats.org/drawingml/2006/main">
            <a:off x="8715375" y="1476375"/>
            <a:ext cx="2667000" cy="3619500"/>
          </a:xfrm>
          <a:prstGeom xmlns:a="http://schemas.openxmlformats.org/drawingml/2006/main" prst="rect">
            <a:avLst/>
          </a:prstGeom>
          <a:solidFill xmlns:a="http://schemas.openxmlformats.org/drawingml/2006/main">
            <a:srgbClr val="17212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8CA5F4D-6F2C-4677-BCF4-AEC56E9C85CC}"/>
              </a:ext>
            </a:extLst>
          </p:cNvPr>
          <p:cNvSpPr>
            <a:spLocks xmlns:a="http://schemas.openxmlformats.org/drawingml/2006/main" noGrp="1"/>
          </p:cNvSpPr>
          <p:nvPr/>
        </p:nvSpPr>
        <p:spPr>
          <a:xfrm xmlns:a="http://schemas.openxmlformats.org/drawingml/2006/main">
            <a:off x="8972550" y="16954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Promotion gates</a:t>
            </a:r>
          </a:p>
        </p:txBody>
      </p:sp>
      <p:sp>
        <p:nvSpPr>
          <p:cNvPr id="25" name="">
            <a:extLst xmlns:a="http://schemas.openxmlformats.org/drawingml/2006/main">
              <a:ext uri="{FF2B5EF4-FFF2-40B4-BE49-F238E27FC236}">
                <a16:creationId xmlns:a16="http://schemas.microsoft.com/office/drawing/2014/main" id="{0576E061-FCD5-4078-9AB9-9BC5E2E306E4}"/>
              </a:ext>
            </a:extLst>
          </p:cNvPr>
          <p:cNvSpPr>
            <a:spLocks xmlns:a="http://schemas.openxmlformats.org/drawingml/2006/main" noGrp="1"/>
          </p:cNvSpPr>
          <p:nvPr/>
        </p:nvSpPr>
        <p:spPr>
          <a:xfrm xmlns:a="http://schemas.openxmlformats.org/drawingml/2006/main">
            <a:off x="8972550" y="2314575"/>
            <a:ext cx="57150" cy="285750"/>
          </a:xfrm>
          <a:prstGeom xmlns:a="http://schemas.openxmlformats.org/drawingml/2006/main" prst="rect">
            <a:avLst/>
          </a:prstGeom>
          <a:solidFill xmlns:a="http://schemas.openxmlformats.org/drawingml/2006/main">
            <a:srgbClr val="75B7E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C8D30E6-34FB-4FF8-8536-17CCC6C84AED}"/>
              </a:ext>
            </a:extLst>
          </p:cNvPr>
          <p:cNvSpPr>
            <a:spLocks xmlns:a="http://schemas.openxmlformats.org/drawingml/2006/main" noGrp="1"/>
          </p:cNvSpPr>
          <p:nvPr/>
        </p:nvSpPr>
        <p:spPr>
          <a:xfrm xmlns:a="http://schemas.openxmlformats.org/drawingml/2006/main">
            <a:off x="9182100" y="224790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15"/>
          </a:bodyPr>
          <a:lstStyle xmlns:a="http://schemas.openxmlformats.org/drawingml/2006/main"/>
          <a:p xmlns:a="http://schemas.openxmlformats.org/drawingml/2006/main">
            <a:pPr algn="l">
              <a:defRPr sz="1275" b="0">
                <a:solidFill>
                  <a:srgbClr val="E6EBEF"/>
                </a:solidFill>
                <a:latin typeface="Arial"/>
                <a:ea typeface="Arial"/>
                <a:cs typeface="Arial"/>
              </a:defRPr>
            </a:pPr>
            <a:r>
              <a:rPr sz="1275" b="0">
                <a:solidFill>
                  <a:srgbClr val="E6EBEF"/>
                </a:solidFill>
                <a:latin typeface="Arial"/>
                <a:ea typeface="Arial"/>
                <a:cs typeface="Arial"/>
              </a:rPr>
              <a:t>Predeclared benefit margin</a:t>
            </a:r>
          </a:p>
        </p:txBody>
      </p:sp>
      <p:sp>
        <p:nvSpPr>
          <p:cNvPr id="27" name="">
            <a:extLst xmlns:a="http://schemas.openxmlformats.org/drawingml/2006/main">
              <a:ext uri="{FF2B5EF4-FFF2-40B4-BE49-F238E27FC236}">
                <a16:creationId xmlns:a16="http://schemas.microsoft.com/office/drawing/2014/main" id="{AE4FB65B-29A0-479F-A9D9-27D7CB5C2749}"/>
              </a:ext>
            </a:extLst>
          </p:cNvPr>
          <p:cNvSpPr>
            <a:spLocks xmlns:a="http://schemas.openxmlformats.org/drawingml/2006/main" noGrp="1"/>
          </p:cNvSpPr>
          <p:nvPr/>
        </p:nvSpPr>
        <p:spPr>
          <a:xfrm xmlns:a="http://schemas.openxmlformats.org/drawingml/2006/main">
            <a:off x="8972550" y="2828925"/>
            <a:ext cx="57150" cy="285750"/>
          </a:xfrm>
          <a:prstGeom xmlns:a="http://schemas.openxmlformats.org/drawingml/2006/main" prst="rect">
            <a:avLst/>
          </a:prstGeom>
          <a:solidFill xmlns:a="http://schemas.openxmlformats.org/drawingml/2006/main">
            <a:srgbClr val="75B7E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6778EED-3768-4CDE-B8EB-0145A82DB4CA}"/>
              </a:ext>
            </a:extLst>
          </p:cNvPr>
          <p:cNvSpPr>
            <a:spLocks xmlns:a="http://schemas.openxmlformats.org/drawingml/2006/main" noGrp="1"/>
          </p:cNvSpPr>
          <p:nvPr/>
        </p:nvSpPr>
        <p:spPr>
          <a:xfrm xmlns:a="http://schemas.openxmlformats.org/drawingml/2006/main">
            <a:off x="9182100" y="276225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91"/>
          </a:bodyPr>
          <a:lstStyle xmlns:a="http://schemas.openxmlformats.org/drawingml/2006/main"/>
          <a:p xmlns:a="http://schemas.openxmlformats.org/drawingml/2006/main">
            <a:pPr algn="l">
              <a:defRPr sz="1275" b="0">
                <a:solidFill>
                  <a:srgbClr val="E6EBEF"/>
                </a:solidFill>
                <a:latin typeface="Arial"/>
                <a:ea typeface="Arial"/>
                <a:cs typeface="Arial"/>
              </a:defRPr>
            </a:pPr>
            <a:r>
              <a:rPr sz="1275" b="0">
                <a:solidFill>
                  <a:srgbClr val="E6EBEF"/>
                </a:solidFill>
                <a:latin typeface="Arial"/>
                <a:ea typeface="Arial"/>
                <a:cs typeface="Arial"/>
              </a:rPr>
              <a:t>Downside by circuit subgroup</a:t>
            </a:r>
          </a:p>
        </p:txBody>
      </p:sp>
      <p:sp>
        <p:nvSpPr>
          <p:cNvPr id="29" name="">
            <a:extLst xmlns:a="http://schemas.openxmlformats.org/drawingml/2006/main">
              <a:ext uri="{FF2B5EF4-FFF2-40B4-BE49-F238E27FC236}">
                <a16:creationId xmlns:a16="http://schemas.microsoft.com/office/drawing/2014/main" id="{1EB81272-30A8-4772-8CB6-F0142F8E4252}"/>
              </a:ext>
            </a:extLst>
          </p:cNvPr>
          <p:cNvSpPr>
            <a:spLocks xmlns:a="http://schemas.openxmlformats.org/drawingml/2006/main" noGrp="1"/>
          </p:cNvSpPr>
          <p:nvPr/>
        </p:nvSpPr>
        <p:spPr>
          <a:xfrm xmlns:a="http://schemas.openxmlformats.org/drawingml/2006/main">
            <a:off x="8972550" y="3343275"/>
            <a:ext cx="57150" cy="285750"/>
          </a:xfrm>
          <a:prstGeom xmlns:a="http://schemas.openxmlformats.org/drawingml/2006/main" prst="rect">
            <a:avLst/>
          </a:prstGeom>
          <a:solidFill xmlns:a="http://schemas.openxmlformats.org/drawingml/2006/main">
            <a:srgbClr val="B63B4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2A42CFE-CECC-4400-A417-8C3FACCE6E93}"/>
              </a:ext>
            </a:extLst>
          </p:cNvPr>
          <p:cNvSpPr>
            <a:spLocks xmlns:a="http://schemas.openxmlformats.org/drawingml/2006/main" noGrp="1"/>
          </p:cNvSpPr>
          <p:nvPr/>
        </p:nvSpPr>
        <p:spPr>
          <a:xfrm xmlns:a="http://schemas.openxmlformats.org/drawingml/2006/main">
            <a:off x="9182100" y="327660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479"/>
          </a:bodyPr>
          <a:lstStyle xmlns:a="http://schemas.openxmlformats.org/drawingml/2006/main"/>
          <a:p xmlns:a="http://schemas.openxmlformats.org/drawingml/2006/main">
            <a:pPr algn="l">
              <a:defRPr sz="1275" b="0">
                <a:solidFill>
                  <a:srgbClr val="E6EBEF"/>
                </a:solidFill>
                <a:latin typeface="Arial"/>
                <a:ea typeface="Arial"/>
                <a:cs typeface="Arial"/>
              </a:defRPr>
            </a:pPr>
            <a:r>
              <a:rPr sz="1275" b="0">
                <a:solidFill>
                  <a:srgbClr val="E6EBEF"/>
                </a:solidFill>
                <a:latin typeface="Arial"/>
                <a:ea typeface="Arial"/>
                <a:cs typeface="Arial"/>
              </a:rPr>
              <a:t>Modeled constraint results</a:t>
            </a:r>
          </a:p>
        </p:txBody>
      </p:sp>
      <p:sp>
        <p:nvSpPr>
          <p:cNvPr id="31" name="">
            <a:extLst xmlns:a="http://schemas.openxmlformats.org/drawingml/2006/main">
              <a:ext uri="{FF2B5EF4-FFF2-40B4-BE49-F238E27FC236}">
                <a16:creationId xmlns:a16="http://schemas.microsoft.com/office/drawing/2014/main" id="{AA2F135C-CD6C-41D4-A087-2618EF0126C8}"/>
              </a:ext>
            </a:extLst>
          </p:cNvPr>
          <p:cNvSpPr>
            <a:spLocks xmlns:a="http://schemas.openxmlformats.org/drawingml/2006/main" noGrp="1"/>
          </p:cNvSpPr>
          <p:nvPr/>
        </p:nvSpPr>
        <p:spPr>
          <a:xfrm xmlns:a="http://schemas.openxmlformats.org/drawingml/2006/main">
            <a:off x="8972550" y="3857625"/>
            <a:ext cx="57150" cy="285750"/>
          </a:xfrm>
          <a:prstGeom xmlns:a="http://schemas.openxmlformats.org/drawingml/2006/main" prst="rect">
            <a:avLst/>
          </a:prstGeom>
          <a:solidFill xmlns:a="http://schemas.openxmlformats.org/drawingml/2006/main">
            <a:srgbClr val="75B7E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ACDBBD0-F27D-477A-8031-DB9879F8A4B1}"/>
              </a:ext>
            </a:extLst>
          </p:cNvPr>
          <p:cNvSpPr>
            <a:spLocks xmlns:a="http://schemas.openxmlformats.org/drawingml/2006/main" noGrp="1"/>
          </p:cNvSpPr>
          <p:nvPr/>
        </p:nvSpPr>
        <p:spPr>
          <a:xfrm xmlns:a="http://schemas.openxmlformats.org/drawingml/2006/main">
            <a:off x="9182100" y="379095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BEF"/>
                </a:solidFill>
                <a:latin typeface="Arial"/>
                <a:ea typeface="Arial"/>
                <a:cs typeface="Arial"/>
              </a:defRPr>
            </a:pPr>
            <a:r>
              <a:rPr sz="1275" b="0">
                <a:solidFill>
                  <a:srgbClr val="E6EBEF"/>
                </a:solidFill>
                <a:latin typeface="Arial"/>
                <a:ea typeface="Arial"/>
                <a:cs typeface="Arial"/>
              </a:rPr>
              <a:t>Probability calibration</a:t>
            </a:r>
          </a:p>
        </p:txBody>
      </p:sp>
      <p:sp>
        <p:nvSpPr>
          <p:cNvPr id="33" name="">
            <a:extLst xmlns:a="http://schemas.openxmlformats.org/drawingml/2006/main">
              <a:ext uri="{FF2B5EF4-FFF2-40B4-BE49-F238E27FC236}">
                <a16:creationId xmlns:a16="http://schemas.microsoft.com/office/drawing/2014/main" id="{25FEA1EC-7B06-486B-B42B-A30E632E24FD}"/>
              </a:ext>
            </a:extLst>
          </p:cNvPr>
          <p:cNvSpPr>
            <a:spLocks xmlns:a="http://schemas.openxmlformats.org/drawingml/2006/main" noGrp="1"/>
          </p:cNvSpPr>
          <p:nvPr/>
        </p:nvSpPr>
        <p:spPr>
          <a:xfrm xmlns:a="http://schemas.openxmlformats.org/drawingml/2006/main">
            <a:off x="8972550" y="4371975"/>
            <a:ext cx="57150" cy="285750"/>
          </a:xfrm>
          <a:prstGeom xmlns:a="http://schemas.openxmlformats.org/drawingml/2006/main" prst="rect">
            <a:avLst/>
          </a:prstGeom>
          <a:solidFill xmlns:a="http://schemas.openxmlformats.org/drawingml/2006/main">
            <a:srgbClr val="75B7E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B455483-C75E-499B-BF38-0FD501ABBD62}"/>
              </a:ext>
            </a:extLst>
          </p:cNvPr>
          <p:cNvSpPr>
            <a:spLocks xmlns:a="http://schemas.openxmlformats.org/drawingml/2006/main" noGrp="1"/>
          </p:cNvSpPr>
          <p:nvPr/>
        </p:nvSpPr>
        <p:spPr>
          <a:xfrm xmlns:a="http://schemas.openxmlformats.org/drawingml/2006/main">
            <a:off x="9182100" y="4305300"/>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E6EBEF"/>
                </a:solidFill>
                <a:latin typeface="Arial"/>
                <a:ea typeface="Arial"/>
                <a:cs typeface="Arial"/>
              </a:defRPr>
            </a:pPr>
            <a:r>
              <a:rPr sz="1275" b="0">
                <a:solidFill>
                  <a:srgbClr val="E6EBEF"/>
                </a:solidFill>
                <a:latin typeface="Arial"/>
                <a:ea typeface="Arial"/>
                <a:cs typeface="Arial"/>
              </a:rPr>
              <a:t>p95 decision latency</a:t>
            </a:r>
          </a:p>
        </p:txBody>
      </p:sp>
      <p:sp>
        <p:nvSpPr>
          <p:cNvPr id="35" name="">
            <a:extLst xmlns:a="http://schemas.openxmlformats.org/drawingml/2006/main">
              <a:ext uri="{FF2B5EF4-FFF2-40B4-BE49-F238E27FC236}">
                <a16:creationId xmlns:a16="http://schemas.microsoft.com/office/drawing/2014/main" id="{28275391-46FD-45E9-9B10-2EF6EEE30603}"/>
              </a:ext>
            </a:extLst>
          </p:cNvPr>
          <p:cNvSpPr>
            <a:spLocks xmlns:a="http://schemas.openxmlformats.org/drawingml/2006/main" noGrp="1"/>
          </p:cNvSpPr>
          <p:nvPr/>
        </p:nvSpPr>
        <p:spPr>
          <a:xfrm xmlns:a="http://schemas.openxmlformats.org/drawingml/2006/main">
            <a:off x="723900" y="5410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a:solidFill>
                  <a:srgbClr val="B63B42"/>
                </a:solidFill>
                <a:latin typeface="Arial"/>
                <a:ea typeface="Arial"/>
                <a:cs typeface="Arial"/>
              </a:defRPr>
            </a:pPr>
            <a:r>
              <a:rPr sz="1950" b="1">
                <a:solidFill>
                  <a:srgbClr val="B63B42"/>
                </a:solidFill>
                <a:latin typeface="Arial"/>
                <a:ea typeface="Arial"/>
                <a:cs typeface="Arial"/>
              </a:rPr>
              <a:t>No benchmark result exists yet</a:t>
            </a:r>
          </a:p>
        </p:txBody>
      </p:sp>
      <p:sp>
        <p:nvSpPr>
          <p:cNvPr id="36" name="">
            <a:extLst xmlns:a="http://schemas.openxmlformats.org/drawingml/2006/main">
              <a:ext uri="{FF2B5EF4-FFF2-40B4-BE49-F238E27FC236}">
                <a16:creationId xmlns:a16="http://schemas.microsoft.com/office/drawing/2014/main" id="{7A66BB8E-3A7F-483A-B72F-2545A09F0FB6}"/>
              </a:ext>
            </a:extLst>
          </p:cNvPr>
          <p:cNvSpPr>
            <a:spLocks xmlns:a="http://schemas.openxmlformats.org/drawingml/2006/main" noGrp="1"/>
          </p:cNvSpPr>
          <p:nvPr/>
        </p:nvSpPr>
        <p:spPr>
          <a:xfrm xmlns:a="http://schemas.openxmlformats.org/drawingml/2006/main">
            <a:off x="723900" y="58293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A rejected learned model leaves MPC-only active and its report inspectable.</a:t>
            </a:r>
          </a:p>
        </p:txBody>
      </p:sp>
      <p:sp>
        <p:nvSpPr>
          <p:cNvPr id="37" name="">
            <a:extLst xmlns:a="http://schemas.openxmlformats.org/drawingml/2006/main">
              <a:ext uri="{FF2B5EF4-FFF2-40B4-BE49-F238E27FC236}">
                <a16:creationId xmlns:a16="http://schemas.microsoft.com/office/drawing/2014/main" id="{8445EA68-5832-46CB-A028-4682998E862A}"/>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38" name="">
            <a:extLst xmlns:a="http://schemas.openxmlformats.org/drawingml/2006/main">
              <a:ext uri="{FF2B5EF4-FFF2-40B4-BE49-F238E27FC236}">
                <a16:creationId xmlns:a16="http://schemas.microsoft.com/office/drawing/2014/main" id="{ADAC20EF-8751-4887-BC02-094E926EDD27}"/>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39" name="">
            <a:extLst xmlns:a="http://schemas.openxmlformats.org/drawingml/2006/main">
              <a:ext uri="{FF2B5EF4-FFF2-40B4-BE49-F238E27FC236}">
                <a16:creationId xmlns:a16="http://schemas.microsoft.com/office/drawing/2014/main" id="{B5697800-7D28-4719-BF79-709ED8D0899A}"/>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14</a:t>
            </a:r>
          </a:p>
        </p:txBody>
      </p:sp>
    </p:spTree>
    <p:extLst>
      <p:ext uri="{BB962C8B-B14F-4D97-AF65-F5344CB8AC3E}">
        <p14:creationId xmlns:p14="http://schemas.microsoft.com/office/powerpoint/2010/main" val="2143187301"/>
      </p:ext>
    </p:extLst>
  </p:cSld>
</p:sld>
</file>

<file path=ppt/slides/slide15.xml><?xml version="1.0" encoding="utf-8"?>
<p:sld xmlns:p="http://schemas.openxmlformats.org/presentationml/2006/main">
  <p:cSld>
    <p:bg>
      <p:bgPr>
        <a:solidFill xmlns:a="http://schemas.openxmlformats.org/drawingml/2006/main">
          <a:srgbClr val="F3F4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9058DA-402C-4D18-8A4E-3AA0B5819F2F}"/>
              </a:ext>
            </a:extLst>
          </p:cNvPr>
          <p:cNvSpPr>
            <a:spLocks xmlns:a="http://schemas.openxmlformats.org/drawingml/2006/main" noGrp="1"/>
          </p:cNvSpPr>
          <p:nvPr/>
        </p:nvSpPr>
        <p:spPr>
          <a:xfrm xmlns:a="http://schemas.openxmlformats.org/drawingml/2006/main">
            <a:off x="552450" y="361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8C4"/>
                </a:solidFill>
                <a:latin typeface="Arial"/>
                <a:ea typeface="Arial"/>
                <a:cs typeface="Arial"/>
              </a:defRPr>
            </a:pPr>
            <a:r>
              <a:rPr sz="1050" b="1">
                <a:solidFill>
                  <a:srgbClr val="1768C4"/>
                </a:solidFill>
                <a:latin typeface="Arial"/>
                <a:ea typeface="Arial"/>
                <a:cs typeface="Arial"/>
              </a:rPr>
              <a:t>15</a:t>
            </a:r>
          </a:p>
        </p:txBody>
      </p:sp>
      <p:sp>
        <p:nvSpPr>
          <p:cNvPr id="2" name="">
            <a:extLst xmlns:a="http://schemas.openxmlformats.org/drawingml/2006/main">
              <a:ext uri="{FF2B5EF4-FFF2-40B4-BE49-F238E27FC236}">
                <a16:creationId xmlns:a16="http://schemas.microsoft.com/office/drawing/2014/main" id="{7DD992AD-851A-41F1-B69F-AF89D5F4F4A8}"/>
              </a:ext>
            </a:extLst>
          </p:cNvPr>
          <p:cNvSpPr>
            <a:spLocks xmlns:a="http://schemas.openxmlformats.org/drawingml/2006/main" noGrp="1"/>
          </p:cNvSpPr>
          <p:nvPr/>
        </p:nvSpPr>
        <p:spPr>
          <a:xfrm xmlns:a="http://schemas.openxmlformats.org/drawingml/2006/main">
            <a:off x="1066800" y="304800"/>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12B"/>
                </a:solidFill>
                <a:latin typeface="Arial"/>
                <a:ea typeface="Arial"/>
                <a:cs typeface="Arial"/>
              </a:defRPr>
            </a:pPr>
            <a:r>
              <a:rPr sz="2550" b="1">
                <a:solidFill>
                  <a:srgbClr val="17212B"/>
                </a:solidFill>
                <a:latin typeface="Arial"/>
                <a:ea typeface="Arial"/>
                <a:cs typeface="Arial"/>
              </a:rPr>
              <a:t>Product workflow and defensible USP</a:t>
            </a:r>
          </a:p>
        </p:txBody>
      </p:sp>
      <p:sp>
        <p:nvSpPr>
          <p:cNvPr id="3" name="">
            <a:extLst xmlns:a="http://schemas.openxmlformats.org/drawingml/2006/main">
              <a:ext uri="{FF2B5EF4-FFF2-40B4-BE49-F238E27FC236}">
                <a16:creationId xmlns:a16="http://schemas.microsoft.com/office/drawing/2014/main" id="{31C3C6E8-4CB3-47DB-B1C8-C1067C9D5480}"/>
              </a:ext>
            </a:extLst>
          </p:cNvPr>
          <p:cNvSpPr>
            <a:spLocks xmlns:a="http://schemas.openxmlformats.org/drawingml/2006/main" noGrp="1"/>
          </p:cNvSpPr>
          <p:nvPr/>
        </p:nvSpPr>
        <p:spPr>
          <a:xfrm xmlns:a="http://schemas.openxmlformats.org/drawingml/2006/main">
            <a:off x="1066800" y="8382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One decision record connects simulation, engineer action and observed execution</a:t>
            </a:r>
          </a:p>
        </p:txBody>
      </p:sp>
      <p:sp>
        <p:nvSpPr>
          <p:cNvPr id="4" name="">
            <a:extLst xmlns:a="http://schemas.openxmlformats.org/drawingml/2006/main">
              <a:ext uri="{FF2B5EF4-FFF2-40B4-BE49-F238E27FC236}">
                <a16:creationId xmlns:a16="http://schemas.microsoft.com/office/drawing/2014/main" id="{FF7C7327-ADE3-498D-890A-2C90CE69197B}"/>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5" name="">
            <a:extLst xmlns:a="http://schemas.openxmlformats.org/drawingml/2006/main">
              <a:ext uri="{FF2B5EF4-FFF2-40B4-BE49-F238E27FC236}">
                <a16:creationId xmlns:a16="http://schemas.microsoft.com/office/drawing/2014/main" id="{A6E9B477-D9D7-4773-8F1D-2E62BCED40CF}"/>
              </a:ext>
            </a:extLst>
          </p:cNvPr>
          <p:cNvSpPr>
            <a:spLocks xmlns:a="http://schemas.openxmlformats.org/drawingml/2006/main" noGrp="1"/>
          </p:cNvSpPr>
          <p:nvPr/>
        </p:nvSpPr>
        <p:spPr>
          <a:xfrm xmlns:a="http://schemas.openxmlformats.org/drawingml/2006/main">
            <a:off x="762000" y="1666875"/>
            <a:ext cx="2857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6" name="">
            <a:extLst xmlns:a="http://schemas.openxmlformats.org/drawingml/2006/main">
              <a:ext uri="{FF2B5EF4-FFF2-40B4-BE49-F238E27FC236}">
                <a16:creationId xmlns:a16="http://schemas.microsoft.com/office/drawing/2014/main" id="{AD742CB0-F4F2-4444-89A9-866B22BA860D}"/>
              </a:ext>
            </a:extLst>
          </p:cNvPr>
          <p:cNvSpPr>
            <a:spLocks xmlns:a="http://schemas.openxmlformats.org/drawingml/2006/main" noGrp="1"/>
          </p:cNvSpPr>
          <p:nvPr/>
        </p:nvSpPr>
        <p:spPr>
          <a:xfrm xmlns:a="http://schemas.openxmlformats.org/drawingml/2006/main">
            <a:off x="876300" y="1743075"/>
            <a:ext cx="2628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7212B"/>
                </a:solidFill>
                <a:latin typeface="Arial"/>
                <a:ea typeface="Arial"/>
                <a:cs typeface="Arial"/>
              </a:defRPr>
            </a:pPr>
            <a:r>
              <a:rPr sz="1875" b="1">
                <a:solidFill>
                  <a:srgbClr val="17212B"/>
                </a:solidFill>
                <a:latin typeface="Arial"/>
                <a:ea typeface="Arial"/>
                <a:cs typeface="Arial"/>
              </a:rPr>
              <a:t>Simulation lab</a:t>
            </a:r>
          </a:p>
        </p:txBody>
      </p:sp>
      <p:sp>
        <p:nvSpPr>
          <p:cNvPr id="7" name="">
            <a:extLst xmlns:a="http://schemas.openxmlformats.org/drawingml/2006/main">
              <a:ext uri="{FF2B5EF4-FFF2-40B4-BE49-F238E27FC236}">
                <a16:creationId xmlns:a16="http://schemas.microsoft.com/office/drawing/2014/main" id="{5AF33698-455B-4170-906E-33CAC2A6B833}"/>
              </a:ext>
            </a:extLst>
          </p:cNvPr>
          <p:cNvSpPr>
            <a:spLocks xmlns:a="http://schemas.openxmlformats.org/drawingml/2006/main" noGrp="1"/>
          </p:cNvSpPr>
          <p:nvPr/>
        </p:nvSpPr>
        <p:spPr>
          <a:xfrm xmlns:a="http://schemas.openxmlformats.org/drawingml/2006/main">
            <a:off x="4667250" y="1666875"/>
            <a:ext cx="2857500" cy="800100"/>
          </a:xfrm>
          <a:prstGeom xmlns:a="http://schemas.openxmlformats.org/drawingml/2006/main" prst="rect">
            <a:avLst/>
          </a:prstGeom>
          <a:solidFill xmlns:a="http://schemas.openxmlformats.org/drawingml/2006/main">
            <a:srgbClr val="E7EEF7"/>
          </a:solidFill>
          <a:ln xmlns:a="http://schemas.openxmlformats.org/drawingml/2006/main" w="9525">
            <a:solidFill>
              <a:srgbClr val="1768C4"/>
            </a:solidFill>
            <a:prstDash val="solid"/>
          </a:ln>
        </p:spPr>
      </p:sp>
      <p:sp>
        <p:nvSpPr>
          <p:cNvPr id="8" name="">
            <a:extLst xmlns:a="http://schemas.openxmlformats.org/drawingml/2006/main">
              <a:ext uri="{FF2B5EF4-FFF2-40B4-BE49-F238E27FC236}">
                <a16:creationId xmlns:a16="http://schemas.microsoft.com/office/drawing/2014/main" id="{0F13B04C-7A93-46DA-B321-29F1B948F93D}"/>
              </a:ext>
            </a:extLst>
          </p:cNvPr>
          <p:cNvSpPr>
            <a:spLocks xmlns:a="http://schemas.openxmlformats.org/drawingml/2006/main" noGrp="1"/>
          </p:cNvSpPr>
          <p:nvPr/>
        </p:nvSpPr>
        <p:spPr>
          <a:xfrm xmlns:a="http://schemas.openxmlformats.org/drawingml/2006/main">
            <a:off x="4781550" y="1743075"/>
            <a:ext cx="2628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7212B"/>
                </a:solidFill>
                <a:latin typeface="Arial"/>
                <a:ea typeface="Arial"/>
                <a:cs typeface="Arial"/>
              </a:defRPr>
            </a:pPr>
            <a:r>
              <a:rPr sz="1875" b="1">
                <a:solidFill>
                  <a:srgbClr val="17212B"/>
                </a:solidFill>
                <a:latin typeface="Arial"/>
                <a:ea typeface="Arial"/>
                <a:cs typeface="Arial"/>
              </a:rPr>
              <a:t>Race engineer</a:t>
            </a:r>
          </a:p>
        </p:txBody>
      </p:sp>
      <p:sp>
        <p:nvSpPr>
          <p:cNvPr id="9" name="">
            <a:extLst xmlns:a="http://schemas.openxmlformats.org/drawingml/2006/main">
              <a:ext uri="{FF2B5EF4-FFF2-40B4-BE49-F238E27FC236}">
                <a16:creationId xmlns:a16="http://schemas.microsoft.com/office/drawing/2014/main" id="{9D2C1116-10BF-4AF5-8976-A92C03D422DB}"/>
              </a:ext>
            </a:extLst>
          </p:cNvPr>
          <p:cNvSpPr>
            <a:spLocks xmlns:a="http://schemas.openxmlformats.org/drawingml/2006/main" noGrp="1"/>
          </p:cNvSpPr>
          <p:nvPr/>
        </p:nvSpPr>
        <p:spPr>
          <a:xfrm xmlns:a="http://schemas.openxmlformats.org/drawingml/2006/main">
            <a:off x="8572500" y="1666875"/>
            <a:ext cx="28575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9CFD3"/>
            </a:solidFill>
            <a:prstDash val="solid"/>
          </a:ln>
        </p:spPr>
      </p:sp>
      <p:sp>
        <p:nvSpPr>
          <p:cNvPr id="10" name="">
            <a:extLst xmlns:a="http://schemas.openxmlformats.org/drawingml/2006/main">
              <a:ext uri="{FF2B5EF4-FFF2-40B4-BE49-F238E27FC236}">
                <a16:creationId xmlns:a16="http://schemas.microsoft.com/office/drawing/2014/main" id="{E12E8B98-5D3D-47EA-AA1E-B4B7E301A526}"/>
              </a:ext>
            </a:extLst>
          </p:cNvPr>
          <p:cNvSpPr>
            <a:spLocks xmlns:a="http://schemas.openxmlformats.org/drawingml/2006/main" noGrp="1"/>
          </p:cNvSpPr>
          <p:nvPr/>
        </p:nvSpPr>
        <p:spPr>
          <a:xfrm xmlns:a="http://schemas.openxmlformats.org/drawingml/2006/main">
            <a:off x="8686800" y="1743075"/>
            <a:ext cx="2628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7212B"/>
                </a:solidFill>
                <a:latin typeface="Arial"/>
                <a:ea typeface="Arial"/>
                <a:cs typeface="Arial"/>
              </a:defRPr>
            </a:pPr>
            <a:r>
              <a:rPr sz="1875" b="1">
                <a:solidFill>
                  <a:srgbClr val="17212B"/>
                </a:solidFill>
                <a:latin typeface="Arial"/>
                <a:ea typeface="Arial"/>
                <a:cs typeface="Arial"/>
              </a:rPr>
              <a:t>Simulator driver</a:t>
            </a:r>
          </a:p>
        </p:txBody>
      </p:sp>
      <p:cxnSp>
        <p:nvCxnSpPr>
          <p:cNvPr id="40" name=""/>
          <p:cNvCxnSpPr>
            <a:stCxn xmlns:a="http://schemas.openxmlformats.org/drawingml/2006/main" id="5" idx="3"/>
            <a:endCxn xmlns:a="http://schemas.openxmlformats.org/drawingml/2006/main" id="7" idx="1"/>
          </p:cNvCxnSpPr>
          <p:nvPr/>
        </p:nvCxnSpPr>
        <p:spPr>
          <a:xfrm xmlns:a="http://schemas.openxmlformats.org/drawingml/2006/main">
            <a:off x="3619500" y="2066925"/>
            <a:ext cx="10477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cxnSp>
        <p:nvCxnSpPr>
          <p:cNvPr id="41" name=""/>
          <p:cNvCxnSpPr>
            <a:stCxn xmlns:a="http://schemas.openxmlformats.org/drawingml/2006/main" id="7" idx="3"/>
            <a:endCxn xmlns:a="http://schemas.openxmlformats.org/drawingml/2006/main" id="9" idx="1"/>
          </p:cNvCxnSpPr>
          <p:nvPr/>
        </p:nvCxnSpPr>
        <p:spPr>
          <a:xfrm xmlns:a="http://schemas.openxmlformats.org/drawingml/2006/main">
            <a:off x="7524750" y="2066925"/>
            <a:ext cx="1047750" cy="0"/>
          </a:xfrm>
          <a:prstGeom xmlns:a="http://schemas.openxmlformats.org/drawingml/2006/main" prst="straightConnector1">
            <a:avLst/>
          </a:prstGeom>
          <a:ln xmlns:a="http://schemas.openxmlformats.org/drawingml/2006/main" w="19050">
            <a:solidFill>
              <a:srgbClr val="1768C4"/>
            </a:solidFill>
            <a:prstDash val="solid"/>
            <a:tailEnd type="arrow" w="sm" len="sm"/>
          </a:ln>
        </p:spPr>
      </p:cxnSp>
      <p:sp>
        <p:nvSpPr>
          <p:cNvPr id="13" name="">
            <a:extLst xmlns:a="http://schemas.openxmlformats.org/drawingml/2006/main">
              <a:ext uri="{FF2B5EF4-FFF2-40B4-BE49-F238E27FC236}">
                <a16:creationId xmlns:a16="http://schemas.microsoft.com/office/drawing/2014/main" id="{0EEF5645-B2B9-44ED-9A4B-E439B5E2C87C}"/>
              </a:ext>
            </a:extLst>
          </p:cNvPr>
          <p:cNvSpPr>
            <a:spLocks xmlns:a="http://schemas.openxmlformats.org/drawingml/2006/main" noGrp="1"/>
          </p:cNvSpPr>
          <p:nvPr/>
        </p:nvSpPr>
        <p:spPr>
          <a:xfrm xmlns:a="http://schemas.openxmlformats.org/drawingml/2006/main">
            <a:off x="762000" y="26670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5D6872"/>
                </a:solidFill>
                <a:latin typeface="Arial"/>
                <a:ea typeface="Arial"/>
                <a:cs typeface="Arial"/>
              </a:defRPr>
            </a:pPr>
            <a:r>
              <a:rPr sz="1425" b="0">
                <a:solidFill>
                  <a:srgbClr val="5D6872"/>
                </a:solidFill>
                <a:latin typeface="Arial"/>
                <a:ea typeface="Arial"/>
                <a:cs typeface="Arial"/>
              </a:rPr>
              <a:t>Define a real-circuit snapshot</a:t>
            </a:r>
          </a:p>
          <a:p xmlns:a="http://schemas.openxmlformats.org/drawingml/2006/main">
            <a:pPr algn="ctr">
              <a:defRPr sz="1425" b="0">
                <a:solidFill>
                  <a:srgbClr val="5D6872"/>
                </a:solidFill>
                <a:latin typeface="Arial"/>
                <a:ea typeface="Arial"/>
                <a:cs typeface="Arial"/>
              </a:defRPr>
            </a:pPr>
            <a:r>
              <a:rPr sz="1425" b="0">
                <a:solidFill>
                  <a:srgbClr val="5D6872"/>
                </a:solidFill>
                <a:latin typeface="Arial"/>
                <a:ea typeface="Arial"/>
                <a:cs typeface="Arial"/>
              </a:rPr>
              <a:t>and branch actual controls</a:t>
            </a:r>
          </a:p>
        </p:txBody>
      </p:sp>
      <p:sp>
        <p:nvSpPr>
          <p:cNvPr id="14" name="">
            <a:extLst xmlns:a="http://schemas.openxmlformats.org/drawingml/2006/main">
              <a:ext uri="{FF2B5EF4-FFF2-40B4-BE49-F238E27FC236}">
                <a16:creationId xmlns:a16="http://schemas.microsoft.com/office/drawing/2014/main" id="{6E3C36CA-09A1-491E-99FB-60DD26484054}"/>
              </a:ext>
            </a:extLst>
          </p:cNvPr>
          <p:cNvSpPr>
            <a:spLocks xmlns:a="http://schemas.openxmlformats.org/drawingml/2006/main" noGrp="1"/>
          </p:cNvSpPr>
          <p:nvPr/>
        </p:nvSpPr>
        <p:spPr>
          <a:xfrm xmlns:a="http://schemas.openxmlformats.org/drawingml/2006/main">
            <a:off x="4667250" y="26670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5D6872"/>
                </a:solidFill>
                <a:latin typeface="Arial"/>
                <a:ea typeface="Arial"/>
                <a:cs typeface="Arial"/>
              </a:defRPr>
            </a:pPr>
            <a:r>
              <a:rPr sz="1425" b="0">
                <a:solidFill>
                  <a:srgbClr val="5D6872"/>
                </a:solidFill>
                <a:latin typeface="Arial"/>
                <a:ea typeface="Arial"/>
                <a:cs typeface="Arial"/>
              </a:rPr>
              <a:t>Inspect reserve, alternatives,</a:t>
            </a:r>
          </a:p>
          <a:p xmlns:a="http://schemas.openxmlformats.org/drawingml/2006/main">
            <a:pPr algn="ctr">
              <a:defRPr sz="1425" b="0">
                <a:solidFill>
                  <a:srgbClr val="5D6872"/>
                </a:solidFill>
                <a:latin typeface="Arial"/>
                <a:ea typeface="Arial"/>
                <a:cs typeface="Arial"/>
              </a:defRPr>
            </a:pPr>
            <a:r>
              <a:rPr sz="1425" b="0">
                <a:solidFill>
                  <a:srgbClr val="5D6872"/>
                </a:solidFill>
                <a:latin typeface="Arial"/>
                <a:ea typeface="Arial"/>
                <a:cs typeface="Arial"/>
              </a:rPr>
              <a:t>rules and uncertainty</a:t>
            </a:r>
          </a:p>
        </p:txBody>
      </p:sp>
      <p:sp>
        <p:nvSpPr>
          <p:cNvPr id="15" name="">
            <a:extLst xmlns:a="http://schemas.openxmlformats.org/drawingml/2006/main">
              <a:ext uri="{FF2B5EF4-FFF2-40B4-BE49-F238E27FC236}">
                <a16:creationId xmlns:a16="http://schemas.microsoft.com/office/drawing/2014/main" id="{CF8A9EEF-EB9D-4672-B1C7-00E09A629B3A}"/>
              </a:ext>
            </a:extLst>
          </p:cNvPr>
          <p:cNvSpPr>
            <a:spLocks xmlns:a="http://schemas.openxmlformats.org/drawingml/2006/main" noGrp="1"/>
          </p:cNvSpPr>
          <p:nvPr/>
        </p:nvSpPr>
        <p:spPr>
          <a:xfrm xmlns:a="http://schemas.openxmlformats.org/drawingml/2006/main">
            <a:off x="8572500" y="26670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5D6872"/>
                </a:solidFill>
                <a:latin typeface="Arial"/>
                <a:ea typeface="Arial"/>
                <a:cs typeface="Arial"/>
              </a:defRPr>
            </a:pPr>
            <a:r>
              <a:rPr sz="1425" b="0">
                <a:solidFill>
                  <a:srgbClr val="5D6872"/>
                </a:solidFill>
                <a:latin typeface="Arial"/>
                <a:ea typeface="Arial"/>
                <a:cs typeface="Arial"/>
              </a:rPr>
              <a:t>Show one instruction, end</a:t>
            </a:r>
          </a:p>
          <a:p xmlns:a="http://schemas.openxmlformats.org/drawingml/2006/main">
            <a:pPr algn="ctr">
              <a:defRPr sz="1425" b="0">
                <a:solidFill>
                  <a:srgbClr val="5D6872"/>
                </a:solidFill>
                <a:latin typeface="Arial"/>
                <a:ea typeface="Arial"/>
                <a:cs typeface="Arial"/>
              </a:defRPr>
            </a:pPr>
            <a:r>
              <a:rPr sz="1425" b="0">
                <a:solidFill>
                  <a:srgbClr val="5D6872"/>
                </a:solidFill>
                <a:latin typeface="Arial"/>
                <a:ea typeface="Arial"/>
                <a:cs typeface="Arial"/>
              </a:rPr>
              <a:t>condition and expiry</a:t>
            </a:r>
          </a:p>
        </p:txBody>
      </p:sp>
      <p:sp>
        <p:nvSpPr>
          <p:cNvPr id="16" name="">
            <a:extLst xmlns:a="http://schemas.openxmlformats.org/drawingml/2006/main">
              <a:ext uri="{FF2B5EF4-FFF2-40B4-BE49-F238E27FC236}">
                <a16:creationId xmlns:a16="http://schemas.microsoft.com/office/drawing/2014/main" id="{E6E498A8-EE46-444C-8A13-AB98B0B6C9DA}"/>
              </a:ext>
            </a:extLst>
          </p:cNvPr>
          <p:cNvSpPr>
            <a:spLocks xmlns:a="http://schemas.openxmlformats.org/drawingml/2006/main" noGrp="1"/>
          </p:cNvSpPr>
          <p:nvPr/>
        </p:nvSpPr>
        <p:spPr>
          <a:xfrm xmlns:a="http://schemas.openxmlformats.org/drawingml/2006/main">
            <a:off x="762000" y="3619500"/>
            <a:ext cx="106680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17" name="">
            <a:extLst xmlns:a="http://schemas.openxmlformats.org/drawingml/2006/main">
              <a:ext uri="{FF2B5EF4-FFF2-40B4-BE49-F238E27FC236}">
                <a16:creationId xmlns:a16="http://schemas.microsoft.com/office/drawing/2014/main" id="{021D5CDF-980D-4455-931F-0175FAAC0B6C}"/>
              </a:ext>
            </a:extLst>
          </p:cNvPr>
          <p:cNvSpPr>
            <a:spLocks xmlns:a="http://schemas.openxmlformats.org/drawingml/2006/main" noGrp="1"/>
          </p:cNvSpPr>
          <p:nvPr/>
        </p:nvSpPr>
        <p:spPr>
          <a:xfrm xmlns:a="http://schemas.openxmlformats.org/drawingml/2006/main">
            <a:off x="762000" y="39052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8C4"/>
                </a:solidFill>
                <a:latin typeface="Arial"/>
                <a:ea typeface="Arial"/>
                <a:cs typeface="Arial"/>
              </a:defRPr>
            </a:pPr>
            <a:r>
              <a:rPr sz="975" b="1">
                <a:solidFill>
                  <a:srgbClr val="1768C4"/>
                </a:solidFill>
                <a:latin typeface="Arial"/>
                <a:ea typeface="Arial"/>
                <a:cs typeface="Arial"/>
              </a:rPr>
              <a:t>WHY IT STANDS APART</a:t>
            </a:r>
          </a:p>
        </p:txBody>
      </p:sp>
      <p:sp>
        <p:nvSpPr>
          <p:cNvPr id="18" name="">
            <a:extLst xmlns:a="http://schemas.openxmlformats.org/drawingml/2006/main">
              <a:ext uri="{FF2B5EF4-FFF2-40B4-BE49-F238E27FC236}">
                <a16:creationId xmlns:a16="http://schemas.microsoft.com/office/drawing/2014/main" id="{6828C3F8-99EC-4A8E-B842-8A88CC0BEFA0}"/>
              </a:ext>
            </a:extLst>
          </p:cNvPr>
          <p:cNvSpPr>
            <a:spLocks xmlns:a="http://schemas.openxmlformats.org/drawingml/2006/main" noGrp="1"/>
          </p:cNvSpPr>
          <p:nvPr/>
        </p:nvSpPr>
        <p:spPr>
          <a:xfrm xmlns:a="http://schemas.openxmlformats.org/drawingml/2006/main">
            <a:off x="762000" y="4333875"/>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Real event packages</a:t>
            </a:r>
          </a:p>
        </p:txBody>
      </p:sp>
      <p:sp>
        <p:nvSpPr>
          <p:cNvPr id="19" name="">
            <a:extLst xmlns:a="http://schemas.openxmlformats.org/drawingml/2006/main">
              <a:ext uri="{FF2B5EF4-FFF2-40B4-BE49-F238E27FC236}">
                <a16:creationId xmlns:a16="http://schemas.microsoft.com/office/drawing/2014/main" id="{96868F71-8ECE-4C2E-A54E-2DA6E2B4C96B}"/>
              </a:ext>
            </a:extLst>
          </p:cNvPr>
          <p:cNvSpPr>
            <a:spLocks xmlns:a="http://schemas.openxmlformats.org/drawingml/2006/main" noGrp="1"/>
          </p:cNvSpPr>
          <p:nvPr/>
        </p:nvSpPr>
        <p:spPr>
          <a:xfrm xmlns:a="http://schemas.openxmlformats.org/drawingml/2006/main">
            <a:off x="762000" y="46672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FIA lines and circuit geometry are versioned inputs.</a:t>
            </a:r>
          </a:p>
        </p:txBody>
      </p:sp>
      <p:sp>
        <p:nvSpPr>
          <p:cNvPr id="20" name="">
            <a:extLst xmlns:a="http://schemas.openxmlformats.org/drawingml/2006/main">
              <a:ext uri="{FF2B5EF4-FFF2-40B4-BE49-F238E27FC236}">
                <a16:creationId xmlns:a16="http://schemas.microsoft.com/office/drawing/2014/main" id="{DF661119-25BA-496C-B314-4143D610B05C}"/>
              </a:ext>
            </a:extLst>
          </p:cNvPr>
          <p:cNvSpPr>
            <a:spLocks xmlns:a="http://schemas.openxmlformats.org/drawingml/2006/main" noGrp="1"/>
          </p:cNvSpPr>
          <p:nvPr/>
        </p:nvSpPr>
        <p:spPr>
          <a:xfrm xmlns:a="http://schemas.openxmlformats.org/drawingml/2006/main">
            <a:off x="3905250" y="43338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Reactive futures</a:t>
            </a:r>
          </a:p>
        </p:txBody>
      </p:sp>
      <p:sp>
        <p:nvSpPr>
          <p:cNvPr id="21" name="">
            <a:extLst xmlns:a="http://schemas.openxmlformats.org/drawingml/2006/main">
              <a:ext uri="{FF2B5EF4-FFF2-40B4-BE49-F238E27FC236}">
                <a16:creationId xmlns:a16="http://schemas.microsoft.com/office/drawing/2014/main" id="{7BB76143-F280-4FF7-9EA9-40D058E47DD6}"/>
              </a:ext>
            </a:extLst>
          </p:cNvPr>
          <p:cNvSpPr>
            <a:spLocks xmlns:a="http://schemas.openxmlformats.org/drawingml/2006/main" noGrp="1"/>
          </p:cNvSpPr>
          <p:nvPr/>
        </p:nvSpPr>
        <p:spPr>
          <a:xfrm xmlns:a="http://schemas.openxmlformats.org/drawingml/2006/main">
            <a:off x="3905250" y="46672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The rival responds differently after each intervention.</a:t>
            </a:r>
          </a:p>
        </p:txBody>
      </p:sp>
      <p:sp>
        <p:nvSpPr>
          <p:cNvPr id="22" name="">
            <a:extLst xmlns:a="http://schemas.openxmlformats.org/drawingml/2006/main">
              <a:ext uri="{FF2B5EF4-FFF2-40B4-BE49-F238E27FC236}">
                <a16:creationId xmlns:a16="http://schemas.microsoft.com/office/drawing/2014/main" id="{564F7B67-30C1-443D-9164-86417873F504}"/>
              </a:ext>
            </a:extLst>
          </p:cNvPr>
          <p:cNvSpPr>
            <a:spLocks xmlns:a="http://schemas.openxmlformats.org/drawingml/2006/main" noGrp="1"/>
          </p:cNvSpPr>
          <p:nvPr/>
        </p:nvSpPr>
        <p:spPr>
          <a:xfrm xmlns:a="http://schemas.openxmlformats.org/drawingml/2006/main">
            <a:off x="7096125" y="4333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Constrained learning</a:t>
            </a:r>
          </a:p>
        </p:txBody>
      </p:sp>
      <p:sp>
        <p:nvSpPr>
          <p:cNvPr id="23" name="">
            <a:extLst xmlns:a="http://schemas.openxmlformats.org/drawingml/2006/main">
              <a:ext uri="{FF2B5EF4-FFF2-40B4-BE49-F238E27FC236}">
                <a16:creationId xmlns:a16="http://schemas.microsoft.com/office/drawing/2014/main" id="{ED1B9249-D2DC-4B3F-BA1D-50CC7139B214}"/>
              </a:ext>
            </a:extLst>
          </p:cNvPr>
          <p:cNvSpPr>
            <a:spLocks xmlns:a="http://schemas.openxmlformats.org/drawingml/2006/main" noGrp="1"/>
          </p:cNvSpPr>
          <p:nvPr/>
        </p:nvSpPr>
        <p:spPr>
          <a:xfrm xmlns:a="http://schemas.openxmlformats.org/drawingml/2006/main">
            <a:off x="7096125" y="46672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RL proposes. Physics and rules decide feasibility.</a:t>
            </a:r>
          </a:p>
        </p:txBody>
      </p:sp>
      <p:sp>
        <p:nvSpPr>
          <p:cNvPr id="24" name="">
            <a:extLst xmlns:a="http://schemas.openxmlformats.org/drawingml/2006/main">
              <a:ext uri="{FF2B5EF4-FFF2-40B4-BE49-F238E27FC236}">
                <a16:creationId xmlns:a16="http://schemas.microsoft.com/office/drawing/2014/main" id="{900EC63A-09A4-44CB-AB4D-14E188C53FD3}"/>
              </a:ext>
            </a:extLst>
          </p:cNvPr>
          <p:cNvSpPr>
            <a:spLocks xmlns:a="http://schemas.openxmlformats.org/drawingml/2006/main" noGrp="1"/>
          </p:cNvSpPr>
          <p:nvPr/>
        </p:nvSpPr>
        <p:spPr>
          <a:xfrm xmlns:a="http://schemas.openxmlformats.org/drawingml/2006/main">
            <a:off x="9906000" y="43338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507"/>
          </a:bodyPr>
          <a:lstStyle xmlns:a="http://schemas.openxmlformats.org/drawingml/2006/main"/>
          <a:p xmlns:a="http://schemas.openxmlformats.org/drawingml/2006/main">
            <a:pPr algn="l">
              <a:defRPr sz="1650" b="1">
                <a:solidFill>
                  <a:srgbClr val="17212B"/>
                </a:solidFill>
                <a:latin typeface="Arial"/>
                <a:ea typeface="Arial"/>
                <a:cs typeface="Arial"/>
              </a:defRPr>
            </a:pPr>
            <a:r>
              <a:rPr sz="1650" b="1">
                <a:solidFill>
                  <a:srgbClr val="17212B"/>
                </a:solidFill>
                <a:latin typeface="Arial"/>
                <a:ea typeface="Arial"/>
                <a:cs typeface="Arial"/>
              </a:rPr>
              <a:t>Auditable operation</a:t>
            </a:r>
          </a:p>
        </p:txBody>
      </p:sp>
      <p:sp>
        <p:nvSpPr>
          <p:cNvPr id="25" name="">
            <a:extLst xmlns:a="http://schemas.openxmlformats.org/drawingml/2006/main">
              <a:ext uri="{FF2B5EF4-FFF2-40B4-BE49-F238E27FC236}">
                <a16:creationId xmlns:a16="http://schemas.microsoft.com/office/drawing/2014/main" id="{31FCB63A-28F1-4595-A1FE-927C051CC3BD}"/>
              </a:ext>
            </a:extLst>
          </p:cNvPr>
          <p:cNvSpPr>
            <a:spLocks xmlns:a="http://schemas.openxmlformats.org/drawingml/2006/main" noGrp="1"/>
          </p:cNvSpPr>
          <p:nvPr/>
        </p:nvSpPr>
        <p:spPr>
          <a:xfrm xmlns:a="http://schemas.openxmlformats.org/drawingml/2006/main">
            <a:off x="9906000" y="466725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91"/>
          </a:bodyPr>
          <a:lstStyle xmlns:a="http://schemas.openxmlformats.org/drawingml/2006/main"/>
          <a:p xmlns:a="http://schemas.openxmlformats.org/drawingml/2006/main">
            <a:pPr algn="l">
              <a:defRPr sz="1275" b="0">
                <a:solidFill>
                  <a:srgbClr val="5D6872"/>
                </a:solidFill>
                <a:latin typeface="Arial"/>
                <a:ea typeface="Arial"/>
                <a:cs typeface="Arial"/>
              </a:defRPr>
            </a:pPr>
            <a:r>
              <a:rPr sz="1275" b="0">
                <a:solidFill>
                  <a:srgbClr val="5D6872"/>
                </a:solidFill>
                <a:latin typeface="Arial"/>
                <a:ea typeface="Arial"/>
                <a:cs typeface="Arial"/>
              </a:rPr>
              <a:t>Selection and execution remain separate evidence.</a:t>
            </a:r>
          </a:p>
        </p:txBody>
      </p:sp>
      <p:sp>
        <p:nvSpPr>
          <p:cNvPr id="26" name="">
            <a:extLst xmlns:a="http://schemas.openxmlformats.org/drawingml/2006/main">
              <a:ext uri="{FF2B5EF4-FFF2-40B4-BE49-F238E27FC236}">
                <a16:creationId xmlns:a16="http://schemas.microsoft.com/office/drawing/2014/main" id="{6223DB28-E078-4402-9ED7-F95DD544D4CA}"/>
              </a:ext>
            </a:extLst>
          </p:cNvPr>
          <p:cNvSpPr>
            <a:spLocks xmlns:a="http://schemas.openxmlformats.org/drawingml/2006/main" noGrp="1"/>
          </p:cNvSpPr>
          <p:nvPr/>
        </p:nvSpPr>
        <p:spPr>
          <a:xfrm xmlns:a="http://schemas.openxmlformats.org/drawingml/2006/main">
            <a:off x="1143000" y="56197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768C4"/>
                </a:solidFill>
                <a:latin typeface="Arial"/>
                <a:ea typeface="Arial"/>
                <a:cs typeface="Arial"/>
              </a:defRPr>
            </a:pPr>
            <a:r>
              <a:rPr sz="2025" b="1">
                <a:solidFill>
                  <a:srgbClr val="1768C4"/>
                </a:solidFill>
                <a:latin typeface="Arial"/>
                <a:ea typeface="Arial"/>
                <a:cs typeface="Arial"/>
              </a:rPr>
              <a:t>Demo proof: one snapshot, two strategies, two physically different futures</a:t>
            </a:r>
          </a:p>
        </p:txBody>
      </p:sp>
      <p:sp>
        <p:nvSpPr>
          <p:cNvPr id="27" name="">
            <a:extLst xmlns:a="http://schemas.openxmlformats.org/drawingml/2006/main">
              <a:ext uri="{FF2B5EF4-FFF2-40B4-BE49-F238E27FC236}">
                <a16:creationId xmlns:a16="http://schemas.microsoft.com/office/drawing/2014/main" id="{62B483FF-8022-49F1-A482-645E772AB11A}"/>
              </a:ext>
            </a:extLst>
          </p:cNvPr>
          <p:cNvSpPr>
            <a:spLocks xmlns:a="http://schemas.openxmlformats.org/drawingml/2006/main" noGrp="1"/>
          </p:cNvSpPr>
          <p:nvPr/>
        </p:nvSpPr>
        <p:spPr>
          <a:xfrm xmlns:a="http://schemas.openxmlformats.org/drawingml/2006/main">
            <a:off x="552450" y="6477000"/>
            <a:ext cx="11087100" cy="0"/>
          </a:xfrm>
          <a:prstGeom xmlns:a="http://schemas.openxmlformats.org/drawingml/2006/main" prst="line">
            <a:avLst/>
          </a:prstGeom>
          <a:noFill xmlns:a="http://schemas.openxmlformats.org/drawingml/2006/main"/>
          <a:ln xmlns:a="http://schemas.openxmlformats.org/drawingml/2006/main" w="9525">
            <a:solidFill>
              <a:srgbClr val="C9CFD3"/>
            </a:solidFill>
            <a:prstDash val="solid"/>
          </a:ln>
        </p:spPr>
      </p:sp>
      <p:sp>
        <p:nvSpPr>
          <p:cNvPr id="28" name="">
            <a:extLst xmlns:a="http://schemas.openxmlformats.org/drawingml/2006/main">
              <a:ext uri="{FF2B5EF4-FFF2-40B4-BE49-F238E27FC236}">
                <a16:creationId xmlns:a16="http://schemas.microsoft.com/office/drawing/2014/main" id="{BD6BCFFF-B2D5-4F2B-9F60-EA5EBC090537}"/>
              </a:ext>
            </a:extLst>
          </p:cNvPr>
          <p:cNvSpPr>
            <a:spLocks xmlns:a="http://schemas.openxmlformats.org/drawingml/2006/main" noGrp="1"/>
          </p:cNvSpPr>
          <p:nvPr/>
        </p:nvSpPr>
        <p:spPr>
          <a:xfrm xmlns:a="http://schemas.openxmlformats.org/drawingml/2006/main">
            <a:off x="552450" y="6524625"/>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0">
                <a:solidFill>
                  <a:srgbClr val="5D6872"/>
                </a:solidFill>
                <a:latin typeface="Arial"/>
                <a:ea typeface="Arial"/>
                <a:cs typeface="Arial"/>
              </a:defRPr>
            </a:pPr>
            <a:r>
              <a:rPr sz="900" b="0">
                <a:solidFill>
                  <a:srgbClr val="5D6872"/>
                </a:solidFill>
                <a:latin typeface="Arial"/>
                <a:ea typeface="Arial"/>
                <a:cs typeface="Arial"/>
              </a:rPr>
              <a:t>AFTERLAP technical design</a:t>
            </a:r>
          </a:p>
        </p:txBody>
      </p:sp>
      <p:sp>
        <p:nvSpPr>
          <p:cNvPr id="29" name="">
            <a:extLst xmlns:a="http://schemas.openxmlformats.org/drawingml/2006/main">
              <a:ext uri="{FF2B5EF4-FFF2-40B4-BE49-F238E27FC236}">
                <a16:creationId xmlns:a16="http://schemas.microsoft.com/office/drawing/2014/main" id="{A4FABD29-3D55-4461-96E5-8D54E43951C0}"/>
              </a:ext>
            </a:extLst>
          </p:cNvPr>
          <p:cNvSpPr>
            <a:spLocks xmlns:a="http://schemas.openxmlformats.org/drawingml/2006/main" noGrp="1"/>
          </p:cNvSpPr>
          <p:nvPr/>
        </p:nvSpPr>
        <p:spPr>
          <a:xfrm xmlns:a="http://schemas.openxmlformats.org/drawingml/2006/main">
            <a:off x="11144250" y="65246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5D6872"/>
                </a:solidFill>
                <a:latin typeface="Arial"/>
                <a:ea typeface="Arial"/>
                <a:cs typeface="Arial"/>
              </a:defRPr>
            </a:pPr>
            <a:r>
              <a:rPr sz="900" b="0">
                <a:solidFill>
                  <a:srgbClr val="5D6872"/>
                </a:solidFill>
                <a:latin typeface="Arial"/>
                <a:ea typeface="Arial"/>
                <a:cs typeface="Arial"/>
              </a:rPr>
              <a:t>15</a:t>
            </a:r>
          </a:p>
        </p:txBody>
      </p:sp>
    </p:spTree>
    <p:extLst>
      <p:ext uri="{BB962C8B-B14F-4D97-AF65-F5344CB8AC3E}">
        <p14:creationId xmlns:p14="http://schemas.microsoft.com/office/powerpoint/2010/main" val="17638623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2026-09-08T09:25:05.5150000Z</dcterms:created>
  <dcterms:modified xsi:type="dcterms:W3CDTF">2026-09-08T09:25:05.5150000Z</dcterms:modified>
</coreProperties>
</file>